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handoutMasterIdLst>
    <p:handoutMasterId r:id="rId9"/>
  </p:handoutMasterIdLst>
  <p:sldIdLst>
    <p:sldId id="256" r:id="rId2"/>
    <p:sldId id="258" r:id="rId3"/>
    <p:sldId id="259" r:id="rId4"/>
    <p:sldId id="265" r:id="rId5"/>
    <p:sldId id="269" r:id="rId6"/>
    <p:sldId id="262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EA0DB76-4894-478D-BA1B-73997905E99C}" v="18" dt="2026-02-26T10:18:23.31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3153" autoAdjust="0"/>
    <p:restoredTop sz="86405" autoAdjust="0"/>
  </p:normalViewPr>
  <p:slideViewPr>
    <p:cSldViewPr snapToGrid="0">
      <p:cViewPr varScale="1">
        <p:scale>
          <a:sx n="59" d="100"/>
          <a:sy n="59" d="100"/>
        </p:scale>
        <p:origin x="82" y="32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2" d="100"/>
          <a:sy n="62" d="100"/>
        </p:scale>
        <p:origin x="3226" y="77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handoutMaster" Target="handoutMasters/handoutMaster1.xml"/><Relationship Id="rId14" Type="http://schemas.microsoft.com/office/2015/10/relationships/revisionInfo" Target="revisionInfo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>
            <a:extLst>
              <a:ext uri="{FF2B5EF4-FFF2-40B4-BE49-F238E27FC236}">
                <a16:creationId xmlns:a16="http://schemas.microsoft.com/office/drawing/2014/main" id="{922FD346-EC89-D6EF-36E5-2D33D899196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CCA97309-E4FB-79EC-2550-00781D79DFD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B6D446A-882D-4514-A1D6-495548E96AC9}" type="datetimeFigureOut">
              <a:rPr lang="en-GB" smtClean="0"/>
              <a:t>19/03/2026</a:t>
            </a:fld>
            <a:endParaRPr lang="en-GB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1CD92B3C-42AD-9D0B-7795-2D86CB59619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AC2EACFF-1130-863A-CA35-E4BF624B1CB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5AD9FE2-7554-4BA3-9815-7E537B82312B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7821951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A3EF412-3861-4C83-A22F-C297179421EF}" type="datetimeFigureOut">
              <a:rPr lang="en-GB" smtClean="0"/>
              <a:t>19/03/2026</a:t>
            </a:fld>
            <a:endParaRPr lang="en-GB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55A2238-E206-4788-B1ED-1388F5EDA2E4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870512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32B5D1A-E23E-9856-681F-D5A76B52B8A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9F40BFBD-8F10-504B-3C8C-6E6BD72F597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en-GB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F1F34C8-0604-90F9-9F1E-09F890FD87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C81D00-CB28-4D28-8D54-02739C6993A7}" type="datetime1">
              <a:rPr lang="en-GB" smtClean="0"/>
              <a:t>19/03/2026</a:t>
            </a:fld>
            <a:endParaRPr lang="en-GB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781090A-D570-000D-2BB6-4D0D79DAC4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5BC77DC-5025-33E0-76B6-D23633A083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8A2D5A-CC95-4DFA-8041-E348B25950A2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050476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7CEC307-056A-6345-BBB4-F2BC4855B5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97A7E52-3B6C-2047-0723-7AE600F501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E9BF429-937A-27D2-06F8-644BAEF683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0C0763-1567-4D66-812A-4AA063D29C8F}" type="datetime1">
              <a:rPr lang="en-GB" smtClean="0"/>
              <a:t>19/03/2026</a:t>
            </a:fld>
            <a:endParaRPr lang="en-GB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CD8D5D5-DE5F-2B84-0C49-94A3BBC9B0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0AEF350-57D6-5FFC-8607-E32B6337CF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8A2D5A-CC95-4DFA-8041-E348B25950A2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73501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50AC7F8-D7B1-93F7-5197-A16A4B7EF8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893D1AF9-8476-1DBB-83B4-F1CA539BA0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0A3F544-FFCA-B2F4-C852-394099E375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DFAA0F-2638-4884-AE9C-37E214A57F7B}" type="datetime1">
              <a:rPr lang="en-GB" smtClean="0"/>
              <a:t>19/03/2026</a:t>
            </a:fld>
            <a:endParaRPr lang="en-GB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ABE6DF2-4CF6-B23B-DADE-ED9676EF25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EC8E935-D3C7-0674-C87B-FBA0AAF2B1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8A2D5A-CC95-4DFA-8041-E348B25950A2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472564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A795B26-D3EF-28E7-B3CF-1CCEDA6448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284EB4E-B1BB-48CB-3E8F-01EED686D7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87B1084C-DB84-5326-C2D8-428AA22F4A4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63CBC393-7751-E65B-20F8-5FB2A60595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6EF14-9849-4BDF-91E9-F29A097BB78F}" type="datetime1">
              <a:rPr lang="en-GB" smtClean="0"/>
              <a:t>19/03/2026</a:t>
            </a:fld>
            <a:endParaRPr lang="en-GB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370A8716-2825-E3CE-0E77-80F0C2C162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07242F5D-304D-195C-2F83-41905B1360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8A2D5A-CC95-4DFA-8041-E348B25950A2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566903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5766B37-AF26-BED1-6654-80B4F23A12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DB6CDFFE-E451-03AF-CD4E-43BE5C5332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E5561AF2-2002-C5F1-30CC-C854C64EFD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6FC0E433-6C3A-4262-2667-7C33B79CC5F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DBA86F01-FECC-9121-99A5-008E338C8E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4E130CF2-C631-AD38-DBBA-7BA0F4CFC5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AED41D-BBAB-46F1-B113-77035821C442}" type="datetime1">
              <a:rPr lang="en-GB" smtClean="0"/>
              <a:t>19/03/2026</a:t>
            </a:fld>
            <a:endParaRPr lang="en-GB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2AF1D9CB-042F-5068-1F37-4827EEF7B1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8D8646E1-94C7-1E70-8909-8D4B4E11A1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8A2D5A-CC95-4DFA-8041-E348B25950A2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864231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4C81597-59C4-5A7A-EE60-459581C794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F042D57E-2776-B319-4970-D090CF7BC8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014702-2C99-4E33-971C-7A4C6FCF33F8}" type="datetime1">
              <a:rPr lang="en-GB" smtClean="0"/>
              <a:t>19/03/2026</a:t>
            </a:fld>
            <a:endParaRPr lang="en-GB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2FB85BE3-D719-7399-5476-02F9B3985A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9BEF35EA-126C-4B0E-CF20-73EEF1C7AD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8A2D5A-CC95-4DFA-8041-E348B25950A2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767776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2A68F656-9EA2-BCD8-DF7F-DCF3080E3E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93630A-87A2-455B-BA67-391E2F6F574B}" type="datetime1">
              <a:rPr lang="en-GB" smtClean="0"/>
              <a:t>19/03/2026</a:t>
            </a:fld>
            <a:endParaRPr lang="en-GB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4230D6C4-4D1A-22E2-AC22-57B230FBAB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E7EE712A-8BBC-A4CC-8A2D-98E1D21946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8A2D5A-CC95-4DFA-8041-E348B25950A2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275320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D2E8761-89DF-0534-FF43-C1E6FA5A4A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A142E43-3CA1-08E5-A271-21E0C759EF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4B776C8E-7595-3EF4-CF29-B393A9391D0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7B40FC0D-9017-CD24-2C82-54C5B1B349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A662EC-218A-4178-B558-7DB99E1EB272}" type="datetime1">
              <a:rPr lang="en-GB" smtClean="0"/>
              <a:t>19/03/2026</a:t>
            </a:fld>
            <a:endParaRPr lang="en-GB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8484F310-C261-EEB6-7DEA-E304A15DD9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5A42D4B3-AB66-ABF0-5F11-BA04442CDF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8A2D5A-CC95-4DFA-8041-E348B25950A2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240832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B8EADAF-CED5-3520-5822-3B9E7E13D7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80D4D4B0-8142-3E00-FF56-40A438CBF33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596BD8B0-B0ED-DC0B-76AA-23E72D004BB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55CE8C9D-F0F8-7C79-8657-21927460FA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44E75A-DB07-4D8B-A62E-667DD32A6CAF}" type="datetime1">
              <a:rPr lang="en-GB" smtClean="0"/>
              <a:t>19/03/2026</a:t>
            </a:fld>
            <a:endParaRPr lang="en-GB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5F8AD64A-4FAE-3D50-39FD-B509F60B3A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FF2FE4DD-A6AB-1C96-C1B9-54313878C4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8A2D5A-CC95-4DFA-8041-E348B25950A2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067879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9BE4BF4-FA1F-CECC-91B4-2A0F0CAC0B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C6E44DEE-64D4-B37F-99A0-E681792E2F6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0B8F7F6-99DF-D83C-C3B0-A0A597538D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3265B1-F419-4209-96C2-8736149612F2}" type="datetime1">
              <a:rPr lang="en-GB" smtClean="0"/>
              <a:t>19/03/2026</a:t>
            </a:fld>
            <a:endParaRPr lang="en-GB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B532F64-230A-5BB5-ADE5-1CA9B3DF0A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529DC78-732B-E811-50F6-ABEC3D8E9B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8A2D5A-CC95-4DFA-8041-E348B25950A2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774396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E1E526E5-F252-4D29-43FC-C80811637AF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31F60ABD-D0CE-C390-67CE-DE92439E265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4227FFC-6691-60C1-132E-113567B98A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51121F-0CBF-440D-B865-8A34D43111C3}" type="datetime1">
              <a:rPr lang="en-GB" smtClean="0"/>
              <a:t>19/03/2026</a:t>
            </a:fld>
            <a:endParaRPr lang="en-GB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9F16302-1335-F207-D543-529D184A63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9EECEFF-4064-0FBC-F874-EAE48D6A17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8A2D5A-CC95-4DFA-8041-E348B25950A2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031634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6E815507-7A95-C8CA-2485-E3271D3085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D9AAF49C-E6C0-040C-BB8B-C67FA7E529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85C1EFB-F32E-75EA-FDEE-765CFA220FF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47BF42F-14A1-4852-80A6-06B7089E7B7E}" type="datetime1">
              <a:rPr lang="en-GB" smtClean="0"/>
              <a:t>19/03/2026</a:t>
            </a:fld>
            <a:endParaRPr lang="en-GB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2B3A510-C647-8A98-AABF-674F637FE01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C568BF9-E6E9-B9B2-1F69-502E1AF762B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78A2D5A-CC95-4DFA-8041-E348B25950A2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171794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Rectangle 51">
            <a:extLst>
              <a:ext uri="{FF2B5EF4-FFF2-40B4-BE49-F238E27FC236}">
                <a16:creationId xmlns:a16="http://schemas.microsoft.com/office/drawing/2014/main" id="{657F69E0-C4B0-4BEC-A689-4F8D877F05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CC172D9B-8F09-C43C-07FA-2B79A5313D17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039" r="-1" b="9670"/>
          <a:stretch>
            <a:fillRect/>
          </a:stretch>
        </p:blipFill>
        <p:spPr>
          <a:xfrm>
            <a:off x="20" y="10"/>
            <a:ext cx="12188930" cy="6857990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7F07DCDB-12FC-9694-AEFD-3262C8B3F54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3063240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6600" dirty="0" err="1">
                <a:solidFill>
                  <a:schemeClr val="bg1"/>
                </a:solidFill>
              </a:rPr>
              <a:t>OneTapFood</a:t>
            </a:r>
            <a:endParaRPr lang="en-US" sz="6600" dirty="0">
              <a:solidFill>
                <a:schemeClr val="bg1"/>
              </a:solidFill>
            </a:endParaRP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8BAB250F-D078-CA10-A74F-BBEA3B94548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7048" y="4599432"/>
            <a:ext cx="9144000" cy="1536192"/>
          </a:xfrm>
        </p:spPr>
        <p:txBody>
          <a:bodyPr vert="horz" lIns="91440" tIns="45720" rIns="91440" bIns="45720" rtlCol="0">
            <a:normAutofit lnSpcReduction="10000"/>
          </a:bodyPr>
          <a:lstStyle/>
          <a:p>
            <a:br>
              <a:rPr lang="en-US" sz="1100" dirty="0">
                <a:solidFill>
                  <a:schemeClr val="bg1"/>
                </a:solidFill>
              </a:rPr>
            </a:br>
            <a:endParaRPr lang="en-US" sz="1100" dirty="0">
              <a:solidFill>
                <a:schemeClr val="bg1"/>
              </a:solidFill>
            </a:endParaRPr>
          </a:p>
          <a:p>
            <a:pPr indent="-228600">
              <a:buFont typeface="Arial" panose="020B0604020202020204" pitchFamily="34" charset="0"/>
              <a:buChar char="•"/>
            </a:pPr>
            <a:endParaRPr lang="en-US" sz="1100" dirty="0">
              <a:solidFill>
                <a:schemeClr val="bg1"/>
              </a:solidFill>
            </a:endParaRPr>
          </a:p>
          <a:p>
            <a:pPr indent="-228600">
              <a:buFont typeface="Arial" panose="020B0604020202020204" pitchFamily="34" charset="0"/>
              <a:buChar char="•"/>
            </a:pPr>
            <a:endParaRPr lang="en-US" sz="1100" dirty="0">
              <a:solidFill>
                <a:schemeClr val="bg1"/>
              </a:solidFill>
            </a:endParaRPr>
          </a:p>
          <a:p>
            <a:pPr indent="-228600">
              <a:buFont typeface="Arial" panose="020B0604020202020204" pitchFamily="34" charset="0"/>
              <a:buChar char="•"/>
            </a:pPr>
            <a:endParaRPr lang="en-US" sz="1100" dirty="0">
              <a:solidFill>
                <a:schemeClr val="bg1"/>
              </a:solidFill>
            </a:endParaRPr>
          </a:p>
          <a:p>
            <a:r>
              <a:rPr lang="en-US" sz="1800" dirty="0">
                <a:solidFill>
                  <a:schemeClr val="bg1"/>
                </a:solidFill>
              </a:rPr>
              <a:t>Niklas Quandel, Leander Tholen, Eric Bayer </a:t>
            </a:r>
          </a:p>
          <a:p>
            <a:pPr indent="-228600">
              <a:buFont typeface="Arial" panose="020B0604020202020204" pitchFamily="34" charset="0"/>
              <a:buChar char="•"/>
            </a:pPr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54" name="sketchy line">
            <a:extLst>
              <a:ext uri="{FF2B5EF4-FFF2-40B4-BE49-F238E27FC236}">
                <a16:creationId xmlns:a16="http://schemas.microsoft.com/office/drawing/2014/main" id="{9F6380B4-6A1C-481E-8408-B4E6C75B9B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74206" y="4368623"/>
            <a:ext cx="4243589" cy="18288"/>
          </a:xfrm>
          <a:custGeom>
            <a:avLst/>
            <a:gdLst>
              <a:gd name="csX0" fmla="*/ 0 w 4243589"/>
              <a:gd name="csY0" fmla="*/ 0 h 18288"/>
              <a:gd name="csX1" fmla="*/ 478919 w 4243589"/>
              <a:gd name="csY1" fmla="*/ 0 h 18288"/>
              <a:gd name="csX2" fmla="*/ 957839 w 4243589"/>
              <a:gd name="csY2" fmla="*/ 0 h 18288"/>
              <a:gd name="csX3" fmla="*/ 1521630 w 4243589"/>
              <a:gd name="csY3" fmla="*/ 0 h 18288"/>
              <a:gd name="csX4" fmla="*/ 2212729 w 4243589"/>
              <a:gd name="csY4" fmla="*/ 0 h 18288"/>
              <a:gd name="csX5" fmla="*/ 2734084 w 4243589"/>
              <a:gd name="csY5" fmla="*/ 0 h 18288"/>
              <a:gd name="csX6" fmla="*/ 3255439 w 4243589"/>
              <a:gd name="csY6" fmla="*/ 0 h 18288"/>
              <a:gd name="csX7" fmla="*/ 4243589 w 4243589"/>
              <a:gd name="csY7" fmla="*/ 0 h 18288"/>
              <a:gd name="csX8" fmla="*/ 4243589 w 4243589"/>
              <a:gd name="csY8" fmla="*/ 18288 h 18288"/>
              <a:gd name="csX9" fmla="*/ 3594926 w 4243589"/>
              <a:gd name="csY9" fmla="*/ 18288 h 18288"/>
              <a:gd name="csX10" fmla="*/ 3073571 w 4243589"/>
              <a:gd name="csY10" fmla="*/ 18288 h 18288"/>
              <a:gd name="csX11" fmla="*/ 2552216 w 4243589"/>
              <a:gd name="csY11" fmla="*/ 18288 h 18288"/>
              <a:gd name="csX12" fmla="*/ 1903553 w 4243589"/>
              <a:gd name="csY12" fmla="*/ 18288 h 18288"/>
              <a:gd name="csX13" fmla="*/ 1212454 w 4243589"/>
              <a:gd name="csY13" fmla="*/ 18288 h 18288"/>
              <a:gd name="csX14" fmla="*/ 733535 w 4243589"/>
              <a:gd name="csY14" fmla="*/ 18288 h 18288"/>
              <a:gd name="csX15" fmla="*/ 0 w 4243589"/>
              <a:gd name="csY15" fmla="*/ 18288 h 18288"/>
              <a:gd name="csX16" fmla="*/ 0 w 4243589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213395" y="-21006"/>
                  <a:pt x="307421" y="-18116"/>
                  <a:pt x="478919" y="0"/>
                </a:cubicBezTo>
                <a:cubicBezTo>
                  <a:pt x="650417" y="18116"/>
                  <a:pt x="831092" y="-21237"/>
                  <a:pt x="957839" y="0"/>
                </a:cubicBezTo>
                <a:cubicBezTo>
                  <a:pt x="1084586" y="21237"/>
                  <a:pt x="1301682" y="25124"/>
                  <a:pt x="1521630" y="0"/>
                </a:cubicBezTo>
                <a:cubicBezTo>
                  <a:pt x="1741578" y="-25124"/>
                  <a:pt x="1970269" y="-29139"/>
                  <a:pt x="2212729" y="0"/>
                </a:cubicBezTo>
                <a:cubicBezTo>
                  <a:pt x="2455189" y="29139"/>
                  <a:pt x="2558847" y="-4796"/>
                  <a:pt x="2734084" y="0"/>
                </a:cubicBezTo>
                <a:cubicBezTo>
                  <a:pt x="2909321" y="4796"/>
                  <a:pt x="3097217" y="-13409"/>
                  <a:pt x="3255439" y="0"/>
                </a:cubicBezTo>
                <a:cubicBezTo>
                  <a:pt x="3413662" y="13409"/>
                  <a:pt x="3979999" y="-10121"/>
                  <a:pt x="4243589" y="0"/>
                </a:cubicBezTo>
                <a:cubicBezTo>
                  <a:pt x="4244484" y="8974"/>
                  <a:pt x="4243043" y="9359"/>
                  <a:pt x="4243589" y="18288"/>
                </a:cubicBezTo>
                <a:cubicBezTo>
                  <a:pt x="4058777" y="31246"/>
                  <a:pt x="3910348" y="3158"/>
                  <a:pt x="3594926" y="18288"/>
                </a:cubicBezTo>
                <a:cubicBezTo>
                  <a:pt x="3279504" y="33418"/>
                  <a:pt x="3319955" y="-3977"/>
                  <a:pt x="3073571" y="18288"/>
                </a:cubicBezTo>
                <a:cubicBezTo>
                  <a:pt x="2827187" y="40553"/>
                  <a:pt x="2767387" y="1863"/>
                  <a:pt x="2552216" y="18288"/>
                </a:cubicBezTo>
                <a:cubicBezTo>
                  <a:pt x="2337046" y="34713"/>
                  <a:pt x="2181871" y="19527"/>
                  <a:pt x="1903553" y="18288"/>
                </a:cubicBezTo>
                <a:cubicBezTo>
                  <a:pt x="1625235" y="17049"/>
                  <a:pt x="1557672" y="24174"/>
                  <a:pt x="1212454" y="18288"/>
                </a:cubicBezTo>
                <a:cubicBezTo>
                  <a:pt x="867236" y="12402"/>
                  <a:pt x="874382" y="15627"/>
                  <a:pt x="733535" y="18288"/>
                </a:cubicBezTo>
                <a:cubicBezTo>
                  <a:pt x="592688" y="20949"/>
                  <a:pt x="183477" y="14753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43690" y="16630"/>
                  <a:pt x="266667" y="14847"/>
                  <a:pt x="521355" y="0"/>
                </a:cubicBezTo>
                <a:cubicBezTo>
                  <a:pt x="776043" y="-14847"/>
                  <a:pt x="814491" y="-17363"/>
                  <a:pt x="1000275" y="0"/>
                </a:cubicBezTo>
                <a:cubicBezTo>
                  <a:pt x="1186059" y="17363"/>
                  <a:pt x="1352504" y="-23507"/>
                  <a:pt x="1521630" y="0"/>
                </a:cubicBezTo>
                <a:cubicBezTo>
                  <a:pt x="1690756" y="23507"/>
                  <a:pt x="1889525" y="5871"/>
                  <a:pt x="2127857" y="0"/>
                </a:cubicBezTo>
                <a:cubicBezTo>
                  <a:pt x="2366189" y="-5871"/>
                  <a:pt x="2620628" y="-27997"/>
                  <a:pt x="2776520" y="0"/>
                </a:cubicBezTo>
                <a:cubicBezTo>
                  <a:pt x="2932412" y="27997"/>
                  <a:pt x="3131683" y="-25073"/>
                  <a:pt x="3467618" y="0"/>
                </a:cubicBezTo>
                <a:cubicBezTo>
                  <a:pt x="3803553" y="25073"/>
                  <a:pt x="4017371" y="3071"/>
                  <a:pt x="4243589" y="0"/>
                </a:cubicBezTo>
                <a:cubicBezTo>
                  <a:pt x="4243134" y="6162"/>
                  <a:pt x="4243492" y="11775"/>
                  <a:pt x="4243589" y="18288"/>
                </a:cubicBezTo>
                <a:cubicBezTo>
                  <a:pt x="4017834" y="-5779"/>
                  <a:pt x="3834586" y="13376"/>
                  <a:pt x="3594926" y="18288"/>
                </a:cubicBezTo>
                <a:cubicBezTo>
                  <a:pt x="3355266" y="23200"/>
                  <a:pt x="3204179" y="2869"/>
                  <a:pt x="2903827" y="18288"/>
                </a:cubicBezTo>
                <a:cubicBezTo>
                  <a:pt x="2603475" y="33707"/>
                  <a:pt x="2526187" y="46187"/>
                  <a:pt x="2212729" y="18288"/>
                </a:cubicBezTo>
                <a:cubicBezTo>
                  <a:pt x="1899271" y="-9611"/>
                  <a:pt x="1966289" y="29692"/>
                  <a:pt x="1733809" y="18288"/>
                </a:cubicBezTo>
                <a:cubicBezTo>
                  <a:pt x="1501329" y="6884"/>
                  <a:pt x="1343612" y="12492"/>
                  <a:pt x="1085146" y="18288"/>
                </a:cubicBezTo>
                <a:cubicBezTo>
                  <a:pt x="826680" y="24084"/>
                  <a:pt x="778184" y="35607"/>
                  <a:pt x="521355" y="18288"/>
                </a:cubicBezTo>
                <a:cubicBezTo>
                  <a:pt x="264526" y="969"/>
                  <a:pt x="120277" y="4268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rgbClr val="FFFFFF">
              <a:alpha val="75000"/>
            </a:srgbClr>
          </a:solidFill>
          <a:ln w="44450" cap="rnd">
            <a:solidFill>
              <a:schemeClr val="bg1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4D931C1B-3B92-B7AB-AE52-A53196BE75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8A2D5A-CC95-4DFA-8041-E348B25950A2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722226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9AA72BD9-2C5A-4EDC-931F-5AA08EACA0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F0772AF8-417B-DFDC-FDB1-C876E564783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938" r="23289" b="3153"/>
          <a:stretch>
            <a:fillRect/>
          </a:stretch>
        </p:blipFill>
        <p:spPr>
          <a:xfrm>
            <a:off x="3522468" y="10"/>
            <a:ext cx="8669532" cy="6857990"/>
          </a:xfrm>
          <a:prstGeom prst="rect">
            <a:avLst/>
          </a:prstGeom>
        </p:spPr>
      </p:pic>
      <p:sp>
        <p:nvSpPr>
          <p:cNvPr id="28" name="Rectangle 27">
            <a:extLst>
              <a:ext uri="{FF2B5EF4-FFF2-40B4-BE49-F238E27FC236}">
                <a16:creationId xmlns:a16="http://schemas.microsoft.com/office/drawing/2014/main" id="{DD3981AC-7B61-4947-BCF3-F7AA7FA385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9756601" cy="6858000"/>
          </a:xfrm>
          <a:prstGeom prst="rect">
            <a:avLst/>
          </a:prstGeom>
          <a:gradFill>
            <a:gsLst>
              <a:gs pos="58000">
                <a:schemeClr val="tx1"/>
              </a:gs>
              <a:gs pos="35000">
                <a:schemeClr val="tx1">
                  <a:alpha val="78000"/>
                </a:schemeClr>
              </a:gs>
              <a:gs pos="19000">
                <a:schemeClr val="tx1">
                  <a:alpha val="38000"/>
                </a:schemeClr>
              </a:gs>
              <a:gs pos="0">
                <a:schemeClr val="tx1">
                  <a:alpha val="0"/>
                </a:schemeClr>
              </a:gs>
              <a:gs pos="100000">
                <a:schemeClr val="tx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EAA1B05F-FF63-03DB-F6E0-0EE0F66D23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094" y="1161288"/>
            <a:ext cx="3438144" cy="1124712"/>
          </a:xfrm>
        </p:spPr>
        <p:txBody>
          <a:bodyPr anchor="b">
            <a:normAutofit/>
          </a:bodyPr>
          <a:lstStyle/>
          <a:p>
            <a:r>
              <a:rPr lang="de-DE" sz="3200" dirty="0">
                <a:solidFill>
                  <a:schemeClr val="bg1"/>
                </a:solidFill>
              </a:rPr>
              <a:t>Idee und Konzept</a:t>
            </a:r>
            <a:endParaRPr lang="en-GB" sz="3200" dirty="0">
              <a:solidFill>
                <a:schemeClr val="bg1"/>
              </a:solidFill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55D4142C-5077-457F-A6AD-3FECFDB396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62559" y="605790"/>
            <a:ext cx="73152" cy="5486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7A5F0580-5EE9-419F-96EE-B6529EF6E7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8244" y="2443480"/>
            <a:ext cx="3300984" cy="9144"/>
          </a:xfrm>
          <a:prstGeom prst="rect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25EEFFF-8095-BD9B-7F56-CC56A9AF73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1093" y="2718054"/>
            <a:ext cx="4930249" cy="3207258"/>
          </a:xfrm>
        </p:spPr>
        <p:txBody>
          <a:bodyPr anchor="t">
            <a:normAutofit/>
          </a:bodyPr>
          <a:lstStyle/>
          <a:p>
            <a:r>
              <a:rPr lang="en-GB" sz="2200" dirty="0">
                <a:solidFill>
                  <a:schemeClr val="bg1"/>
                </a:solidFill>
              </a:rPr>
              <a:t>Problem: „Was </a:t>
            </a:r>
            <a:r>
              <a:rPr lang="en-GB" sz="2200" dirty="0" err="1">
                <a:solidFill>
                  <a:schemeClr val="bg1"/>
                </a:solidFill>
              </a:rPr>
              <a:t>esse</a:t>
            </a:r>
            <a:r>
              <a:rPr lang="en-GB" sz="2200" dirty="0">
                <a:solidFill>
                  <a:schemeClr val="bg1"/>
                </a:solidFill>
              </a:rPr>
              <a:t> ich?“ → </a:t>
            </a:r>
            <a:r>
              <a:rPr lang="en-GB" sz="2200" dirty="0" err="1">
                <a:solidFill>
                  <a:schemeClr val="bg1"/>
                </a:solidFill>
              </a:rPr>
              <a:t>Zufallsentscheidung</a:t>
            </a:r>
            <a:r>
              <a:rPr lang="en-GB" sz="2200" dirty="0">
                <a:solidFill>
                  <a:schemeClr val="bg1"/>
                </a:solidFill>
              </a:rPr>
              <a:t> per </a:t>
            </a:r>
            <a:r>
              <a:rPr lang="en-GB" sz="2200" dirty="0" err="1">
                <a:solidFill>
                  <a:schemeClr val="bg1"/>
                </a:solidFill>
              </a:rPr>
              <a:t>Knopfdruck</a:t>
            </a:r>
            <a:endParaRPr lang="en-GB" sz="2200" dirty="0">
              <a:solidFill>
                <a:schemeClr val="bg1"/>
              </a:solidFill>
            </a:endParaRPr>
          </a:p>
          <a:p>
            <a:r>
              <a:rPr lang="en-GB" sz="2200" dirty="0">
                <a:solidFill>
                  <a:schemeClr val="bg1"/>
                </a:solidFill>
              </a:rPr>
              <a:t>Ziel: </a:t>
            </a:r>
            <a:r>
              <a:rPr lang="en-GB" sz="2200" dirty="0" err="1">
                <a:solidFill>
                  <a:schemeClr val="bg1"/>
                </a:solidFill>
              </a:rPr>
              <a:t>Automatisierte</a:t>
            </a:r>
            <a:r>
              <a:rPr lang="en-GB" sz="2200" dirty="0">
                <a:solidFill>
                  <a:schemeClr val="bg1"/>
                </a:solidFill>
              </a:rPr>
              <a:t> </a:t>
            </a:r>
            <a:r>
              <a:rPr lang="en-GB" sz="2200" dirty="0" err="1">
                <a:solidFill>
                  <a:schemeClr val="bg1"/>
                </a:solidFill>
              </a:rPr>
              <a:t>Essensbestellung</a:t>
            </a:r>
            <a:r>
              <a:rPr lang="en-GB" sz="2200" dirty="0">
                <a:solidFill>
                  <a:schemeClr val="bg1"/>
                </a:solidFill>
              </a:rPr>
              <a:t>, </a:t>
            </a:r>
            <a:r>
              <a:rPr lang="en-GB" sz="2200" dirty="0" err="1">
                <a:solidFill>
                  <a:schemeClr val="bg1"/>
                </a:solidFill>
              </a:rPr>
              <a:t>Barzahlung</a:t>
            </a:r>
            <a:r>
              <a:rPr lang="en-GB" sz="2200" dirty="0">
                <a:solidFill>
                  <a:schemeClr val="bg1"/>
                </a:solidFill>
              </a:rPr>
              <a:t> </a:t>
            </a:r>
            <a:r>
              <a:rPr lang="en-GB" sz="2200" dirty="0" err="1">
                <a:solidFill>
                  <a:schemeClr val="bg1"/>
                </a:solidFill>
              </a:rPr>
              <a:t>bei</a:t>
            </a:r>
            <a:r>
              <a:rPr lang="en-GB" sz="2200" dirty="0">
                <a:solidFill>
                  <a:schemeClr val="bg1"/>
                </a:solidFill>
              </a:rPr>
              <a:t> </a:t>
            </a:r>
            <a:r>
              <a:rPr lang="en-GB" sz="2200" dirty="0" err="1">
                <a:solidFill>
                  <a:schemeClr val="bg1"/>
                </a:solidFill>
              </a:rPr>
              <a:t>Lieferung</a:t>
            </a:r>
            <a:endParaRPr lang="en-GB" sz="2200" dirty="0">
              <a:solidFill>
                <a:schemeClr val="bg1"/>
              </a:solidFill>
            </a:endParaRPr>
          </a:p>
          <a:p>
            <a:r>
              <a:rPr lang="en-GB" sz="2200" dirty="0" err="1">
                <a:solidFill>
                  <a:schemeClr val="bg1"/>
                </a:solidFill>
              </a:rPr>
              <a:t>Abgrenzung</a:t>
            </a:r>
            <a:r>
              <a:rPr lang="en-GB" sz="2200" dirty="0">
                <a:solidFill>
                  <a:schemeClr val="bg1"/>
                </a:solidFill>
              </a:rPr>
              <a:t>: </a:t>
            </a:r>
            <a:r>
              <a:rPr lang="en-GB" sz="2200" dirty="0" err="1">
                <a:solidFill>
                  <a:schemeClr val="bg1"/>
                </a:solidFill>
              </a:rPr>
              <a:t>Fokus</a:t>
            </a:r>
            <a:r>
              <a:rPr lang="en-GB" sz="2200" dirty="0">
                <a:solidFill>
                  <a:schemeClr val="bg1"/>
                </a:solidFill>
              </a:rPr>
              <a:t> auf </a:t>
            </a:r>
            <a:r>
              <a:rPr lang="en-GB" sz="2200" dirty="0" err="1">
                <a:solidFill>
                  <a:schemeClr val="bg1"/>
                </a:solidFill>
              </a:rPr>
              <a:t>Lernwert</a:t>
            </a:r>
            <a:r>
              <a:rPr lang="en-GB" sz="2200" dirty="0">
                <a:solidFill>
                  <a:schemeClr val="bg1"/>
                </a:solidFill>
              </a:rPr>
              <a:t> (APIs, Monitoring, </a:t>
            </a:r>
            <a:r>
              <a:rPr lang="en-GB" sz="2200" dirty="0" err="1">
                <a:solidFill>
                  <a:schemeClr val="bg1"/>
                </a:solidFill>
              </a:rPr>
              <a:t>Automatisierung</a:t>
            </a:r>
            <a:r>
              <a:rPr lang="en-GB" sz="2200" dirty="0">
                <a:solidFill>
                  <a:schemeClr val="bg1"/>
                </a:solidFill>
              </a:rPr>
              <a:t>), </a:t>
            </a:r>
            <a:r>
              <a:rPr lang="en-GB" sz="2200" dirty="0" err="1">
                <a:solidFill>
                  <a:schemeClr val="bg1"/>
                </a:solidFill>
              </a:rPr>
              <a:t>kein</a:t>
            </a:r>
            <a:r>
              <a:rPr lang="en-GB" sz="2200" dirty="0">
                <a:solidFill>
                  <a:schemeClr val="bg1"/>
                </a:solidFill>
              </a:rPr>
              <a:t> </a:t>
            </a:r>
            <a:r>
              <a:rPr lang="en-GB" sz="2200" dirty="0" err="1">
                <a:solidFill>
                  <a:schemeClr val="bg1"/>
                </a:solidFill>
              </a:rPr>
              <a:t>Produktivsystem</a:t>
            </a:r>
            <a:endParaRPr lang="en-GB" sz="2200" dirty="0">
              <a:solidFill>
                <a:schemeClr val="bg1"/>
              </a:solidFill>
            </a:endParaRPr>
          </a:p>
          <a:p>
            <a:endParaRPr lang="en-GB" sz="1700" dirty="0">
              <a:solidFill>
                <a:schemeClr val="bg1"/>
              </a:solidFill>
            </a:endParaRPr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A00F398A-2F41-B420-EC70-74B6B52A18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78A2D5A-CC95-4DFA-8041-E348B25950A2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052610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9AA72BD9-2C5A-4EDC-931F-5AA08EACA0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634AB40D-150A-625A-FF5D-C7FECF3E0D0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938" r="23289" b="3153"/>
          <a:stretch>
            <a:fillRect/>
          </a:stretch>
        </p:blipFill>
        <p:spPr>
          <a:xfrm>
            <a:off x="3522466" y="0"/>
            <a:ext cx="8669532" cy="6857990"/>
          </a:xfrm>
          <a:prstGeom prst="rect">
            <a:avLst/>
          </a:prstGeom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DD3981AC-7B61-4947-BCF3-F7AA7FA385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9756601" cy="6858000"/>
          </a:xfrm>
          <a:prstGeom prst="rect">
            <a:avLst/>
          </a:prstGeom>
          <a:gradFill>
            <a:gsLst>
              <a:gs pos="58000">
                <a:schemeClr val="tx1"/>
              </a:gs>
              <a:gs pos="35000">
                <a:schemeClr val="tx1">
                  <a:alpha val="78000"/>
                </a:schemeClr>
              </a:gs>
              <a:gs pos="19000">
                <a:schemeClr val="tx1">
                  <a:alpha val="38000"/>
                </a:schemeClr>
              </a:gs>
              <a:gs pos="0">
                <a:schemeClr val="tx1">
                  <a:alpha val="0"/>
                </a:schemeClr>
              </a:gs>
              <a:gs pos="100000">
                <a:schemeClr val="tx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FE3E0004-7947-5B4F-44C4-D345C26464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9664" y="558226"/>
            <a:ext cx="3438144" cy="1124712"/>
          </a:xfrm>
        </p:spPr>
        <p:txBody>
          <a:bodyPr anchor="b">
            <a:normAutofit/>
          </a:bodyPr>
          <a:lstStyle/>
          <a:p>
            <a:r>
              <a:rPr lang="de-DE" sz="3200" dirty="0">
                <a:solidFill>
                  <a:schemeClr val="bg1"/>
                </a:solidFill>
              </a:rPr>
              <a:t>Interner Ablauf</a:t>
            </a:r>
            <a:endParaRPr lang="en-GB" sz="2800" dirty="0">
              <a:solidFill>
                <a:schemeClr val="bg1"/>
              </a:solidFill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55D4142C-5077-457F-A6AD-3FECFDB396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62559" y="605790"/>
            <a:ext cx="73152" cy="5486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7A5F0580-5EE9-419F-96EE-B6529EF6E7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8244" y="2443480"/>
            <a:ext cx="3300984" cy="9144"/>
          </a:xfrm>
          <a:prstGeom prst="rect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18EE66D-18DE-FF37-541B-9489F68CCA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6493" y="1968246"/>
            <a:ext cx="4102935" cy="3207258"/>
          </a:xfrm>
        </p:spPr>
        <p:txBody>
          <a:bodyPr anchor="t">
            <a:noAutofit/>
          </a:bodyPr>
          <a:lstStyle/>
          <a:p>
            <a:r>
              <a:rPr lang="en-GB" sz="2200" dirty="0">
                <a:solidFill>
                  <a:schemeClr val="bg1"/>
                </a:solidFill>
              </a:rPr>
              <a:t>Button / </a:t>
            </a:r>
            <a:r>
              <a:rPr lang="en-GB" sz="2200" dirty="0" err="1">
                <a:solidFill>
                  <a:schemeClr val="bg1"/>
                </a:solidFill>
              </a:rPr>
              <a:t>Aufruf</a:t>
            </a:r>
            <a:endParaRPr lang="en-GB" sz="2200" dirty="0">
              <a:solidFill>
                <a:schemeClr val="bg1"/>
              </a:solidFill>
            </a:endParaRPr>
          </a:p>
          <a:p>
            <a:r>
              <a:rPr lang="en-GB" sz="2200" dirty="0">
                <a:solidFill>
                  <a:schemeClr val="bg1"/>
                </a:solidFill>
              </a:rPr>
              <a:t>   ↓</a:t>
            </a:r>
          </a:p>
          <a:p>
            <a:r>
              <a:rPr lang="en-GB" sz="2200" dirty="0">
                <a:solidFill>
                  <a:schemeClr val="bg1"/>
                </a:solidFill>
              </a:rPr>
              <a:t>app.py (</a:t>
            </a:r>
            <a:r>
              <a:rPr lang="en-GB" sz="2200" dirty="0" err="1">
                <a:solidFill>
                  <a:schemeClr val="bg1"/>
                </a:solidFill>
              </a:rPr>
              <a:t>Orderlogik</a:t>
            </a:r>
            <a:r>
              <a:rPr lang="en-GB" sz="2200" dirty="0">
                <a:solidFill>
                  <a:schemeClr val="bg1"/>
                </a:solidFill>
              </a:rPr>
              <a:t>)</a:t>
            </a:r>
          </a:p>
          <a:p>
            <a:r>
              <a:rPr lang="en-GB" sz="2200" dirty="0">
                <a:solidFill>
                  <a:schemeClr val="bg1"/>
                </a:solidFill>
              </a:rPr>
              <a:t>   ↓</a:t>
            </a:r>
          </a:p>
          <a:p>
            <a:r>
              <a:rPr lang="en-GB" sz="2200" dirty="0">
                <a:solidFill>
                  <a:schemeClr val="bg1"/>
                </a:solidFill>
              </a:rPr>
              <a:t>services.py (API-Simulation)</a:t>
            </a:r>
          </a:p>
          <a:p>
            <a:r>
              <a:rPr lang="en-GB" sz="2200" dirty="0">
                <a:solidFill>
                  <a:schemeClr val="bg1"/>
                </a:solidFill>
              </a:rPr>
              <a:t>   ↓</a:t>
            </a:r>
          </a:p>
          <a:p>
            <a:r>
              <a:rPr lang="en-GB" sz="2200" dirty="0">
                <a:solidFill>
                  <a:schemeClr val="bg1"/>
                </a:solidFill>
              </a:rPr>
              <a:t>monitor.py (Status + ETA)</a:t>
            </a:r>
          </a:p>
          <a:p>
            <a:r>
              <a:rPr lang="en-GB" sz="2200" dirty="0">
                <a:solidFill>
                  <a:schemeClr val="bg1"/>
                </a:solidFill>
              </a:rPr>
              <a:t>   ↓</a:t>
            </a:r>
          </a:p>
          <a:p>
            <a:r>
              <a:rPr lang="en-GB" sz="2200" dirty="0">
                <a:solidFill>
                  <a:schemeClr val="bg1"/>
                </a:solidFill>
              </a:rPr>
              <a:t>orders.log (Logging)</a:t>
            </a:r>
          </a:p>
          <a:p>
            <a:r>
              <a:rPr lang="en-GB" sz="2200" dirty="0">
                <a:solidFill>
                  <a:schemeClr val="bg1"/>
                </a:solidFill>
              </a:rPr>
              <a:t>   ↓</a:t>
            </a:r>
          </a:p>
          <a:p>
            <a:r>
              <a:rPr lang="en-GB" sz="2200" dirty="0">
                <a:solidFill>
                  <a:schemeClr val="bg1"/>
                </a:solidFill>
              </a:rPr>
              <a:t>dashboard.html (</a:t>
            </a:r>
            <a:r>
              <a:rPr lang="en-GB" sz="2200" dirty="0" err="1">
                <a:solidFill>
                  <a:schemeClr val="bg1"/>
                </a:solidFill>
              </a:rPr>
              <a:t>Anzeige</a:t>
            </a:r>
            <a:r>
              <a:rPr lang="en-GB" sz="2200" dirty="0">
                <a:solidFill>
                  <a:schemeClr val="bg1"/>
                </a:solidFill>
              </a:rPr>
              <a:t>)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21EEB499-FB83-6A28-BB53-392020A75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61574" y="6356349"/>
            <a:ext cx="2743200" cy="365125"/>
          </a:xfrm>
        </p:spPr>
        <p:txBody>
          <a:bodyPr/>
          <a:lstStyle/>
          <a:p>
            <a:fld id="{378A2D5A-CC95-4DFA-8041-E348B25950A2}" type="slidenum">
              <a:rPr lang="en-GB" smtClean="0"/>
              <a:t>3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950415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9AA72BD9-2C5A-4EDC-931F-5AA08EACA0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B26E69B9-BFEE-29FA-4021-EFDC09145932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938" r="23289" b="3153"/>
          <a:stretch>
            <a:fillRect/>
          </a:stretch>
        </p:blipFill>
        <p:spPr>
          <a:xfrm>
            <a:off x="3522468" y="10"/>
            <a:ext cx="8669532" cy="6857990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DD3981AC-7B61-4947-BCF3-F7AA7FA385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9756601" cy="6858000"/>
          </a:xfrm>
          <a:prstGeom prst="rect">
            <a:avLst/>
          </a:prstGeom>
          <a:gradFill>
            <a:gsLst>
              <a:gs pos="58000">
                <a:schemeClr val="tx1"/>
              </a:gs>
              <a:gs pos="35000">
                <a:schemeClr val="tx1">
                  <a:alpha val="78000"/>
                </a:schemeClr>
              </a:gs>
              <a:gs pos="19000">
                <a:schemeClr val="tx1">
                  <a:alpha val="38000"/>
                </a:schemeClr>
              </a:gs>
              <a:gs pos="0">
                <a:schemeClr val="tx1">
                  <a:alpha val="0"/>
                </a:schemeClr>
              </a:gs>
              <a:gs pos="100000">
                <a:schemeClr val="tx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B0A621C9-2340-562E-7A8B-5899B062FA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4815" y="1138917"/>
            <a:ext cx="3438144" cy="1124712"/>
          </a:xfrm>
        </p:spPr>
        <p:txBody>
          <a:bodyPr anchor="b">
            <a:normAutofit/>
          </a:bodyPr>
          <a:lstStyle/>
          <a:p>
            <a:r>
              <a:rPr lang="de-DE" sz="3200" dirty="0">
                <a:solidFill>
                  <a:schemeClr val="bg1"/>
                </a:solidFill>
              </a:rPr>
              <a:t>Zeitliche </a:t>
            </a:r>
            <a:r>
              <a:rPr lang="de-DE" sz="3200" dirty="0" err="1">
                <a:solidFill>
                  <a:schemeClr val="bg1"/>
                </a:solidFill>
              </a:rPr>
              <a:t>abläufe</a:t>
            </a:r>
            <a:endParaRPr lang="en-GB" sz="3200" dirty="0">
              <a:solidFill>
                <a:schemeClr val="bg1"/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5D4142C-5077-457F-A6AD-3FECFDB396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62559" y="605790"/>
            <a:ext cx="73152" cy="5486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A5F0580-5EE9-419F-96EE-B6529EF6E7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8244" y="2443480"/>
            <a:ext cx="3300984" cy="9144"/>
          </a:xfrm>
          <a:prstGeom prst="rect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8757325-42CD-353C-D1B1-8D99AF77C8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7240" y="2692664"/>
            <a:ext cx="4779931" cy="3441586"/>
          </a:xfrm>
        </p:spPr>
        <p:txBody>
          <a:bodyPr anchor="t">
            <a:noAutofit/>
          </a:bodyPr>
          <a:lstStyle/>
          <a:p>
            <a:r>
              <a:rPr lang="de-DE" sz="2200" dirty="0">
                <a:solidFill>
                  <a:schemeClr val="bg1"/>
                </a:solidFill>
              </a:rPr>
              <a:t>2-3.  Woche Grundsystem </a:t>
            </a:r>
            <a:br>
              <a:rPr lang="de-DE" sz="2200" dirty="0">
                <a:solidFill>
                  <a:schemeClr val="bg1"/>
                </a:solidFill>
              </a:rPr>
            </a:br>
            <a:r>
              <a:rPr lang="de-DE" sz="2200" dirty="0">
                <a:solidFill>
                  <a:schemeClr val="bg1"/>
                </a:solidFill>
              </a:rPr>
              <a:t>	</a:t>
            </a:r>
            <a:r>
              <a:rPr lang="de-DE" sz="1600" dirty="0">
                <a:solidFill>
                  <a:schemeClr val="bg1"/>
                </a:solidFill>
              </a:rPr>
              <a:t>(um 2 Wochen verlängert)</a:t>
            </a:r>
          </a:p>
          <a:p>
            <a:r>
              <a:rPr lang="de-DE" sz="2200" dirty="0">
                <a:solidFill>
                  <a:schemeClr val="bg1"/>
                </a:solidFill>
              </a:rPr>
              <a:t>4-5.  Woche Monitoring einfügen</a:t>
            </a:r>
          </a:p>
          <a:p>
            <a:pPr marL="914400" lvl="2" indent="0">
              <a:buNone/>
            </a:pPr>
            <a:r>
              <a:rPr lang="de-DE" sz="1600" dirty="0">
                <a:solidFill>
                  <a:schemeClr val="bg1"/>
                </a:solidFill>
              </a:rPr>
              <a:t>(verspätet gestartet sonst nach Zeitplan)</a:t>
            </a:r>
          </a:p>
          <a:p>
            <a:r>
              <a:rPr lang="de-DE" sz="2200" dirty="0">
                <a:solidFill>
                  <a:schemeClr val="bg1"/>
                </a:solidFill>
              </a:rPr>
              <a:t>5-6.  Woche Tests und Doku</a:t>
            </a:r>
          </a:p>
          <a:p>
            <a:pPr marL="914400" lvl="2" indent="0">
              <a:buNone/>
            </a:pPr>
            <a:r>
              <a:rPr lang="de-DE" sz="1600" dirty="0">
                <a:solidFill>
                  <a:schemeClr val="bg1"/>
                </a:solidFill>
              </a:rPr>
              <a:t>(kleinere Änderungen 1 Woche länger)</a:t>
            </a:r>
          </a:p>
          <a:p>
            <a:r>
              <a:rPr lang="de-DE" sz="2200" dirty="0">
                <a:solidFill>
                  <a:schemeClr val="bg1"/>
                </a:solidFill>
              </a:rPr>
              <a:t>7-8.  Woche Troubleshooting</a:t>
            </a:r>
          </a:p>
          <a:p>
            <a:r>
              <a:rPr lang="de-DE" sz="2200" dirty="0">
                <a:solidFill>
                  <a:schemeClr val="bg1"/>
                </a:solidFill>
              </a:rPr>
              <a:t>8-9.  Woche Präsentation &amp; Doku 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85F2C6EC-38B6-EB56-84AE-D9CCC2C272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75170" y="6325927"/>
            <a:ext cx="2743200" cy="365125"/>
          </a:xfrm>
        </p:spPr>
        <p:txBody>
          <a:bodyPr>
            <a:norm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378A2D5A-CC95-4DFA-8041-E348B25950A2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725356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9AA72BD9-2C5A-4EDC-931F-5AA08EACA0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F0772AF8-417B-DFDC-FDB1-C876E564783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938" r="23289" b="3153"/>
          <a:stretch>
            <a:fillRect/>
          </a:stretch>
        </p:blipFill>
        <p:spPr>
          <a:xfrm>
            <a:off x="3522468" y="13073"/>
            <a:ext cx="8669532" cy="6857990"/>
          </a:xfrm>
          <a:prstGeom prst="rect">
            <a:avLst/>
          </a:prstGeom>
        </p:spPr>
      </p:pic>
      <p:sp>
        <p:nvSpPr>
          <p:cNvPr id="28" name="Rectangle 27">
            <a:extLst>
              <a:ext uri="{FF2B5EF4-FFF2-40B4-BE49-F238E27FC236}">
                <a16:creationId xmlns:a16="http://schemas.microsoft.com/office/drawing/2014/main" id="{DD3981AC-7B61-4947-BCF3-F7AA7FA385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9756601" cy="6858000"/>
          </a:xfrm>
          <a:prstGeom prst="rect">
            <a:avLst/>
          </a:prstGeom>
          <a:gradFill>
            <a:gsLst>
              <a:gs pos="58000">
                <a:schemeClr val="tx1"/>
              </a:gs>
              <a:gs pos="35000">
                <a:schemeClr val="tx1">
                  <a:alpha val="78000"/>
                </a:schemeClr>
              </a:gs>
              <a:gs pos="19000">
                <a:schemeClr val="tx1">
                  <a:alpha val="38000"/>
                </a:schemeClr>
              </a:gs>
              <a:gs pos="0">
                <a:schemeClr val="tx1">
                  <a:alpha val="0"/>
                </a:schemeClr>
              </a:gs>
              <a:gs pos="100000">
                <a:schemeClr val="tx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EAA1B05F-FF63-03DB-F6E0-0EE0F66D23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094" y="1161288"/>
            <a:ext cx="3641508" cy="1124712"/>
          </a:xfrm>
        </p:spPr>
        <p:txBody>
          <a:bodyPr anchor="b">
            <a:normAutofit/>
          </a:bodyPr>
          <a:lstStyle/>
          <a:p>
            <a:r>
              <a:rPr lang="de-DE" sz="3200" dirty="0">
                <a:solidFill>
                  <a:schemeClr val="bg1"/>
                </a:solidFill>
              </a:rPr>
              <a:t>Projektablauf	Einschätzung</a:t>
            </a:r>
            <a:endParaRPr lang="en-GB" sz="3200" dirty="0">
              <a:solidFill>
                <a:schemeClr val="bg1"/>
              </a:solidFill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55D4142C-5077-457F-A6AD-3FECFDB396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62559" y="605790"/>
            <a:ext cx="73152" cy="5486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7A5F0580-5EE9-419F-96EE-B6529EF6E7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8244" y="2443480"/>
            <a:ext cx="3300984" cy="9144"/>
          </a:xfrm>
          <a:prstGeom prst="rect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25EEFFF-8095-BD9B-7F56-CC56A9AF73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1093" y="2718054"/>
            <a:ext cx="4930249" cy="3207258"/>
          </a:xfrm>
        </p:spPr>
        <p:txBody>
          <a:bodyPr anchor="t">
            <a:noAutofit/>
          </a:bodyPr>
          <a:lstStyle/>
          <a:p>
            <a:r>
              <a:rPr lang="de-DE" sz="2200" dirty="0">
                <a:solidFill>
                  <a:schemeClr val="bg1"/>
                </a:solidFill>
              </a:rPr>
              <a:t>Ursprünglicher Zeitplan zu knapp</a:t>
            </a:r>
          </a:p>
          <a:p>
            <a:r>
              <a:rPr lang="de-DE" sz="2200" dirty="0">
                <a:solidFill>
                  <a:schemeClr val="bg1"/>
                </a:solidFill>
              </a:rPr>
              <a:t>Lieferservice APIs wie befürchtet nicht nutzbar</a:t>
            </a:r>
          </a:p>
          <a:p>
            <a:r>
              <a:rPr lang="de-DE" sz="2200" dirty="0">
                <a:solidFill>
                  <a:schemeClr val="bg1"/>
                </a:solidFill>
              </a:rPr>
              <a:t>Abgesehen von API-Problematik guter Ablauf</a:t>
            </a:r>
          </a:p>
          <a:p>
            <a:r>
              <a:rPr lang="en-GB" sz="2200" dirty="0">
                <a:solidFill>
                  <a:schemeClr val="bg1"/>
                </a:solidFill>
              </a:rPr>
              <a:t>API-</a:t>
            </a:r>
            <a:r>
              <a:rPr lang="en-GB" sz="2200" dirty="0" err="1">
                <a:solidFill>
                  <a:schemeClr val="bg1"/>
                </a:solidFill>
              </a:rPr>
              <a:t>Problematik</a:t>
            </a:r>
            <a:r>
              <a:rPr lang="en-GB" sz="2200" dirty="0">
                <a:solidFill>
                  <a:schemeClr val="bg1"/>
                </a:solidFill>
              </a:rPr>
              <a:t> </a:t>
            </a:r>
            <a:r>
              <a:rPr lang="en-GB" sz="2200" dirty="0" err="1">
                <a:solidFill>
                  <a:schemeClr val="bg1"/>
                </a:solidFill>
              </a:rPr>
              <a:t>erforderte</a:t>
            </a:r>
            <a:r>
              <a:rPr lang="en-GB" sz="2200" dirty="0">
                <a:solidFill>
                  <a:schemeClr val="bg1"/>
                </a:solidFill>
              </a:rPr>
              <a:t> alternative </a:t>
            </a:r>
            <a:r>
              <a:rPr lang="en-GB" sz="2200" dirty="0" err="1">
                <a:solidFill>
                  <a:schemeClr val="bg1"/>
                </a:solidFill>
              </a:rPr>
              <a:t>Lösung</a:t>
            </a:r>
            <a:endParaRPr lang="en-GB" sz="2200" dirty="0">
              <a:solidFill>
                <a:schemeClr val="bg1"/>
              </a:solidFill>
            </a:endParaRPr>
          </a:p>
          <a:p>
            <a:r>
              <a:rPr lang="en-GB" sz="2200" dirty="0">
                <a:solidFill>
                  <a:schemeClr val="bg1"/>
                </a:solidFill>
              </a:rPr>
              <a:t>Service.py </a:t>
            </a:r>
            <a:r>
              <a:rPr lang="en-GB" sz="2200" dirty="0" err="1">
                <a:solidFill>
                  <a:schemeClr val="bg1"/>
                </a:solidFill>
              </a:rPr>
              <a:t>entwickelt</a:t>
            </a:r>
            <a:r>
              <a:rPr lang="en-GB" sz="2200" dirty="0">
                <a:solidFill>
                  <a:schemeClr val="bg1"/>
                </a:solidFill>
              </a:rPr>
              <a:t> um </a:t>
            </a:r>
            <a:r>
              <a:rPr lang="en-GB" sz="2200" dirty="0" err="1">
                <a:solidFill>
                  <a:schemeClr val="bg1"/>
                </a:solidFill>
              </a:rPr>
              <a:t>Bestellungsverarbeitung</a:t>
            </a:r>
            <a:r>
              <a:rPr lang="en-GB" sz="2200" dirty="0">
                <a:solidFill>
                  <a:schemeClr val="bg1"/>
                </a:solidFill>
              </a:rPr>
              <a:t> </a:t>
            </a:r>
            <a:r>
              <a:rPr lang="en-GB" sz="2200" dirty="0" err="1">
                <a:solidFill>
                  <a:schemeClr val="bg1"/>
                </a:solidFill>
              </a:rPr>
              <a:t>zu</a:t>
            </a:r>
            <a:r>
              <a:rPr lang="en-GB" sz="2200" dirty="0">
                <a:solidFill>
                  <a:schemeClr val="bg1"/>
                </a:solidFill>
              </a:rPr>
              <a:t> </a:t>
            </a:r>
            <a:r>
              <a:rPr lang="en-GB" sz="2200" dirty="0" err="1">
                <a:solidFill>
                  <a:schemeClr val="bg1"/>
                </a:solidFill>
              </a:rPr>
              <a:t>simulieren</a:t>
            </a:r>
            <a:endParaRPr lang="en-GB" sz="2200" dirty="0">
              <a:solidFill>
                <a:schemeClr val="bg1"/>
              </a:solidFill>
            </a:endParaRPr>
          </a:p>
          <a:p>
            <a:r>
              <a:rPr lang="en-GB" sz="2200" dirty="0">
                <a:solidFill>
                  <a:schemeClr val="bg1"/>
                </a:solidFill>
              </a:rPr>
              <a:t>Gute </a:t>
            </a:r>
            <a:r>
              <a:rPr lang="en-GB" sz="2200" dirty="0" err="1">
                <a:solidFill>
                  <a:schemeClr val="bg1"/>
                </a:solidFill>
              </a:rPr>
              <a:t>Koordination</a:t>
            </a:r>
            <a:r>
              <a:rPr lang="en-GB" sz="2200" dirty="0">
                <a:solidFill>
                  <a:schemeClr val="bg1"/>
                </a:solidFill>
              </a:rPr>
              <a:t> dank GIT </a:t>
            </a:r>
            <a:r>
              <a:rPr lang="en-GB" sz="2200" dirty="0" err="1">
                <a:solidFill>
                  <a:schemeClr val="bg1"/>
                </a:solidFill>
              </a:rPr>
              <a:t>Nutzung</a:t>
            </a:r>
            <a:endParaRPr lang="en-GB" sz="2200" dirty="0">
              <a:solidFill>
                <a:schemeClr val="bg1"/>
              </a:solidFill>
            </a:endParaRPr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A00F398A-2F41-B420-EC70-74B6B52A18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78A2D5A-CC95-4DFA-8041-E348B25950A2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985115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AA72BD9-2C5A-4EDC-931F-5AA08EACA0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4659A0E9-A708-DAD8-AF6A-5A22ECBE4C5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938" r="23289" b="3153"/>
          <a:stretch>
            <a:fillRect/>
          </a:stretch>
        </p:blipFill>
        <p:spPr>
          <a:xfrm>
            <a:off x="3522468" y="10"/>
            <a:ext cx="8669532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DD3981AC-7B61-4947-BCF3-F7AA7FA385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9756601" cy="6858000"/>
          </a:xfrm>
          <a:prstGeom prst="rect">
            <a:avLst/>
          </a:prstGeom>
          <a:gradFill>
            <a:gsLst>
              <a:gs pos="58000">
                <a:schemeClr val="tx1"/>
              </a:gs>
              <a:gs pos="35000">
                <a:schemeClr val="tx1">
                  <a:alpha val="78000"/>
                </a:schemeClr>
              </a:gs>
              <a:gs pos="19000">
                <a:schemeClr val="tx1">
                  <a:alpha val="38000"/>
                </a:schemeClr>
              </a:gs>
              <a:gs pos="0">
                <a:schemeClr val="tx1">
                  <a:alpha val="0"/>
                </a:schemeClr>
              </a:gs>
              <a:gs pos="100000">
                <a:schemeClr val="tx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5B3BDBB0-9AD4-E673-370C-D5F1062E89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094" y="1161288"/>
            <a:ext cx="3438144" cy="1124712"/>
          </a:xfrm>
        </p:spPr>
        <p:txBody>
          <a:bodyPr anchor="b">
            <a:normAutofit/>
          </a:bodyPr>
          <a:lstStyle/>
          <a:p>
            <a:r>
              <a:rPr lang="de-DE" sz="3200" dirty="0">
                <a:solidFill>
                  <a:schemeClr val="bg1"/>
                </a:solidFill>
              </a:rPr>
              <a:t>Zusammenfassung	</a:t>
            </a:r>
            <a:endParaRPr lang="en-GB" sz="3200" dirty="0">
              <a:solidFill>
                <a:schemeClr val="bg1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5D4142C-5077-457F-A6AD-3FECFDB396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62559" y="605790"/>
            <a:ext cx="73152" cy="5486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A5F0580-5EE9-419F-96EE-B6529EF6E7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8244" y="2443480"/>
            <a:ext cx="3300984" cy="9144"/>
          </a:xfrm>
          <a:prstGeom prst="rect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96E2E42-EF07-DC44-57C8-F9099D2BC5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1093" y="2718054"/>
            <a:ext cx="4331535" cy="3207258"/>
          </a:xfrm>
        </p:spPr>
        <p:txBody>
          <a:bodyPr anchor="t">
            <a:normAutofit/>
          </a:bodyPr>
          <a:lstStyle/>
          <a:p>
            <a:r>
              <a:rPr lang="de-DE" sz="2200" dirty="0">
                <a:solidFill>
                  <a:schemeClr val="bg1"/>
                </a:solidFill>
              </a:rPr>
              <a:t>In verschiedenen Bereichen war unsere Zeitplanung etwas knapp</a:t>
            </a:r>
          </a:p>
          <a:p>
            <a:r>
              <a:rPr lang="de-DE" sz="2200" dirty="0" err="1">
                <a:solidFill>
                  <a:schemeClr val="bg1"/>
                </a:solidFill>
              </a:rPr>
              <a:t>Vorallem</a:t>
            </a:r>
            <a:r>
              <a:rPr lang="de-DE" sz="2200" dirty="0">
                <a:solidFill>
                  <a:schemeClr val="bg1"/>
                </a:solidFill>
              </a:rPr>
              <a:t> das einpflegen von Produkten hat länger gedauert als erwartet.</a:t>
            </a:r>
          </a:p>
          <a:p>
            <a:r>
              <a:rPr lang="de-DE" sz="2200" dirty="0">
                <a:solidFill>
                  <a:schemeClr val="bg1"/>
                </a:solidFill>
              </a:rPr>
              <a:t>Mehraufwand durch service.py</a:t>
            </a:r>
          </a:p>
          <a:p>
            <a:r>
              <a:rPr lang="de-DE" sz="2200" dirty="0" err="1">
                <a:solidFill>
                  <a:schemeClr val="bg1"/>
                </a:solidFill>
              </a:rPr>
              <a:t>Physicher</a:t>
            </a:r>
            <a:r>
              <a:rPr lang="de-DE" sz="2200" dirty="0">
                <a:solidFill>
                  <a:schemeClr val="bg1"/>
                </a:solidFill>
              </a:rPr>
              <a:t> Knopf abgeschafft da Hardware-Defekt</a:t>
            </a:r>
          </a:p>
          <a:p>
            <a:pPr marL="0" indent="0">
              <a:buNone/>
            </a:pPr>
            <a:endParaRPr lang="de-DE" sz="2200" dirty="0">
              <a:solidFill>
                <a:schemeClr val="bg1"/>
              </a:solidFill>
            </a:endParaRP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AD497863-1CDC-14B1-9F8C-FB53068572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8A2D5A-CC95-4DFA-8041-E348B25950A2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900776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214</Words>
  <Application>Microsoft Office PowerPoint</Application>
  <PresentationFormat>Breitbild</PresentationFormat>
  <Paragraphs>48</Paragraphs>
  <Slides>6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6</vt:i4>
      </vt:variant>
    </vt:vector>
  </HeadingPairs>
  <TitlesOfParts>
    <vt:vector size="11" baseType="lpstr">
      <vt:lpstr>Aptos</vt:lpstr>
      <vt:lpstr>Aptos Display</vt:lpstr>
      <vt:lpstr>Arial</vt:lpstr>
      <vt:lpstr>Calibri</vt:lpstr>
      <vt:lpstr>Office</vt:lpstr>
      <vt:lpstr>OneTapFood</vt:lpstr>
      <vt:lpstr>Idee und Konzept</vt:lpstr>
      <vt:lpstr>Interner Ablauf</vt:lpstr>
      <vt:lpstr>Zeitliche abläufe</vt:lpstr>
      <vt:lpstr>Projektablauf Einschätzung</vt:lpstr>
      <vt:lpstr>Zusammenfassung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Eric Bayer</dc:creator>
  <cp:lastModifiedBy>Eric Bayer</cp:lastModifiedBy>
  <cp:revision>2</cp:revision>
  <dcterms:created xsi:type="dcterms:W3CDTF">2025-09-18T07:56:50Z</dcterms:created>
  <dcterms:modified xsi:type="dcterms:W3CDTF">2026-03-19T09:43:22Z</dcterms:modified>
</cp:coreProperties>
</file>