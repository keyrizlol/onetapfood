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de-B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Einleitung" id="{A84AFDAF-AEEB-49E1-8CE6-9138BA1230FD}">
          <p14:sldIdLst>
            <p14:sldId id="256"/>
            <p14:sldId id="257"/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  <p14:sldId id="26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23051" autoAdjust="0"/>
  </p:normalViewPr>
  <p:slideViewPr>
    <p:cSldViewPr snapToGrid="0">
      <p:cViewPr varScale="1">
        <p:scale>
          <a:sx n="22" d="100"/>
          <a:sy n="22" d="100"/>
        </p:scale>
        <p:origin x="2995" y="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B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FBBD9DF-3BD8-4C7D-9A3A-92AB7DC71802}" type="datetimeFigureOut">
              <a:rPr lang="de-BE" smtClean="0"/>
              <a:t>19.12.2025</a:t>
            </a:fld>
            <a:endParaRPr lang="de-B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B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B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B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AF44E46-57E5-4DEC-B808-EF31442F10EF}" type="slidenum">
              <a:rPr lang="de-BE" smtClean="0"/>
              <a:t>‹Nr.›</a:t>
            </a:fld>
            <a:endParaRPr lang="de-BE"/>
          </a:p>
        </p:txBody>
      </p:sp>
    </p:spTree>
    <p:extLst>
      <p:ext uri="{BB962C8B-B14F-4D97-AF65-F5344CB8AC3E}">
        <p14:creationId xmlns:p14="http://schemas.microsoft.com/office/powerpoint/2010/main" val="7108025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b="1" dirty="0"/>
              <a:t>Grundidee</a:t>
            </a:r>
          </a:p>
          <a:p>
            <a:r>
              <a:rPr lang="de-DE" dirty="0"/>
              <a:t>MAC </a:t>
            </a:r>
            <a:r>
              <a:rPr lang="de-DE" dirty="0" err="1"/>
              <a:t>Filtering</a:t>
            </a:r>
            <a:r>
              <a:rPr lang="de-DE" dirty="0"/>
              <a:t> steuert den Netzwerkzugang </a:t>
            </a:r>
            <a:r>
              <a:rPr lang="de-DE" b="1" dirty="0"/>
              <a:t>ausschließlich über MAC-Adressen</a:t>
            </a:r>
            <a:endParaRPr lang="de-DE" dirty="0"/>
          </a:p>
          <a:p>
            <a:r>
              <a:rPr lang="de-DE" dirty="0"/>
              <a:t>Der ER706W kann Geräte </a:t>
            </a:r>
            <a:r>
              <a:rPr lang="de-DE" b="1" dirty="0"/>
              <a:t>explizit erlauben oder verbieten</a:t>
            </a:r>
            <a:endParaRPr lang="de-DE" dirty="0"/>
          </a:p>
          <a:p>
            <a:r>
              <a:rPr lang="de-DE" dirty="0"/>
              <a:t>Funktioniert unabhängig von IP-Adressen</a:t>
            </a:r>
          </a:p>
          <a:p>
            <a:r>
              <a:rPr lang="de-DE" b="1" dirty="0"/>
              <a:t>Betriebsmodi</a:t>
            </a:r>
          </a:p>
          <a:p>
            <a:r>
              <a:rPr lang="de-DE" b="1" dirty="0"/>
              <a:t>Whitelist-Modus:</a:t>
            </a:r>
            <a:endParaRPr lang="de-DE" dirty="0"/>
          </a:p>
          <a:p>
            <a:pPr lvl="1"/>
            <a:r>
              <a:rPr lang="de-DE" dirty="0"/>
              <a:t>Nur MAC-Adressen in der Liste dürfen kommunizieren</a:t>
            </a:r>
          </a:p>
          <a:p>
            <a:pPr lvl="1"/>
            <a:r>
              <a:rPr lang="de-DE" dirty="0"/>
              <a:t>Alle anderen werden geblockt</a:t>
            </a:r>
          </a:p>
          <a:p>
            <a:r>
              <a:rPr lang="de-DE" b="1" dirty="0"/>
              <a:t>Blacklist-Modus:</a:t>
            </a:r>
            <a:endParaRPr lang="de-DE" dirty="0"/>
          </a:p>
          <a:p>
            <a:pPr lvl="1"/>
            <a:r>
              <a:rPr lang="de-DE" dirty="0"/>
              <a:t>Bestimmte MAC-Adressen werden blockiert</a:t>
            </a:r>
          </a:p>
          <a:p>
            <a:pPr lvl="1"/>
            <a:r>
              <a:rPr lang="de-DE" dirty="0"/>
              <a:t>Alle anderen sind erlaubt</a:t>
            </a:r>
          </a:p>
          <a:p>
            <a:r>
              <a:rPr lang="de-DE" b="1" dirty="0"/>
              <a:t>Richtung</a:t>
            </a:r>
          </a:p>
          <a:p>
            <a:r>
              <a:rPr lang="de-DE" dirty="0"/>
              <a:t>Regeln können gelten für:</a:t>
            </a:r>
          </a:p>
          <a:p>
            <a:pPr lvl="1"/>
            <a:r>
              <a:rPr lang="de-DE" dirty="0"/>
              <a:t>LAN → WAN</a:t>
            </a:r>
          </a:p>
          <a:p>
            <a:pPr lvl="1"/>
            <a:r>
              <a:rPr lang="de-DE" dirty="0"/>
              <a:t>WAN → LAN</a:t>
            </a:r>
          </a:p>
          <a:p>
            <a:pPr lvl="1"/>
            <a:r>
              <a:rPr lang="de-DE" b="1" dirty="0"/>
              <a:t>ALL</a:t>
            </a:r>
            <a:endParaRPr lang="de-DE" dirty="0"/>
          </a:p>
          <a:p>
            <a:r>
              <a:rPr lang="de-DE" dirty="0"/>
              <a:t>Damit kann z. B. verhindert werden, dass ein Gerät ins Internet kommt, aber intern sichtbar bleibt</a:t>
            </a:r>
          </a:p>
          <a:p>
            <a:r>
              <a:rPr lang="de-DE" b="1" dirty="0"/>
              <a:t>Sicherheitsbewertung</a:t>
            </a:r>
          </a:p>
          <a:p>
            <a:r>
              <a:rPr lang="de-DE" b="1" dirty="0"/>
              <a:t>Vorteile:</a:t>
            </a:r>
            <a:endParaRPr lang="de-DE" dirty="0"/>
          </a:p>
          <a:p>
            <a:pPr lvl="1"/>
            <a:r>
              <a:rPr lang="de-DE" dirty="0"/>
              <a:t>Sehr einfach umzusetzen</a:t>
            </a:r>
          </a:p>
          <a:p>
            <a:pPr lvl="1"/>
            <a:r>
              <a:rPr lang="de-DE" dirty="0"/>
              <a:t>Schnell wirksam</a:t>
            </a:r>
          </a:p>
          <a:p>
            <a:pPr lvl="1"/>
            <a:r>
              <a:rPr lang="de-DE" dirty="0"/>
              <a:t>Gut für kleine, überschaubare Gerätemengen</a:t>
            </a:r>
          </a:p>
          <a:p>
            <a:r>
              <a:rPr lang="de-DE" b="1" dirty="0"/>
              <a:t>Nachteile:</a:t>
            </a:r>
            <a:endParaRPr lang="de-DE" dirty="0"/>
          </a:p>
          <a:p>
            <a:pPr lvl="1"/>
            <a:r>
              <a:rPr lang="de-DE" dirty="0"/>
              <a:t>MAC-Adressen sind </a:t>
            </a:r>
            <a:r>
              <a:rPr lang="de-DE" b="1" dirty="0"/>
              <a:t>leicht zu </a:t>
            </a:r>
            <a:r>
              <a:rPr lang="de-DE" b="1" dirty="0" err="1"/>
              <a:t>spoofen</a:t>
            </a:r>
            <a:endParaRPr lang="de-DE" dirty="0"/>
          </a:p>
          <a:p>
            <a:pPr lvl="1"/>
            <a:r>
              <a:rPr lang="de-DE" dirty="0"/>
              <a:t>Hoher Pflegeaufwand</a:t>
            </a:r>
          </a:p>
          <a:p>
            <a:pPr lvl="1"/>
            <a:r>
              <a:rPr lang="de-DE" dirty="0"/>
              <a:t>Keine starke Sicherheit für kritische Systeme</a:t>
            </a:r>
          </a:p>
          <a:p>
            <a:r>
              <a:rPr lang="de-DE" b="1" dirty="0"/>
              <a:t>Vergleich zu IP-MAC Binding</a:t>
            </a:r>
          </a:p>
          <a:p>
            <a:r>
              <a:rPr lang="de-DE" dirty="0"/>
              <a:t>MAC </a:t>
            </a:r>
            <a:r>
              <a:rPr lang="de-DE" dirty="0" err="1"/>
              <a:t>Filtering</a:t>
            </a:r>
            <a:r>
              <a:rPr lang="de-DE" dirty="0"/>
              <a:t> prüft </a:t>
            </a:r>
            <a:r>
              <a:rPr lang="de-DE" b="1" dirty="0"/>
              <a:t>nur die MAC-Adresse</a:t>
            </a:r>
            <a:endParaRPr lang="de-DE" dirty="0"/>
          </a:p>
          <a:p>
            <a:r>
              <a:rPr lang="de-DE" dirty="0"/>
              <a:t>IP-MAC Binding prüft </a:t>
            </a:r>
            <a:r>
              <a:rPr lang="de-DE" b="1" dirty="0"/>
              <a:t>IP + MAC + ARP-Verhalten</a:t>
            </a:r>
            <a:endParaRPr lang="de-DE" dirty="0"/>
          </a:p>
          <a:p>
            <a:r>
              <a:rPr lang="de-DE" dirty="0"/>
              <a:t>IP-MAC Binding schützt aktiv vor </a:t>
            </a:r>
            <a:r>
              <a:rPr lang="de-DE" b="1" dirty="0"/>
              <a:t>ARP-Spoofing</a:t>
            </a:r>
            <a:endParaRPr lang="de-DE" dirty="0"/>
          </a:p>
          <a:p>
            <a:r>
              <a:rPr lang="de-DE" dirty="0"/>
              <a:t>MAC </a:t>
            </a:r>
            <a:r>
              <a:rPr lang="de-DE" dirty="0" err="1"/>
              <a:t>Filtering</a:t>
            </a:r>
            <a:r>
              <a:rPr lang="de-DE" dirty="0"/>
              <a:t> ist </a:t>
            </a:r>
            <a:r>
              <a:rPr lang="de-DE" b="1" dirty="0"/>
              <a:t>nicht obsolet</a:t>
            </a:r>
            <a:r>
              <a:rPr lang="de-DE" dirty="0"/>
              <a:t>, aber:</a:t>
            </a:r>
          </a:p>
          <a:p>
            <a:pPr lvl="1"/>
            <a:r>
              <a:rPr lang="de-DE" dirty="0"/>
              <a:t>eher </a:t>
            </a:r>
            <a:r>
              <a:rPr lang="de-DE" b="1" dirty="0"/>
              <a:t>organisatorische Zugriffskontrolle</a:t>
            </a:r>
            <a:endParaRPr lang="de-DE" dirty="0"/>
          </a:p>
          <a:p>
            <a:pPr lvl="1"/>
            <a:r>
              <a:rPr lang="de-DE" dirty="0"/>
              <a:t>kein Schutz gegen gezielte Angriffe</a:t>
            </a:r>
          </a:p>
          <a:p>
            <a:endParaRPr lang="de-B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F44E46-57E5-4DEC-B808-EF31442F10EF}" type="slidenum">
              <a:rPr lang="de-BE" smtClean="0"/>
              <a:t>6</a:t>
            </a:fld>
            <a:endParaRPr lang="de-BE"/>
          </a:p>
        </p:txBody>
      </p:sp>
    </p:spTree>
    <p:extLst>
      <p:ext uri="{BB962C8B-B14F-4D97-AF65-F5344CB8AC3E}">
        <p14:creationId xmlns:p14="http://schemas.microsoft.com/office/powerpoint/2010/main" val="108606595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b="1" dirty="0"/>
              <a:t>Grundidee</a:t>
            </a:r>
          </a:p>
          <a:p>
            <a:endParaRPr lang="de-DE" dirty="0"/>
          </a:p>
          <a:p>
            <a:r>
              <a:rPr lang="de-DE" dirty="0"/>
              <a:t>ACLs regeln den </a:t>
            </a:r>
            <a:r>
              <a:rPr lang="de-DE" b="1" dirty="0"/>
              <a:t>Datenverkehr zwischen Netzsegmenten</a:t>
            </a:r>
            <a:endParaRPr lang="de-DE" dirty="0"/>
          </a:p>
          <a:p>
            <a:r>
              <a:rPr lang="de-DE" dirty="0"/>
              <a:t>Arbeiten auf </a:t>
            </a:r>
            <a:r>
              <a:rPr lang="de-DE" b="1" dirty="0"/>
              <a:t>Layer 3 und Layer 4</a:t>
            </a:r>
            <a:endParaRPr lang="de-DE" dirty="0"/>
          </a:p>
          <a:p>
            <a:pPr lvl="1"/>
            <a:r>
              <a:rPr lang="de-DE" dirty="0"/>
              <a:t>IP-Adressen</a:t>
            </a:r>
          </a:p>
          <a:p>
            <a:pPr lvl="1"/>
            <a:r>
              <a:rPr lang="de-DE" dirty="0"/>
              <a:t>Protokolle (TCP, UDP, ICMP)</a:t>
            </a:r>
          </a:p>
          <a:p>
            <a:pPr lvl="1"/>
            <a:r>
              <a:rPr lang="de-DE" dirty="0"/>
              <a:t>Ports</a:t>
            </a:r>
          </a:p>
          <a:p>
            <a:r>
              <a:rPr lang="de-DE" dirty="0"/>
              <a:t>Klassisches </a:t>
            </a:r>
            <a:r>
              <a:rPr lang="de-DE" b="1" dirty="0" err="1"/>
              <a:t>Allow</a:t>
            </a:r>
            <a:r>
              <a:rPr lang="de-DE" b="1" dirty="0"/>
              <a:t>/Deny-Prinzip</a:t>
            </a:r>
            <a:endParaRPr lang="de-DE" dirty="0"/>
          </a:p>
          <a:p>
            <a:endParaRPr lang="de-DE" b="1" dirty="0"/>
          </a:p>
          <a:p>
            <a:r>
              <a:rPr lang="de-DE" b="1" dirty="0"/>
              <a:t>Wichtige GUI-Parameter</a:t>
            </a:r>
          </a:p>
          <a:p>
            <a:r>
              <a:rPr lang="de-DE" dirty="0"/>
              <a:t>Policy: </a:t>
            </a:r>
            <a:r>
              <a:rPr lang="de-DE" dirty="0" err="1"/>
              <a:t>Allow</a:t>
            </a:r>
            <a:r>
              <a:rPr lang="de-DE" dirty="0"/>
              <a:t> oder Deny</a:t>
            </a:r>
          </a:p>
          <a:p>
            <a:r>
              <a:rPr lang="de-DE" dirty="0"/>
              <a:t>Service Type: TCP, UDP, ICMP, Any</a:t>
            </a:r>
          </a:p>
          <a:p>
            <a:r>
              <a:rPr lang="de-DE" dirty="0" err="1"/>
              <a:t>Direction</a:t>
            </a:r>
            <a:r>
              <a:rPr lang="de-DE" dirty="0"/>
              <a:t>: Incoming / </a:t>
            </a:r>
            <a:r>
              <a:rPr lang="de-DE" dirty="0" err="1"/>
              <a:t>Outgoing</a:t>
            </a:r>
            <a:endParaRPr lang="de-DE" dirty="0"/>
          </a:p>
          <a:p>
            <a:r>
              <a:rPr lang="de-DE" dirty="0"/>
              <a:t>Source / Destination: IP oder Subnetz</a:t>
            </a:r>
          </a:p>
          <a:p>
            <a:r>
              <a:rPr lang="de-DE" dirty="0" err="1"/>
              <a:t>Effective</a:t>
            </a:r>
            <a:r>
              <a:rPr lang="de-DE" dirty="0"/>
              <a:t> Time: Zeitfenster</a:t>
            </a:r>
          </a:p>
          <a:p>
            <a:r>
              <a:rPr lang="de-DE" b="1" dirty="0"/>
              <a:t>Ganz wichtiger Punkt (prüfungsrelevant)</a:t>
            </a:r>
          </a:p>
          <a:p>
            <a:endParaRPr lang="de-DE" b="1" dirty="0"/>
          </a:p>
          <a:p>
            <a:r>
              <a:rPr lang="de-DE" b="1" dirty="0"/>
              <a:t>ACLs greifen NICHT innerhalb desselben LANs</a:t>
            </a:r>
            <a:endParaRPr lang="de-DE" dirty="0"/>
          </a:p>
          <a:p>
            <a:r>
              <a:rPr lang="de-DE" dirty="0"/>
              <a:t>Geräte im gleichen VLAN kommunizieren auf Layer 2</a:t>
            </a:r>
          </a:p>
          <a:p>
            <a:r>
              <a:rPr lang="de-DE" dirty="0"/>
              <a:t>Für interne Trennung:</a:t>
            </a:r>
          </a:p>
          <a:p>
            <a:pPr lvl="1"/>
            <a:r>
              <a:rPr lang="de-DE" dirty="0"/>
              <a:t>VLANs</a:t>
            </a:r>
          </a:p>
          <a:p>
            <a:pPr lvl="1"/>
            <a:r>
              <a:rPr lang="de-DE" dirty="0"/>
              <a:t>zusätzliche Firewall-Regeln</a:t>
            </a:r>
          </a:p>
          <a:p>
            <a:pPr lvl="1"/>
            <a:r>
              <a:rPr lang="de-DE" dirty="0"/>
              <a:t>802.1X (auf Switches)</a:t>
            </a:r>
          </a:p>
          <a:p>
            <a:endParaRPr lang="de-DE" b="1" dirty="0"/>
          </a:p>
          <a:p>
            <a:r>
              <a:rPr lang="de-DE" b="1" dirty="0"/>
              <a:t>Sicherheitsnutzen</a:t>
            </a:r>
          </a:p>
          <a:p>
            <a:r>
              <a:rPr lang="de-DE" dirty="0"/>
              <a:t>Segmentierung von Netzwerken</a:t>
            </a:r>
          </a:p>
          <a:p>
            <a:r>
              <a:rPr lang="de-DE" dirty="0"/>
              <a:t>Schutz von Servern vor unautorisiertem Zugriff</a:t>
            </a:r>
          </a:p>
          <a:p>
            <a:r>
              <a:rPr lang="de-DE" dirty="0"/>
              <a:t>Einschränkung sensibler Dienste</a:t>
            </a:r>
          </a:p>
          <a:p>
            <a:r>
              <a:rPr lang="de-DE" dirty="0"/>
              <a:t>Zeitbasierte Zugriffskontrolle</a:t>
            </a:r>
          </a:p>
          <a:p>
            <a:endParaRPr lang="de-DE" b="1" dirty="0"/>
          </a:p>
          <a:p>
            <a:r>
              <a:rPr lang="de-DE" b="1" dirty="0"/>
              <a:t>Abgrenzung zu MAC </a:t>
            </a:r>
            <a:r>
              <a:rPr lang="de-DE" b="1" dirty="0" err="1"/>
              <a:t>Filtering</a:t>
            </a:r>
            <a:endParaRPr lang="de-DE" b="1" dirty="0"/>
          </a:p>
          <a:p>
            <a:r>
              <a:rPr lang="de-DE" dirty="0"/>
              <a:t>MAC </a:t>
            </a:r>
            <a:r>
              <a:rPr lang="de-DE" dirty="0" err="1"/>
              <a:t>Filtering</a:t>
            </a:r>
            <a:r>
              <a:rPr lang="de-DE" dirty="0"/>
              <a:t> = Geräteidentität</a:t>
            </a:r>
          </a:p>
          <a:p>
            <a:r>
              <a:rPr lang="de-DE" dirty="0"/>
              <a:t>ACL = </a:t>
            </a:r>
            <a:r>
              <a:rPr lang="de-DE" b="1" dirty="0"/>
              <a:t>Kommunikationsregeln</a:t>
            </a:r>
            <a:endParaRPr lang="de-DE" dirty="0"/>
          </a:p>
          <a:p>
            <a:r>
              <a:rPr lang="de-DE" dirty="0"/>
              <a:t>ACL ist deutlich flexibler und sicherer</a:t>
            </a:r>
          </a:p>
          <a:p>
            <a:endParaRPr lang="de-B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F44E46-57E5-4DEC-B808-EF31442F10EF}" type="slidenum">
              <a:rPr lang="de-BE" smtClean="0"/>
              <a:t>7</a:t>
            </a:fld>
            <a:endParaRPr lang="de-BE"/>
          </a:p>
        </p:txBody>
      </p:sp>
    </p:spTree>
    <p:extLst>
      <p:ext uri="{BB962C8B-B14F-4D97-AF65-F5344CB8AC3E}">
        <p14:creationId xmlns:p14="http://schemas.microsoft.com/office/powerpoint/2010/main" val="124785504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b="1" dirty="0"/>
              <a:t>Grundidee</a:t>
            </a:r>
          </a:p>
          <a:p>
            <a:endParaRPr lang="de-DE" dirty="0"/>
          </a:p>
          <a:p>
            <a:r>
              <a:rPr lang="de-DE" dirty="0" err="1"/>
              <a:t>Application</a:t>
            </a:r>
            <a:r>
              <a:rPr lang="de-DE" dirty="0"/>
              <a:t> Control erkennt </a:t>
            </a:r>
            <a:r>
              <a:rPr lang="de-DE" b="1" dirty="0"/>
              <a:t>Anwendungen statt Ports</a:t>
            </a:r>
            <a:endParaRPr lang="de-DE" dirty="0"/>
          </a:p>
          <a:p>
            <a:r>
              <a:rPr lang="de-DE" dirty="0"/>
              <a:t>Arbeitet auf </a:t>
            </a:r>
            <a:r>
              <a:rPr lang="de-DE" b="1" dirty="0"/>
              <a:t>Layer 7</a:t>
            </a:r>
            <a:endParaRPr lang="de-DE" dirty="0"/>
          </a:p>
          <a:p>
            <a:r>
              <a:rPr lang="de-DE" dirty="0"/>
              <a:t>Grundlage ist </a:t>
            </a:r>
            <a:r>
              <a:rPr lang="de-DE" b="1" dirty="0"/>
              <a:t>Deep Packet </a:t>
            </a:r>
            <a:r>
              <a:rPr lang="de-DE" b="1" dirty="0" err="1"/>
              <a:t>Inspection</a:t>
            </a:r>
            <a:r>
              <a:rPr lang="de-DE" b="1" dirty="0"/>
              <a:t> (DPI)</a:t>
            </a:r>
            <a:endParaRPr lang="de-DE" dirty="0"/>
          </a:p>
          <a:p>
            <a:endParaRPr lang="de-DE" b="1" dirty="0"/>
          </a:p>
          <a:p>
            <a:r>
              <a:rPr lang="de-DE" b="1" dirty="0"/>
              <a:t>Warum Portfilter nicht reicht</a:t>
            </a:r>
          </a:p>
          <a:p>
            <a:r>
              <a:rPr lang="de-DE" dirty="0"/>
              <a:t>Moderne Anwendungen:</a:t>
            </a:r>
          </a:p>
          <a:p>
            <a:pPr lvl="1"/>
            <a:r>
              <a:rPr lang="de-DE" dirty="0"/>
              <a:t>nutzen dynamische Ports</a:t>
            </a:r>
          </a:p>
          <a:p>
            <a:pPr lvl="1"/>
            <a:r>
              <a:rPr lang="de-DE" dirty="0"/>
              <a:t>tunneln Traffic</a:t>
            </a:r>
          </a:p>
          <a:p>
            <a:pPr lvl="1"/>
            <a:r>
              <a:rPr lang="de-DE" dirty="0"/>
              <a:t>verwenden HTTPS</a:t>
            </a:r>
          </a:p>
          <a:p>
            <a:r>
              <a:rPr lang="de-DE" dirty="0"/>
              <a:t>Port 443 ≠ automatisch „Webbrowser“</a:t>
            </a:r>
          </a:p>
          <a:p>
            <a:endParaRPr lang="de-DE" b="1" dirty="0"/>
          </a:p>
          <a:p>
            <a:r>
              <a:rPr lang="de-DE" b="1" dirty="0"/>
              <a:t>Was DPI genau macht</a:t>
            </a:r>
          </a:p>
          <a:p>
            <a:r>
              <a:rPr lang="de-DE" dirty="0"/>
              <a:t>Analysiert:</a:t>
            </a:r>
          </a:p>
          <a:p>
            <a:pPr lvl="1"/>
            <a:r>
              <a:rPr lang="de-DE" dirty="0"/>
              <a:t>Paketheader</a:t>
            </a:r>
          </a:p>
          <a:p>
            <a:pPr lvl="1"/>
            <a:r>
              <a:rPr lang="de-DE" dirty="0"/>
              <a:t>Payload (Inhalt)</a:t>
            </a:r>
          </a:p>
          <a:p>
            <a:r>
              <a:rPr lang="de-DE" dirty="0"/>
              <a:t>Erkennt:</a:t>
            </a:r>
          </a:p>
          <a:p>
            <a:pPr lvl="1"/>
            <a:r>
              <a:rPr lang="de-DE" dirty="0"/>
              <a:t>Protokolle</a:t>
            </a:r>
          </a:p>
          <a:p>
            <a:pPr lvl="1"/>
            <a:r>
              <a:rPr lang="de-DE" dirty="0"/>
              <a:t>Applikationen</a:t>
            </a:r>
          </a:p>
          <a:p>
            <a:pPr lvl="1"/>
            <a:r>
              <a:rPr lang="de-DE" dirty="0"/>
              <a:t>Nutzungsmuster</a:t>
            </a:r>
          </a:p>
          <a:p>
            <a:r>
              <a:rPr lang="de-DE" dirty="0"/>
              <a:t>Grundlage für:</a:t>
            </a:r>
          </a:p>
          <a:p>
            <a:pPr lvl="1"/>
            <a:r>
              <a:rPr lang="de-DE" dirty="0"/>
              <a:t>Blockieren</a:t>
            </a:r>
          </a:p>
          <a:p>
            <a:pPr lvl="1"/>
            <a:r>
              <a:rPr lang="de-DE" dirty="0"/>
              <a:t>Priorisieren</a:t>
            </a:r>
          </a:p>
          <a:p>
            <a:pPr lvl="1"/>
            <a:r>
              <a:rPr lang="de-DE" dirty="0"/>
              <a:t>Loggen</a:t>
            </a:r>
          </a:p>
          <a:p>
            <a:endParaRPr lang="de-DE" b="1" dirty="0"/>
          </a:p>
          <a:p>
            <a:r>
              <a:rPr lang="de-DE" b="1" dirty="0" err="1"/>
              <a:t>Application</a:t>
            </a:r>
            <a:r>
              <a:rPr lang="de-DE" b="1" dirty="0"/>
              <a:t> Filter</a:t>
            </a:r>
          </a:p>
          <a:p>
            <a:r>
              <a:rPr lang="de-DE" dirty="0"/>
              <a:t>Anwendungen können:</a:t>
            </a:r>
          </a:p>
          <a:p>
            <a:pPr lvl="1"/>
            <a:r>
              <a:rPr lang="de-DE" dirty="0"/>
              <a:t>erlaubt</a:t>
            </a:r>
          </a:p>
          <a:p>
            <a:pPr lvl="1"/>
            <a:r>
              <a:rPr lang="de-DE" dirty="0"/>
              <a:t>blockiert</a:t>
            </a:r>
          </a:p>
          <a:p>
            <a:pPr lvl="1"/>
            <a:r>
              <a:rPr lang="de-DE" dirty="0"/>
              <a:t>eingeschränkt werden</a:t>
            </a:r>
          </a:p>
          <a:p>
            <a:r>
              <a:rPr lang="de-DE" dirty="0"/>
              <a:t>Nach:</a:t>
            </a:r>
          </a:p>
          <a:p>
            <a:pPr lvl="1"/>
            <a:r>
              <a:rPr lang="de-DE" dirty="0"/>
              <a:t>Name</a:t>
            </a:r>
          </a:p>
          <a:p>
            <a:pPr lvl="1"/>
            <a:r>
              <a:rPr lang="de-DE" dirty="0"/>
              <a:t>Kategorie (</a:t>
            </a:r>
            <a:r>
              <a:rPr lang="de-DE" dirty="0" err="1"/>
              <a:t>Social</a:t>
            </a:r>
            <a:r>
              <a:rPr lang="de-DE" dirty="0"/>
              <a:t> Media, Gaming, Torrent)</a:t>
            </a:r>
          </a:p>
          <a:p>
            <a:r>
              <a:rPr lang="de-DE" dirty="0"/>
              <a:t>Unabhängig von IP oder Port</a:t>
            </a:r>
          </a:p>
          <a:p>
            <a:endParaRPr lang="de-DE" b="1" dirty="0"/>
          </a:p>
          <a:p>
            <a:r>
              <a:rPr lang="de-DE" b="1" dirty="0"/>
              <a:t>Sicherheitsnutzen</a:t>
            </a:r>
          </a:p>
          <a:p>
            <a:r>
              <a:rPr lang="de-DE" dirty="0"/>
              <a:t>Verhindert Schatten-IT</a:t>
            </a:r>
          </a:p>
          <a:p>
            <a:r>
              <a:rPr lang="de-DE" dirty="0"/>
              <a:t>Reduziert Angriffsfläche</a:t>
            </a:r>
          </a:p>
          <a:p>
            <a:r>
              <a:rPr lang="de-DE" dirty="0"/>
              <a:t>Schützt Bandbreite</a:t>
            </a:r>
          </a:p>
          <a:p>
            <a:r>
              <a:rPr lang="de-DE" dirty="0"/>
              <a:t>Unterstützt Compliance &amp; Produktivität</a:t>
            </a:r>
          </a:p>
          <a:p>
            <a:endParaRPr lang="de-DE" b="1" dirty="0"/>
          </a:p>
          <a:p>
            <a:r>
              <a:rPr lang="de-DE" b="1" dirty="0"/>
              <a:t>Performance-Aspekt</a:t>
            </a:r>
          </a:p>
          <a:p>
            <a:r>
              <a:rPr lang="de-DE" dirty="0"/>
              <a:t>DPI ist </a:t>
            </a:r>
            <a:r>
              <a:rPr lang="de-DE" b="1" dirty="0"/>
              <a:t>CPU-intensiv</a:t>
            </a:r>
            <a:endParaRPr lang="de-DE" dirty="0"/>
          </a:p>
          <a:p>
            <a:r>
              <a:rPr lang="de-DE" dirty="0"/>
              <a:t>Sollte gezielt eingesetzt werden:</a:t>
            </a:r>
          </a:p>
          <a:p>
            <a:pPr lvl="1"/>
            <a:r>
              <a:rPr lang="de-DE" dirty="0"/>
              <a:t>WAN</a:t>
            </a:r>
          </a:p>
          <a:p>
            <a:pPr lvl="1"/>
            <a:r>
              <a:rPr lang="de-DE" dirty="0"/>
              <a:t>kritische VLANs</a:t>
            </a:r>
          </a:p>
          <a:p>
            <a:r>
              <a:rPr lang="de-DE" dirty="0" err="1"/>
              <a:t>Logging</a:t>
            </a:r>
            <a:r>
              <a:rPr lang="de-DE" dirty="0"/>
              <a:t> hilft bei Analyse und Feintuning</a:t>
            </a:r>
          </a:p>
          <a:p>
            <a:endParaRPr lang="de-DE" dirty="0"/>
          </a:p>
          <a:p>
            <a:r>
              <a:rPr lang="de-DE" b="1" dirty="0"/>
              <a:t>Abgrenzung zu Web </a:t>
            </a:r>
            <a:r>
              <a:rPr lang="de-DE" b="1" dirty="0" err="1"/>
              <a:t>Filtering</a:t>
            </a:r>
            <a:endParaRPr lang="de-DE" b="1" dirty="0"/>
          </a:p>
          <a:p>
            <a:r>
              <a:rPr lang="de-DE" dirty="0" err="1"/>
              <a:t>Application</a:t>
            </a:r>
            <a:r>
              <a:rPr lang="de-DE" dirty="0"/>
              <a:t> Control = </a:t>
            </a:r>
            <a:r>
              <a:rPr lang="de-DE" b="1" dirty="0"/>
              <a:t>Anwendungen</a:t>
            </a:r>
            <a:endParaRPr lang="de-DE" dirty="0"/>
          </a:p>
          <a:p>
            <a:r>
              <a:rPr lang="de-DE" dirty="0"/>
              <a:t>Web </a:t>
            </a:r>
            <a:r>
              <a:rPr lang="de-DE" dirty="0" err="1"/>
              <a:t>Filtering</a:t>
            </a:r>
            <a:r>
              <a:rPr lang="de-DE" dirty="0"/>
              <a:t> = </a:t>
            </a:r>
            <a:r>
              <a:rPr lang="de-DE" b="1" dirty="0"/>
              <a:t>Webseiten / Kategorien / URLs</a:t>
            </a:r>
            <a:endParaRPr lang="de-DE" dirty="0"/>
          </a:p>
          <a:p>
            <a:r>
              <a:rPr lang="de-DE" dirty="0"/>
              <a:t>Beide ergänzen sich</a:t>
            </a:r>
          </a:p>
          <a:p>
            <a:endParaRPr lang="de-B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F44E46-57E5-4DEC-B808-EF31442F10EF}" type="slidenum">
              <a:rPr lang="de-BE" smtClean="0"/>
              <a:t>8</a:t>
            </a:fld>
            <a:endParaRPr lang="de-BE"/>
          </a:p>
        </p:txBody>
      </p:sp>
    </p:spTree>
    <p:extLst>
      <p:ext uri="{BB962C8B-B14F-4D97-AF65-F5344CB8AC3E}">
        <p14:creationId xmlns:p14="http://schemas.microsoft.com/office/powerpoint/2010/main" val="98193393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8B85DCD-1A4B-6D54-3006-CE4C61D6EFF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  <a:endParaRPr lang="de-BE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75A968E4-FB37-30CD-9B61-223BCB29C98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de-BE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CC6B7112-C50F-108F-345E-708D299B26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3CCDED-194C-4544-BE75-019E6FF802A0}" type="datetime1">
              <a:rPr lang="de-BE" smtClean="0"/>
              <a:t>19.12.2025</a:t>
            </a:fld>
            <a:endParaRPr lang="de-B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DE2D37BA-8E27-5F01-BC56-4CCA62DD84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B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AB82E253-63C7-37D9-D4E9-5B374E2BFD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FB693C-3D3E-4164-9FC0-E9F6868342D2}" type="slidenum">
              <a:rPr lang="de-BE" smtClean="0"/>
              <a:t>‹Nr.›</a:t>
            </a:fld>
            <a:endParaRPr lang="de-BE"/>
          </a:p>
        </p:txBody>
      </p:sp>
    </p:spTree>
    <p:extLst>
      <p:ext uri="{BB962C8B-B14F-4D97-AF65-F5344CB8AC3E}">
        <p14:creationId xmlns:p14="http://schemas.microsoft.com/office/powerpoint/2010/main" val="3123106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C857F98-FEF6-280C-DB14-EE71C7AA7B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BE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CDD74548-677A-6F8D-D4BA-E044F3AB3B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BE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04877881-F869-E435-0F90-EC36F2650F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7DA139-09B7-4212-858A-BAC5747A53E7}" type="datetime1">
              <a:rPr lang="de-BE" smtClean="0"/>
              <a:t>19.12.2025</a:t>
            </a:fld>
            <a:endParaRPr lang="de-B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03D69347-B27F-1DE9-6CFB-21DFEABD6F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B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1BAD4AC8-298E-09F5-BFE8-97F8E216C5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FB693C-3D3E-4164-9FC0-E9F6868342D2}" type="slidenum">
              <a:rPr lang="de-BE" smtClean="0"/>
              <a:t>‹Nr.›</a:t>
            </a:fld>
            <a:endParaRPr lang="de-BE"/>
          </a:p>
        </p:txBody>
      </p:sp>
    </p:spTree>
    <p:extLst>
      <p:ext uri="{BB962C8B-B14F-4D97-AF65-F5344CB8AC3E}">
        <p14:creationId xmlns:p14="http://schemas.microsoft.com/office/powerpoint/2010/main" val="993566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B086A34-3192-1380-C0B9-F15A6DE020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  <a:endParaRPr lang="de-BE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6EB2AE84-AD97-14EA-3465-1322F90E9A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0C3B8663-415D-36AD-8755-E2F8D1E01F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3D2061-33EE-4C32-8167-6F8CE2E3FE6F}" type="datetime1">
              <a:rPr lang="de-BE" smtClean="0"/>
              <a:t>19.12.2025</a:t>
            </a:fld>
            <a:endParaRPr lang="de-B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8F8A7259-6D01-E009-5610-03A3D3A449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B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5E4AFB5-7928-5E4A-FBEE-B7C60C0531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FB693C-3D3E-4164-9FC0-E9F6868342D2}" type="slidenum">
              <a:rPr lang="de-BE" smtClean="0"/>
              <a:t>‹Nr.›</a:t>
            </a:fld>
            <a:endParaRPr lang="de-BE"/>
          </a:p>
        </p:txBody>
      </p:sp>
    </p:spTree>
    <p:extLst>
      <p:ext uri="{BB962C8B-B14F-4D97-AF65-F5344CB8AC3E}">
        <p14:creationId xmlns:p14="http://schemas.microsoft.com/office/powerpoint/2010/main" val="12406377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834EA74-ABB4-C8A9-9DA5-70770D955C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BE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D905F5D6-4F48-B5C3-FA01-03DBEDD7780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BE"/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0DAC32C5-74DB-CF9C-994C-5A26D026D7B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BE"/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34F47D11-FED1-E98E-9A88-B292077646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D64151-3BC8-49F8-ABEA-EC44E8854F3C}" type="datetime1">
              <a:rPr lang="de-BE" smtClean="0"/>
              <a:t>19.12.2025</a:t>
            </a:fld>
            <a:endParaRPr lang="de-B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F42533B1-8926-9971-4A3E-1C71AB2666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B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1EDC49DC-79AC-E053-716F-A2EC3ED12D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FB693C-3D3E-4164-9FC0-E9F6868342D2}" type="slidenum">
              <a:rPr lang="de-BE" smtClean="0"/>
              <a:t>‹Nr.›</a:t>
            </a:fld>
            <a:endParaRPr lang="de-BE"/>
          </a:p>
        </p:txBody>
      </p:sp>
    </p:spTree>
    <p:extLst>
      <p:ext uri="{BB962C8B-B14F-4D97-AF65-F5344CB8AC3E}">
        <p14:creationId xmlns:p14="http://schemas.microsoft.com/office/powerpoint/2010/main" val="7974085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1D1FB9F-441D-292E-44D5-BEBA42E019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de-BE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F395F800-61E0-F28F-940E-2D7CB8854D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07B17BBB-A057-7C13-B2FD-BE3FDB28869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BE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A5404FA3-F87D-11EB-1D5A-339CF99BD3D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53B40D72-62CA-4454-3569-A8B4CB75608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BE"/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8C09D450-CB4B-C15B-2EDE-592682E7E4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44074B-A28B-4E50-A374-A7AFE4F5000A}" type="datetime1">
              <a:rPr lang="de-BE" smtClean="0"/>
              <a:t>19.12.2025</a:t>
            </a:fld>
            <a:endParaRPr lang="de-B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6E49426A-E1F6-EFDE-E252-888E68576D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B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4F0406EB-D41C-A050-FDCA-68D9F52A81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FB693C-3D3E-4164-9FC0-E9F6868342D2}" type="slidenum">
              <a:rPr lang="de-BE" smtClean="0"/>
              <a:t>‹Nr.›</a:t>
            </a:fld>
            <a:endParaRPr lang="de-BE"/>
          </a:p>
        </p:txBody>
      </p:sp>
    </p:spTree>
    <p:extLst>
      <p:ext uri="{BB962C8B-B14F-4D97-AF65-F5344CB8AC3E}">
        <p14:creationId xmlns:p14="http://schemas.microsoft.com/office/powerpoint/2010/main" val="31882655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D21A25F-9720-FBEF-F9EA-C2B4F0A655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BE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5ADC17F5-8AD4-A332-E587-410DE369B4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D4DBE6-7E40-4AE8-9AD3-AC72BA5DF8A0}" type="datetime1">
              <a:rPr lang="de-BE" smtClean="0"/>
              <a:t>19.12.2025</a:t>
            </a:fld>
            <a:endParaRPr lang="de-B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412C4A75-FE51-D774-6447-650975099D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B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2064E8DE-DD13-A5FA-9A06-F7422FA870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FB693C-3D3E-4164-9FC0-E9F6868342D2}" type="slidenum">
              <a:rPr lang="de-BE" smtClean="0"/>
              <a:t>‹Nr.›</a:t>
            </a:fld>
            <a:endParaRPr lang="de-BE"/>
          </a:p>
        </p:txBody>
      </p:sp>
    </p:spTree>
    <p:extLst>
      <p:ext uri="{BB962C8B-B14F-4D97-AF65-F5344CB8AC3E}">
        <p14:creationId xmlns:p14="http://schemas.microsoft.com/office/powerpoint/2010/main" val="27631706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9C2CD390-A780-03F1-8B77-FA5F207C34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46149-FE26-4D6B-B47F-40DD5ADEA07F}" type="datetime1">
              <a:rPr lang="de-BE" smtClean="0"/>
              <a:t>19.12.2025</a:t>
            </a:fld>
            <a:endParaRPr lang="de-B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0887FEA6-80A3-3759-3703-71A0DEE525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B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03497F8F-5D98-F8FE-22A3-4EAAB69F96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FB693C-3D3E-4164-9FC0-E9F6868342D2}" type="slidenum">
              <a:rPr lang="de-BE" smtClean="0"/>
              <a:t>‹Nr.›</a:t>
            </a:fld>
            <a:endParaRPr lang="de-BE"/>
          </a:p>
        </p:txBody>
      </p:sp>
    </p:spTree>
    <p:extLst>
      <p:ext uri="{BB962C8B-B14F-4D97-AF65-F5344CB8AC3E}">
        <p14:creationId xmlns:p14="http://schemas.microsoft.com/office/powerpoint/2010/main" val="24688909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12C7FAB-5C98-F25D-E76D-8D6E6EC353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de-BE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CF4F48D3-1FF0-AA41-F34E-8EF6CC91D1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B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170977CA-D58F-1BD5-5721-06DB1A56EDB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CC9726B5-5B15-5C32-AAE6-A9F4526288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06BA11-EB99-404C-9494-B4498069930A}" type="datetime1">
              <a:rPr lang="de-BE" smtClean="0"/>
              <a:t>19.12.2025</a:t>
            </a:fld>
            <a:endParaRPr lang="de-B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F64C8CC5-5BD7-FE39-DA8E-75B88948C9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B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39B860F4-C4A4-CBD1-1254-554A4F4A05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FB693C-3D3E-4164-9FC0-E9F6868342D2}" type="slidenum">
              <a:rPr lang="de-BE" smtClean="0"/>
              <a:t>‹Nr.›</a:t>
            </a:fld>
            <a:endParaRPr lang="de-BE"/>
          </a:p>
        </p:txBody>
      </p:sp>
    </p:spTree>
    <p:extLst>
      <p:ext uri="{BB962C8B-B14F-4D97-AF65-F5344CB8AC3E}">
        <p14:creationId xmlns:p14="http://schemas.microsoft.com/office/powerpoint/2010/main" val="29091614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E70140F-A645-E95F-0690-C37C75AC91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de-BE"/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27DDBC88-35F3-BAF1-AE80-68657FAB64D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B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58253C07-9E12-B2C7-FF18-86D78C9040A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5D676D7A-3800-71E4-DB35-9D7090FDD7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B9A8F2-31EA-43AC-ACD3-75F3895ABC56}" type="datetime1">
              <a:rPr lang="de-BE" smtClean="0"/>
              <a:t>19.12.2025</a:t>
            </a:fld>
            <a:endParaRPr lang="de-B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96793F0A-1F35-A7B3-43A1-78B7EECEAB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B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B184A696-42EA-46AE-E487-9508040351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FB693C-3D3E-4164-9FC0-E9F6868342D2}" type="slidenum">
              <a:rPr lang="de-BE" smtClean="0"/>
              <a:t>‹Nr.›</a:t>
            </a:fld>
            <a:endParaRPr lang="de-BE"/>
          </a:p>
        </p:txBody>
      </p:sp>
    </p:spTree>
    <p:extLst>
      <p:ext uri="{BB962C8B-B14F-4D97-AF65-F5344CB8AC3E}">
        <p14:creationId xmlns:p14="http://schemas.microsoft.com/office/powerpoint/2010/main" val="12333307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00D97AD-B69F-1F78-1CDE-0B06FA87FF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BE"/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DDB94CDF-89F2-4487-239E-3C649EECE28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BE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84324AF8-911C-1E4C-4D3E-8BA6BF9E35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0D9AB5-562B-4683-B612-5EB5223BBFC2}" type="datetime1">
              <a:rPr lang="de-BE" smtClean="0"/>
              <a:t>19.12.2025</a:t>
            </a:fld>
            <a:endParaRPr lang="de-B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53DAC5D0-2994-89F7-4414-C1E8B1C970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B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8C24D615-43CE-FDE6-1FFE-9B9834C777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FB693C-3D3E-4164-9FC0-E9F6868342D2}" type="slidenum">
              <a:rPr lang="de-BE" smtClean="0"/>
              <a:t>‹Nr.›</a:t>
            </a:fld>
            <a:endParaRPr lang="de-BE"/>
          </a:p>
        </p:txBody>
      </p:sp>
    </p:spTree>
    <p:extLst>
      <p:ext uri="{BB962C8B-B14F-4D97-AF65-F5344CB8AC3E}">
        <p14:creationId xmlns:p14="http://schemas.microsoft.com/office/powerpoint/2010/main" val="41531940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64395855-CD3B-EA02-4B9B-92DA51FD716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  <a:endParaRPr lang="de-BE"/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D7E3E8B3-280B-78F5-ACF6-61DF0F833D1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BE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00BB0A5-E4A7-85B2-5F96-B0CC5B2C9E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89AFA0-F9F5-428C-B0C3-EF0B656890B0}" type="datetime1">
              <a:rPr lang="de-BE" smtClean="0"/>
              <a:t>19.12.2025</a:t>
            </a:fld>
            <a:endParaRPr lang="de-B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C3B2753C-26E4-78C4-D4BE-E901611777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B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DD59C98-19F9-891A-21F9-4C29FE0B1A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FB693C-3D3E-4164-9FC0-E9F6868342D2}" type="slidenum">
              <a:rPr lang="de-BE" smtClean="0"/>
              <a:t>‹Nr.›</a:t>
            </a:fld>
            <a:endParaRPr lang="de-BE"/>
          </a:p>
        </p:txBody>
      </p:sp>
    </p:spTree>
    <p:extLst>
      <p:ext uri="{BB962C8B-B14F-4D97-AF65-F5344CB8AC3E}">
        <p14:creationId xmlns:p14="http://schemas.microsoft.com/office/powerpoint/2010/main" val="10519846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0F64D43A-C5DF-84F6-8148-30F7428A39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  <a:endParaRPr lang="de-BE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B92BA1C8-2ED4-66FF-B1D4-4894D390C6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BE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94186F14-568E-EAD1-EE5E-8F2FA3DB7BE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3CB038C-A817-45E9-ADD3-1570978984A5}" type="datetime1">
              <a:rPr lang="de-BE" smtClean="0"/>
              <a:t>19.12.2025</a:t>
            </a:fld>
            <a:endParaRPr lang="de-B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F44AA29C-5364-F3D2-F196-CEE13E37B3A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B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70EAE38-EC3B-5A69-D439-17ED0A92918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8FB693C-3D3E-4164-9FC0-E9F6868342D2}" type="slidenum">
              <a:rPr lang="de-BE" smtClean="0"/>
              <a:t>‹Nr.›</a:t>
            </a:fld>
            <a:endParaRPr lang="de-BE"/>
          </a:p>
        </p:txBody>
      </p:sp>
    </p:spTree>
    <p:extLst>
      <p:ext uri="{BB962C8B-B14F-4D97-AF65-F5344CB8AC3E}">
        <p14:creationId xmlns:p14="http://schemas.microsoft.com/office/powerpoint/2010/main" val="38115578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B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hyperlink" Target="https://de.wikipedia.org/wiki/WinNuke" TargetMode="External"/><Relationship Id="rId3" Type="http://schemas.openxmlformats.org/officeDocument/2006/relationships/hyperlink" Target="https://emulator.tp-link.com/706W_1.20-emulator/index.html" TargetMode="External"/><Relationship Id="rId7" Type="http://schemas.openxmlformats.org/officeDocument/2006/relationships/hyperlink" Target="https://www.kentik.com/kentipedia/network-anomaly-detection/" TargetMode="External"/><Relationship Id="rId12" Type="http://schemas.openxmlformats.org/officeDocument/2006/relationships/hyperlink" Target="https://support.omadanetworks.com/nl-be/product/er706w-4g/" TargetMode="External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nmap.org/book/scan-methods-null-fin-xmas-scan.html" TargetMode="External"/><Relationship Id="rId11" Type="http://schemas.openxmlformats.org/officeDocument/2006/relationships/hyperlink" Target="https://www.okta.com/de-de/identity-101/ids-vs-ips/" TargetMode="External"/><Relationship Id="rId5" Type="http://schemas.openxmlformats.org/officeDocument/2006/relationships/hyperlink" Target="https://de.wikipedia.org/wiki/ARP-Spoofing" TargetMode="External"/><Relationship Id="rId10" Type="http://schemas.openxmlformats.org/officeDocument/2006/relationships/hyperlink" Target="https://www.fortinet.com/resources/cyberglossary/access-control" TargetMode="External"/><Relationship Id="rId4" Type="http://schemas.openxmlformats.org/officeDocument/2006/relationships/hyperlink" Target="https://chatgpt.com/" TargetMode="External"/><Relationship Id="rId9" Type="http://schemas.openxmlformats.org/officeDocument/2006/relationships/hyperlink" Target="https://www.fortinet.com/resources/cyberglossary/network-access-control-list" TargetMode="Externa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1" name="Rectangle 1030">
            <a:extLst>
              <a:ext uri="{FF2B5EF4-FFF2-40B4-BE49-F238E27FC236}">
                <a16:creationId xmlns:a16="http://schemas.microsoft.com/office/drawing/2014/main" id="{22A397E7-BF60-45B2-84C7-B074B76C37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026" name="Picture 2" descr="What Is a Firewall? Its Role in Network Security | CyberDB">
            <a:extLst>
              <a:ext uri="{FF2B5EF4-FFF2-40B4-BE49-F238E27FC236}">
                <a16:creationId xmlns:a16="http://schemas.microsoft.com/office/drawing/2014/main" id="{6D034E24-FBD9-2CD0-36D7-42783389C1D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594" r="13543"/>
          <a:stretch>
            <a:fillRect/>
          </a:stretch>
        </p:blipFill>
        <p:spPr bwMode="auto">
          <a:xfrm>
            <a:off x="4283902" y="10"/>
            <a:ext cx="7908098" cy="68579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33" name="Rectangle 1032">
            <a:extLst>
              <a:ext uri="{FF2B5EF4-FFF2-40B4-BE49-F238E27FC236}">
                <a16:creationId xmlns:a16="http://schemas.microsoft.com/office/drawing/2014/main" id="{890DEF05-784E-4B61-89E4-04C4ECF4E5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36000">
                <a:schemeClr val="tx1">
                  <a:lumMod val="95000"/>
                  <a:lumOff val="5000"/>
                </a:schemeClr>
              </a:gs>
              <a:gs pos="81000">
                <a:schemeClr val="tx1">
                  <a:lumMod val="95000"/>
                  <a:lumOff val="5000"/>
                  <a:alpha val="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2A1EEEE8-A371-C2E3-F351-5D201AD7810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28663" y="1115219"/>
            <a:ext cx="5505449" cy="2387600"/>
          </a:xfrm>
        </p:spPr>
        <p:txBody>
          <a:bodyPr>
            <a:normAutofit fontScale="90000"/>
          </a:bodyPr>
          <a:lstStyle/>
          <a:p>
            <a:pPr algn="l"/>
            <a:r>
              <a:rPr lang="de-DE" dirty="0">
                <a:solidFill>
                  <a:schemeClr val="bg1"/>
                </a:solidFill>
              </a:rPr>
              <a:t>TP-Link ER706W</a:t>
            </a:r>
            <a:br>
              <a:rPr lang="de-DE" dirty="0">
                <a:solidFill>
                  <a:schemeClr val="bg1"/>
                </a:solidFill>
              </a:rPr>
            </a:br>
            <a:r>
              <a:rPr lang="de-DE" dirty="0">
                <a:solidFill>
                  <a:schemeClr val="bg1"/>
                </a:solidFill>
              </a:rPr>
              <a:t>Firewall &amp; </a:t>
            </a:r>
            <a:r>
              <a:rPr lang="de-DE" dirty="0" err="1">
                <a:solidFill>
                  <a:schemeClr val="bg1"/>
                </a:solidFill>
              </a:rPr>
              <a:t>Behaviour</a:t>
            </a:r>
            <a:r>
              <a:rPr lang="de-DE" dirty="0">
                <a:solidFill>
                  <a:schemeClr val="bg1"/>
                </a:solidFill>
              </a:rPr>
              <a:t> Control</a:t>
            </a:r>
            <a:endParaRPr lang="de-BE" sz="5000" dirty="0">
              <a:solidFill>
                <a:schemeClr val="bg1"/>
              </a:solidFill>
            </a:endParaRP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9D75A363-B97B-3782-95A3-CE258D2400B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28663" y="3902075"/>
            <a:ext cx="5505449" cy="1655762"/>
          </a:xfrm>
        </p:spPr>
        <p:txBody>
          <a:bodyPr>
            <a:normAutofit fontScale="92500" lnSpcReduction="20000"/>
          </a:bodyPr>
          <a:lstStyle/>
          <a:p>
            <a:pPr algn="l"/>
            <a:r>
              <a:rPr lang="de-DE" sz="2000" dirty="0">
                <a:solidFill>
                  <a:schemeClr val="bg1"/>
                </a:solidFill>
              </a:rPr>
              <a:t>Eine Präsentation von</a:t>
            </a:r>
          </a:p>
          <a:p>
            <a:pPr algn="l"/>
            <a:endParaRPr lang="de-DE" sz="2000" dirty="0">
              <a:solidFill>
                <a:schemeClr val="bg1"/>
              </a:solidFill>
            </a:endParaRPr>
          </a:p>
          <a:p>
            <a:pPr algn="l"/>
            <a:r>
              <a:rPr lang="de-DE" sz="2000" dirty="0">
                <a:solidFill>
                  <a:schemeClr val="bg1"/>
                </a:solidFill>
              </a:rPr>
              <a:t>Eric Bayer</a:t>
            </a:r>
          </a:p>
          <a:p>
            <a:pPr algn="l"/>
            <a:r>
              <a:rPr lang="de-DE" sz="2000" dirty="0">
                <a:solidFill>
                  <a:schemeClr val="bg1"/>
                </a:solidFill>
              </a:rPr>
              <a:t>Niklas Quandel</a:t>
            </a:r>
          </a:p>
          <a:p>
            <a:pPr algn="l"/>
            <a:r>
              <a:rPr lang="de-DE" sz="2000" dirty="0">
                <a:solidFill>
                  <a:schemeClr val="bg1"/>
                </a:solidFill>
              </a:rPr>
              <a:t>Leander Tholen</a:t>
            </a:r>
            <a:endParaRPr lang="de-BE" sz="2000" dirty="0">
              <a:solidFill>
                <a:schemeClr val="bg1"/>
              </a:solidFill>
            </a:endParaRPr>
          </a:p>
        </p:txBody>
      </p:sp>
      <p:cxnSp>
        <p:nvCxnSpPr>
          <p:cNvPr id="1035" name="Straight Connector 1034">
            <a:extLst>
              <a:ext uri="{FF2B5EF4-FFF2-40B4-BE49-F238E27FC236}">
                <a16:creationId xmlns:a16="http://schemas.microsoft.com/office/drawing/2014/main" id="{C41BAEC7-F7B0-4224-8B18-8F74B7D87F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128585" y="3681408"/>
            <a:ext cx="11934820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5E76452F-AB80-646D-007C-D07A1800B0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FB693C-3D3E-4164-9FC0-E9F6868342D2}" type="slidenum">
              <a:rPr lang="de-BE" smtClean="0"/>
              <a:t>1</a:t>
            </a:fld>
            <a:endParaRPr lang="de-BE"/>
          </a:p>
        </p:txBody>
      </p:sp>
    </p:spTree>
    <p:extLst>
      <p:ext uri="{BB962C8B-B14F-4D97-AF65-F5344CB8AC3E}">
        <p14:creationId xmlns:p14="http://schemas.microsoft.com/office/powerpoint/2010/main" val="30021529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0" name="Rectangle 2059">
            <a:extLst>
              <a:ext uri="{FF2B5EF4-FFF2-40B4-BE49-F238E27FC236}">
                <a16:creationId xmlns:a16="http://schemas.microsoft.com/office/drawing/2014/main" id="{9228552E-C8B1-4A80-8448-0787CE0FC7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050" name="Picture 2" descr="Network Firewall Security: How You Can Make Full Use Of It">
            <a:extLst>
              <a:ext uri="{FF2B5EF4-FFF2-40B4-BE49-F238E27FC236}">
                <a16:creationId xmlns:a16="http://schemas.microsoft.com/office/drawing/2014/main" id="{E0514E7F-D72C-47AE-2A9E-9756A4286B8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730"/>
          <a:stretch>
            <a:fillRect/>
          </a:stretch>
        </p:blipFill>
        <p:spPr bwMode="auto">
          <a:xfrm>
            <a:off x="20" y="10"/>
            <a:ext cx="12191980" cy="685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AABFEE5A-5B03-36B6-C303-0548C214E5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de-DE" dirty="0">
                <a:solidFill>
                  <a:srgbClr val="FFFFFF"/>
                </a:solidFill>
              </a:rPr>
              <a:t>Inhaltsverzeichnis</a:t>
            </a:r>
            <a:endParaRPr lang="de-BE" dirty="0">
              <a:solidFill>
                <a:srgbClr val="FFFFFF"/>
              </a:solidFill>
            </a:endParaRP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29F41CD0-2C80-6F56-A3A0-FACE32F5CF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de-DE" dirty="0">
                <a:solidFill>
                  <a:srgbClr val="FFFFFF"/>
                </a:solidFill>
              </a:rPr>
              <a:t>	FIREWALL				BEHAVIOUR CONTROL</a:t>
            </a:r>
          </a:p>
          <a:p>
            <a:pPr marL="0" indent="0">
              <a:buNone/>
            </a:pPr>
            <a:endParaRPr lang="de-DE" dirty="0">
              <a:solidFill>
                <a:srgbClr val="FFFFFF"/>
              </a:solidFill>
            </a:endParaRPr>
          </a:p>
          <a:p>
            <a:pPr marL="0" indent="0">
              <a:buNone/>
            </a:pPr>
            <a:r>
              <a:rPr lang="de-DE" dirty="0">
                <a:solidFill>
                  <a:srgbClr val="FFFFFF"/>
                </a:solidFill>
              </a:rPr>
              <a:t>	- Anti ARP Spoofing		- Web </a:t>
            </a:r>
            <a:r>
              <a:rPr lang="de-DE" dirty="0" err="1">
                <a:solidFill>
                  <a:srgbClr val="FFFFFF"/>
                </a:solidFill>
              </a:rPr>
              <a:t>Filtering</a:t>
            </a:r>
            <a:endParaRPr lang="de-DE" dirty="0">
              <a:solidFill>
                <a:srgbClr val="FFFFFF"/>
              </a:solidFill>
            </a:endParaRPr>
          </a:p>
          <a:p>
            <a:pPr marL="0" indent="0">
              <a:buNone/>
            </a:pPr>
            <a:r>
              <a:rPr lang="de-DE" dirty="0">
                <a:solidFill>
                  <a:srgbClr val="FFFFFF"/>
                </a:solidFill>
              </a:rPr>
              <a:t>	- </a:t>
            </a:r>
            <a:r>
              <a:rPr lang="de-DE" dirty="0" err="1">
                <a:solidFill>
                  <a:srgbClr val="FFFFFF"/>
                </a:solidFill>
              </a:rPr>
              <a:t>Attack</a:t>
            </a:r>
            <a:r>
              <a:rPr lang="de-DE" dirty="0">
                <a:solidFill>
                  <a:srgbClr val="FFFFFF"/>
                </a:solidFill>
              </a:rPr>
              <a:t> Defense			- Web Security</a:t>
            </a:r>
          </a:p>
          <a:p>
            <a:pPr marL="0" indent="0">
              <a:buNone/>
            </a:pPr>
            <a:r>
              <a:rPr lang="de-DE" dirty="0">
                <a:solidFill>
                  <a:srgbClr val="FFFFFF"/>
                </a:solidFill>
              </a:rPr>
              <a:t>	- MAC </a:t>
            </a:r>
            <a:r>
              <a:rPr lang="de-DE" dirty="0" err="1">
                <a:solidFill>
                  <a:srgbClr val="FFFFFF"/>
                </a:solidFill>
              </a:rPr>
              <a:t>Filtering</a:t>
            </a:r>
            <a:endParaRPr lang="de-DE" dirty="0">
              <a:solidFill>
                <a:srgbClr val="FFFFFF"/>
              </a:solidFill>
            </a:endParaRPr>
          </a:p>
          <a:p>
            <a:pPr marL="0" indent="0">
              <a:buNone/>
            </a:pPr>
            <a:r>
              <a:rPr lang="de-DE" dirty="0">
                <a:solidFill>
                  <a:srgbClr val="FFFFFF"/>
                </a:solidFill>
              </a:rPr>
              <a:t>	- Access Control</a:t>
            </a:r>
          </a:p>
          <a:p>
            <a:pPr marL="0" indent="0">
              <a:buNone/>
            </a:pPr>
            <a:r>
              <a:rPr lang="de-DE" dirty="0">
                <a:solidFill>
                  <a:srgbClr val="FFFFFF"/>
                </a:solidFill>
              </a:rPr>
              <a:t>	- </a:t>
            </a:r>
            <a:r>
              <a:rPr lang="de-DE" dirty="0" err="1">
                <a:solidFill>
                  <a:srgbClr val="FFFFFF"/>
                </a:solidFill>
              </a:rPr>
              <a:t>Application</a:t>
            </a:r>
            <a:r>
              <a:rPr lang="de-DE" dirty="0">
                <a:solidFill>
                  <a:srgbClr val="FFFFFF"/>
                </a:solidFill>
              </a:rPr>
              <a:t> Control</a:t>
            </a:r>
          </a:p>
          <a:p>
            <a:pPr marL="0" indent="0">
              <a:buNone/>
            </a:pPr>
            <a:r>
              <a:rPr lang="de-DE" dirty="0">
                <a:solidFill>
                  <a:srgbClr val="FFFFFF"/>
                </a:solidFill>
              </a:rPr>
              <a:t>	- IPS / IDS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74D5C65C-07BE-095D-5DDA-72977C701C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FB693C-3D3E-4164-9FC0-E9F6868342D2}" type="slidenum">
              <a:rPr lang="de-BE" smtClean="0"/>
              <a:t>2</a:t>
            </a:fld>
            <a:endParaRPr lang="de-BE"/>
          </a:p>
        </p:txBody>
      </p:sp>
    </p:spTree>
    <p:extLst>
      <p:ext uri="{BB962C8B-B14F-4D97-AF65-F5344CB8AC3E}">
        <p14:creationId xmlns:p14="http://schemas.microsoft.com/office/powerpoint/2010/main" val="329696100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9" name="Rectangle 3080">
            <a:extLst>
              <a:ext uri="{FF2B5EF4-FFF2-40B4-BE49-F238E27FC236}">
                <a16:creationId xmlns:a16="http://schemas.microsoft.com/office/drawing/2014/main" id="{1A9F7B4E-B03D-4F64-BE33-00D074458D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076" name="Picture 4" descr="Rethinking Firewall and Proxy Management for Enterprise Agility">
            <a:extLst>
              <a:ext uri="{FF2B5EF4-FFF2-40B4-BE49-F238E27FC236}">
                <a16:creationId xmlns:a16="http://schemas.microsoft.com/office/drawing/2014/main" id="{55B0E1BD-05EF-A53E-2A69-262E34B615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alphaModFix amt="4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" y="10"/>
            <a:ext cx="12191979" cy="685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D6C13991-49DA-30EA-8E6A-F0EE261F69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de-DE" sz="5400" dirty="0">
                <a:solidFill>
                  <a:schemeClr val="bg1"/>
                </a:solidFill>
              </a:rPr>
              <a:t>Anti ARP Spoofing</a:t>
            </a:r>
            <a:endParaRPr lang="de-BE" sz="5400" dirty="0">
              <a:solidFill>
                <a:schemeClr val="bg1"/>
              </a:solidFill>
            </a:endParaRPr>
          </a:p>
        </p:txBody>
      </p:sp>
      <p:sp>
        <p:nvSpPr>
          <p:cNvPr id="3090" name="sketchy line">
            <a:extLst>
              <a:ext uri="{FF2B5EF4-FFF2-40B4-BE49-F238E27FC236}">
                <a16:creationId xmlns:a16="http://schemas.microsoft.com/office/drawing/2014/main" id="{7E2BE7F7-CA89-4002-ACCE-A478AEA24F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14399" y="1681544"/>
            <a:ext cx="9692640" cy="18288"/>
          </a:xfrm>
          <a:custGeom>
            <a:avLst/>
            <a:gdLst>
              <a:gd name="csX0" fmla="*/ 0 w 9692640"/>
              <a:gd name="csY0" fmla="*/ 0 h 18288"/>
              <a:gd name="csX1" fmla="*/ 401552 w 9692640"/>
              <a:gd name="csY1" fmla="*/ 0 h 18288"/>
              <a:gd name="csX2" fmla="*/ 996957 w 9692640"/>
              <a:gd name="csY2" fmla="*/ 0 h 18288"/>
              <a:gd name="csX3" fmla="*/ 1398509 w 9692640"/>
              <a:gd name="csY3" fmla="*/ 0 h 18288"/>
              <a:gd name="csX4" fmla="*/ 2090841 w 9692640"/>
              <a:gd name="csY4" fmla="*/ 0 h 18288"/>
              <a:gd name="csX5" fmla="*/ 2686246 w 9692640"/>
              <a:gd name="csY5" fmla="*/ 0 h 18288"/>
              <a:gd name="csX6" fmla="*/ 3475504 w 9692640"/>
              <a:gd name="csY6" fmla="*/ 0 h 18288"/>
              <a:gd name="csX7" fmla="*/ 4361688 w 9692640"/>
              <a:gd name="csY7" fmla="*/ 0 h 18288"/>
              <a:gd name="csX8" fmla="*/ 5054019 w 9692640"/>
              <a:gd name="csY8" fmla="*/ 0 h 18288"/>
              <a:gd name="csX9" fmla="*/ 5940204 w 9692640"/>
              <a:gd name="csY9" fmla="*/ 0 h 18288"/>
              <a:gd name="csX10" fmla="*/ 6632535 w 9692640"/>
              <a:gd name="csY10" fmla="*/ 0 h 18288"/>
              <a:gd name="csX11" fmla="*/ 7034087 w 9692640"/>
              <a:gd name="csY11" fmla="*/ 0 h 18288"/>
              <a:gd name="csX12" fmla="*/ 7532566 w 9692640"/>
              <a:gd name="csY12" fmla="*/ 0 h 18288"/>
              <a:gd name="csX13" fmla="*/ 8418750 w 9692640"/>
              <a:gd name="csY13" fmla="*/ 0 h 18288"/>
              <a:gd name="csX14" fmla="*/ 9692640 w 9692640"/>
              <a:gd name="csY14" fmla="*/ 0 h 18288"/>
              <a:gd name="csX15" fmla="*/ 9692640 w 9692640"/>
              <a:gd name="csY15" fmla="*/ 18288 h 18288"/>
              <a:gd name="csX16" fmla="*/ 9000309 w 9692640"/>
              <a:gd name="csY16" fmla="*/ 18288 h 18288"/>
              <a:gd name="csX17" fmla="*/ 8307977 w 9692640"/>
              <a:gd name="csY17" fmla="*/ 18288 h 18288"/>
              <a:gd name="csX18" fmla="*/ 7712572 w 9692640"/>
              <a:gd name="csY18" fmla="*/ 18288 h 18288"/>
              <a:gd name="csX19" fmla="*/ 7214093 w 9692640"/>
              <a:gd name="csY19" fmla="*/ 18288 h 18288"/>
              <a:gd name="csX20" fmla="*/ 6327909 w 9692640"/>
              <a:gd name="csY20" fmla="*/ 18288 h 18288"/>
              <a:gd name="csX21" fmla="*/ 5635578 w 9692640"/>
              <a:gd name="csY21" fmla="*/ 18288 h 18288"/>
              <a:gd name="csX22" fmla="*/ 4846320 w 9692640"/>
              <a:gd name="csY22" fmla="*/ 18288 h 18288"/>
              <a:gd name="csX23" fmla="*/ 4444768 w 9692640"/>
              <a:gd name="csY23" fmla="*/ 18288 h 18288"/>
              <a:gd name="csX24" fmla="*/ 3946289 w 9692640"/>
              <a:gd name="csY24" fmla="*/ 18288 h 18288"/>
              <a:gd name="csX25" fmla="*/ 3253958 w 9692640"/>
              <a:gd name="csY25" fmla="*/ 18288 h 18288"/>
              <a:gd name="csX26" fmla="*/ 2464700 w 9692640"/>
              <a:gd name="csY26" fmla="*/ 18288 h 18288"/>
              <a:gd name="csX27" fmla="*/ 2063148 w 9692640"/>
              <a:gd name="csY27" fmla="*/ 18288 h 18288"/>
              <a:gd name="csX28" fmla="*/ 1661595 w 9692640"/>
              <a:gd name="csY28" fmla="*/ 18288 h 18288"/>
              <a:gd name="csX29" fmla="*/ 969264 w 9692640"/>
              <a:gd name="csY29" fmla="*/ 18288 h 18288"/>
              <a:gd name="csX30" fmla="*/ 0 w 9692640"/>
              <a:gd name="csY30" fmla="*/ 18288 h 18288"/>
              <a:gd name="csX31" fmla="*/ 0 w 9692640"/>
              <a:gd name="csY3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</a:cxnLst>
            <a:rect l="l" t="t" r="r" b="b"/>
            <a:pathLst>
              <a:path w="9692640" h="18288" fill="none" extrusionOk="0">
                <a:moveTo>
                  <a:pt x="0" y="0"/>
                </a:moveTo>
                <a:cubicBezTo>
                  <a:pt x="142992" y="4732"/>
                  <a:pt x="265909" y="-3365"/>
                  <a:pt x="401552" y="0"/>
                </a:cubicBezTo>
                <a:cubicBezTo>
                  <a:pt x="537195" y="3365"/>
                  <a:pt x="738153" y="6482"/>
                  <a:pt x="996957" y="0"/>
                </a:cubicBezTo>
                <a:cubicBezTo>
                  <a:pt x="1255762" y="-6482"/>
                  <a:pt x="1280511" y="12509"/>
                  <a:pt x="1398509" y="0"/>
                </a:cubicBezTo>
                <a:cubicBezTo>
                  <a:pt x="1516507" y="-12509"/>
                  <a:pt x="1782573" y="-31523"/>
                  <a:pt x="2090841" y="0"/>
                </a:cubicBezTo>
                <a:cubicBezTo>
                  <a:pt x="2399109" y="31523"/>
                  <a:pt x="2488380" y="26286"/>
                  <a:pt x="2686246" y="0"/>
                </a:cubicBezTo>
                <a:cubicBezTo>
                  <a:pt x="2884112" y="-26286"/>
                  <a:pt x="3186024" y="-14734"/>
                  <a:pt x="3475504" y="0"/>
                </a:cubicBezTo>
                <a:cubicBezTo>
                  <a:pt x="3764984" y="14734"/>
                  <a:pt x="4053017" y="43292"/>
                  <a:pt x="4361688" y="0"/>
                </a:cubicBezTo>
                <a:cubicBezTo>
                  <a:pt x="4670359" y="-43292"/>
                  <a:pt x="4736164" y="-729"/>
                  <a:pt x="5054019" y="0"/>
                </a:cubicBezTo>
                <a:cubicBezTo>
                  <a:pt x="5371874" y="729"/>
                  <a:pt x="5543528" y="-22963"/>
                  <a:pt x="5940204" y="0"/>
                </a:cubicBezTo>
                <a:cubicBezTo>
                  <a:pt x="6336881" y="22963"/>
                  <a:pt x="6423838" y="6469"/>
                  <a:pt x="6632535" y="0"/>
                </a:cubicBezTo>
                <a:cubicBezTo>
                  <a:pt x="6841232" y="-6469"/>
                  <a:pt x="6852819" y="17036"/>
                  <a:pt x="7034087" y="0"/>
                </a:cubicBezTo>
                <a:cubicBezTo>
                  <a:pt x="7215355" y="-17036"/>
                  <a:pt x="7313136" y="11151"/>
                  <a:pt x="7532566" y="0"/>
                </a:cubicBezTo>
                <a:cubicBezTo>
                  <a:pt x="7751996" y="-11151"/>
                  <a:pt x="8015001" y="25614"/>
                  <a:pt x="8418750" y="0"/>
                </a:cubicBezTo>
                <a:cubicBezTo>
                  <a:pt x="8822499" y="-25614"/>
                  <a:pt x="9163239" y="48603"/>
                  <a:pt x="9692640" y="0"/>
                </a:cubicBezTo>
                <a:cubicBezTo>
                  <a:pt x="9691955" y="4437"/>
                  <a:pt x="9693170" y="10717"/>
                  <a:pt x="9692640" y="18288"/>
                </a:cubicBezTo>
                <a:cubicBezTo>
                  <a:pt x="9545125" y="42172"/>
                  <a:pt x="9164259" y="6706"/>
                  <a:pt x="9000309" y="18288"/>
                </a:cubicBezTo>
                <a:cubicBezTo>
                  <a:pt x="8836359" y="29870"/>
                  <a:pt x="8521035" y="-14108"/>
                  <a:pt x="8307977" y="18288"/>
                </a:cubicBezTo>
                <a:cubicBezTo>
                  <a:pt x="8094919" y="50684"/>
                  <a:pt x="7881757" y="11235"/>
                  <a:pt x="7712572" y="18288"/>
                </a:cubicBezTo>
                <a:cubicBezTo>
                  <a:pt x="7543387" y="25341"/>
                  <a:pt x="7358861" y="20625"/>
                  <a:pt x="7214093" y="18288"/>
                </a:cubicBezTo>
                <a:cubicBezTo>
                  <a:pt x="7069325" y="15951"/>
                  <a:pt x="6523705" y="52160"/>
                  <a:pt x="6327909" y="18288"/>
                </a:cubicBezTo>
                <a:cubicBezTo>
                  <a:pt x="6132113" y="-15584"/>
                  <a:pt x="5923847" y="21204"/>
                  <a:pt x="5635578" y="18288"/>
                </a:cubicBezTo>
                <a:cubicBezTo>
                  <a:pt x="5347309" y="15372"/>
                  <a:pt x="5114749" y="50642"/>
                  <a:pt x="4846320" y="18288"/>
                </a:cubicBezTo>
                <a:cubicBezTo>
                  <a:pt x="4577891" y="-14066"/>
                  <a:pt x="4576701" y="1487"/>
                  <a:pt x="4444768" y="18288"/>
                </a:cubicBezTo>
                <a:cubicBezTo>
                  <a:pt x="4312835" y="35089"/>
                  <a:pt x="4112575" y="15158"/>
                  <a:pt x="3946289" y="18288"/>
                </a:cubicBezTo>
                <a:cubicBezTo>
                  <a:pt x="3780003" y="21418"/>
                  <a:pt x="3396009" y="18797"/>
                  <a:pt x="3253958" y="18288"/>
                </a:cubicBezTo>
                <a:cubicBezTo>
                  <a:pt x="3111907" y="17779"/>
                  <a:pt x="2760272" y="57223"/>
                  <a:pt x="2464700" y="18288"/>
                </a:cubicBezTo>
                <a:cubicBezTo>
                  <a:pt x="2169128" y="-20647"/>
                  <a:pt x="2232262" y="7960"/>
                  <a:pt x="2063148" y="18288"/>
                </a:cubicBezTo>
                <a:cubicBezTo>
                  <a:pt x="1894034" y="28616"/>
                  <a:pt x="1799338" y="3019"/>
                  <a:pt x="1661595" y="18288"/>
                </a:cubicBezTo>
                <a:cubicBezTo>
                  <a:pt x="1523852" y="33557"/>
                  <a:pt x="1113928" y="-4352"/>
                  <a:pt x="969264" y="18288"/>
                </a:cubicBezTo>
                <a:cubicBezTo>
                  <a:pt x="824600" y="40928"/>
                  <a:pt x="356149" y="-3128"/>
                  <a:pt x="0" y="18288"/>
                </a:cubicBezTo>
                <a:cubicBezTo>
                  <a:pt x="-540" y="12521"/>
                  <a:pt x="894" y="7749"/>
                  <a:pt x="0" y="0"/>
                </a:cubicBezTo>
                <a:close/>
              </a:path>
              <a:path w="9692640" h="18288" stroke="0" extrusionOk="0">
                <a:moveTo>
                  <a:pt x="0" y="0"/>
                </a:moveTo>
                <a:cubicBezTo>
                  <a:pt x="162642" y="3864"/>
                  <a:pt x="346119" y="-18364"/>
                  <a:pt x="498479" y="0"/>
                </a:cubicBezTo>
                <a:cubicBezTo>
                  <a:pt x="650839" y="18364"/>
                  <a:pt x="712065" y="-9389"/>
                  <a:pt x="900031" y="0"/>
                </a:cubicBezTo>
                <a:cubicBezTo>
                  <a:pt x="1087997" y="9389"/>
                  <a:pt x="1177291" y="3685"/>
                  <a:pt x="1398509" y="0"/>
                </a:cubicBezTo>
                <a:cubicBezTo>
                  <a:pt x="1619727" y="-3685"/>
                  <a:pt x="1874008" y="-8897"/>
                  <a:pt x="2090841" y="0"/>
                </a:cubicBezTo>
                <a:cubicBezTo>
                  <a:pt x="2307674" y="8897"/>
                  <a:pt x="2573432" y="-313"/>
                  <a:pt x="2880099" y="0"/>
                </a:cubicBezTo>
                <a:cubicBezTo>
                  <a:pt x="3186766" y="313"/>
                  <a:pt x="3422577" y="10664"/>
                  <a:pt x="3766283" y="0"/>
                </a:cubicBezTo>
                <a:cubicBezTo>
                  <a:pt x="4109989" y="-10664"/>
                  <a:pt x="4342683" y="-32873"/>
                  <a:pt x="4652467" y="0"/>
                </a:cubicBezTo>
                <a:cubicBezTo>
                  <a:pt x="4962251" y="32873"/>
                  <a:pt x="5122120" y="29155"/>
                  <a:pt x="5247872" y="0"/>
                </a:cubicBezTo>
                <a:cubicBezTo>
                  <a:pt x="5373625" y="-29155"/>
                  <a:pt x="5749491" y="1706"/>
                  <a:pt x="6037130" y="0"/>
                </a:cubicBezTo>
                <a:cubicBezTo>
                  <a:pt x="6324769" y="-1706"/>
                  <a:pt x="6531407" y="1172"/>
                  <a:pt x="6729461" y="0"/>
                </a:cubicBezTo>
                <a:cubicBezTo>
                  <a:pt x="6927515" y="-1172"/>
                  <a:pt x="7096794" y="-1520"/>
                  <a:pt x="7324867" y="0"/>
                </a:cubicBezTo>
                <a:cubicBezTo>
                  <a:pt x="7552940" y="1520"/>
                  <a:pt x="7878827" y="-17110"/>
                  <a:pt x="8114124" y="0"/>
                </a:cubicBezTo>
                <a:cubicBezTo>
                  <a:pt x="8349421" y="17110"/>
                  <a:pt x="8334208" y="15114"/>
                  <a:pt x="8515677" y="0"/>
                </a:cubicBezTo>
                <a:cubicBezTo>
                  <a:pt x="8697146" y="-15114"/>
                  <a:pt x="9236164" y="22466"/>
                  <a:pt x="9692640" y="0"/>
                </a:cubicBezTo>
                <a:cubicBezTo>
                  <a:pt x="9692735" y="8251"/>
                  <a:pt x="9692514" y="12333"/>
                  <a:pt x="9692640" y="18288"/>
                </a:cubicBezTo>
                <a:cubicBezTo>
                  <a:pt x="9410102" y="47398"/>
                  <a:pt x="9172773" y="7109"/>
                  <a:pt x="9000309" y="18288"/>
                </a:cubicBezTo>
                <a:cubicBezTo>
                  <a:pt x="8827845" y="29467"/>
                  <a:pt x="8713608" y="28372"/>
                  <a:pt x="8501830" y="18288"/>
                </a:cubicBezTo>
                <a:cubicBezTo>
                  <a:pt x="8290052" y="8204"/>
                  <a:pt x="7893416" y="3561"/>
                  <a:pt x="7712572" y="18288"/>
                </a:cubicBezTo>
                <a:cubicBezTo>
                  <a:pt x="7531728" y="33015"/>
                  <a:pt x="7480716" y="17052"/>
                  <a:pt x="7311020" y="18288"/>
                </a:cubicBezTo>
                <a:cubicBezTo>
                  <a:pt x="7141324" y="19524"/>
                  <a:pt x="6962706" y="15975"/>
                  <a:pt x="6618688" y="18288"/>
                </a:cubicBezTo>
                <a:cubicBezTo>
                  <a:pt x="6274670" y="20601"/>
                  <a:pt x="6230664" y="-1692"/>
                  <a:pt x="6120210" y="18288"/>
                </a:cubicBezTo>
                <a:cubicBezTo>
                  <a:pt x="6009756" y="38268"/>
                  <a:pt x="5442516" y="28115"/>
                  <a:pt x="5234026" y="18288"/>
                </a:cubicBezTo>
                <a:cubicBezTo>
                  <a:pt x="5025536" y="8461"/>
                  <a:pt x="4953693" y="18182"/>
                  <a:pt x="4832473" y="18288"/>
                </a:cubicBezTo>
                <a:cubicBezTo>
                  <a:pt x="4711253" y="18394"/>
                  <a:pt x="4414565" y="-11251"/>
                  <a:pt x="4140142" y="18288"/>
                </a:cubicBezTo>
                <a:cubicBezTo>
                  <a:pt x="3865719" y="47827"/>
                  <a:pt x="3819081" y="16772"/>
                  <a:pt x="3738590" y="18288"/>
                </a:cubicBezTo>
                <a:cubicBezTo>
                  <a:pt x="3658099" y="19804"/>
                  <a:pt x="3427576" y="1385"/>
                  <a:pt x="3240111" y="18288"/>
                </a:cubicBezTo>
                <a:cubicBezTo>
                  <a:pt x="3052646" y="35191"/>
                  <a:pt x="2749652" y="-13914"/>
                  <a:pt x="2450853" y="18288"/>
                </a:cubicBezTo>
                <a:cubicBezTo>
                  <a:pt x="2152054" y="50490"/>
                  <a:pt x="1928331" y="61101"/>
                  <a:pt x="1564669" y="18288"/>
                </a:cubicBezTo>
                <a:cubicBezTo>
                  <a:pt x="1201007" y="-24525"/>
                  <a:pt x="1217828" y="-275"/>
                  <a:pt x="1066190" y="18288"/>
                </a:cubicBezTo>
                <a:cubicBezTo>
                  <a:pt x="914552" y="36851"/>
                  <a:pt x="418290" y="-14785"/>
                  <a:pt x="0" y="18288"/>
                </a:cubicBezTo>
                <a:cubicBezTo>
                  <a:pt x="641" y="14236"/>
                  <a:pt x="889" y="7550"/>
                  <a:pt x="0" y="0"/>
                </a:cubicBezTo>
                <a:close/>
              </a:path>
            </a:pathLst>
          </a:custGeom>
          <a:solidFill>
            <a:srgbClr val="FFFFFF">
              <a:alpha val="75000"/>
            </a:srgbClr>
          </a:solidFill>
          <a:ln w="44450" cap="rnd">
            <a:solidFill>
              <a:schemeClr val="bg1">
                <a:alpha val="75000"/>
              </a:schemeClr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7B49F912-CF22-8115-3EA9-3F693BAD6E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004446"/>
            <a:ext cx="10515600" cy="4176897"/>
          </a:xfrm>
        </p:spPr>
        <p:txBody>
          <a:bodyPr>
            <a:normAutofit/>
          </a:bodyPr>
          <a:lstStyle/>
          <a:p>
            <a:r>
              <a:rPr lang="de-DE" sz="2200" dirty="0">
                <a:solidFill>
                  <a:schemeClr val="bg1"/>
                </a:solidFill>
              </a:rPr>
              <a:t>Basiert auf IP-MAC Binding</a:t>
            </a:r>
          </a:p>
          <a:p>
            <a:r>
              <a:rPr lang="de-DE" sz="2200" dirty="0" err="1">
                <a:solidFill>
                  <a:schemeClr val="bg1"/>
                </a:solidFill>
              </a:rPr>
              <a:t>Mapped</a:t>
            </a:r>
            <a:r>
              <a:rPr lang="de-DE" sz="2200" dirty="0">
                <a:solidFill>
                  <a:schemeClr val="bg1"/>
                </a:solidFill>
              </a:rPr>
              <a:t> IPs den entsprechenden MACs zu</a:t>
            </a:r>
          </a:p>
          <a:p>
            <a:r>
              <a:rPr lang="de-DE" sz="2200" dirty="0">
                <a:solidFill>
                  <a:schemeClr val="bg1"/>
                </a:solidFill>
              </a:rPr>
              <a:t>ARP Spoofing Angriffe versenden falsche Pakete</a:t>
            </a:r>
          </a:p>
          <a:p>
            <a:r>
              <a:rPr lang="de-DE" sz="2200" dirty="0">
                <a:solidFill>
                  <a:schemeClr val="bg1"/>
                </a:solidFill>
              </a:rPr>
              <a:t>Pakete werden fallen gelassen</a:t>
            </a:r>
          </a:p>
          <a:p>
            <a:r>
              <a:rPr lang="de-DE" sz="2200" dirty="0">
                <a:solidFill>
                  <a:schemeClr val="bg1"/>
                </a:solidFill>
              </a:rPr>
              <a:t>Beim Angriff werden GARP Pakete verschickt</a:t>
            </a:r>
          </a:p>
          <a:p>
            <a:r>
              <a:rPr lang="de-DE" sz="2200" dirty="0">
                <a:solidFill>
                  <a:schemeClr val="bg1"/>
                </a:solidFill>
              </a:rPr>
              <a:t>ARP Tabellen werden korrekt </a:t>
            </a:r>
            <a:r>
              <a:rPr lang="de-DE" sz="2200" dirty="0" err="1">
                <a:solidFill>
                  <a:schemeClr val="bg1"/>
                </a:solidFill>
              </a:rPr>
              <a:t>geupdated</a:t>
            </a:r>
            <a:endParaRPr lang="de-BE" sz="2200" dirty="0">
              <a:solidFill>
                <a:schemeClr val="bg1"/>
              </a:solidFill>
            </a:endParaRPr>
          </a:p>
        </p:txBody>
      </p:sp>
      <p:pic>
        <p:nvPicPr>
          <p:cNvPr id="5" name="Grafik 4" descr="Ein Bild, das Text, Screenshot, Schrift enthält.">
            <a:extLst>
              <a:ext uri="{FF2B5EF4-FFF2-40B4-BE49-F238E27FC236}">
                <a16:creationId xmlns:a16="http://schemas.microsoft.com/office/drawing/2014/main" id="{87DD9056-8B9B-AA49-6CD7-211A858E7B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19373" y="2014340"/>
            <a:ext cx="4134427" cy="2829320"/>
          </a:xfrm>
          <a:prstGeom prst="rect">
            <a:avLst/>
          </a:prstGeom>
        </p:spPr>
      </p:pic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038EDC8B-F3A1-8363-35E1-2D2431072F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FB693C-3D3E-4164-9FC0-E9F6868342D2}" type="slidenum">
              <a:rPr lang="de-BE" smtClean="0"/>
              <a:t>3</a:t>
            </a:fld>
            <a:endParaRPr lang="de-BE"/>
          </a:p>
        </p:txBody>
      </p:sp>
    </p:spTree>
    <p:extLst>
      <p:ext uri="{BB962C8B-B14F-4D97-AF65-F5344CB8AC3E}">
        <p14:creationId xmlns:p14="http://schemas.microsoft.com/office/powerpoint/2010/main" val="27265738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89D013A-D74A-F6BB-C17D-12CABAED1D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9" name="Rectangle 3080">
            <a:extLst>
              <a:ext uri="{FF2B5EF4-FFF2-40B4-BE49-F238E27FC236}">
                <a16:creationId xmlns:a16="http://schemas.microsoft.com/office/drawing/2014/main" id="{B6F8E1A3-4D3D-4D92-0EB5-FDD5CA239D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076" name="Picture 4" descr="Rethinking Firewall and Proxy Management for Enterprise Agility">
            <a:extLst>
              <a:ext uri="{FF2B5EF4-FFF2-40B4-BE49-F238E27FC236}">
                <a16:creationId xmlns:a16="http://schemas.microsoft.com/office/drawing/2014/main" id="{AF1C90EB-46EC-6F4E-1311-59A3EA540D7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alphaModFix amt="4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" y="10"/>
            <a:ext cx="12191979" cy="685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F3F3B578-58A9-ADBD-F273-C228290939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de-DE" sz="5400" dirty="0" err="1">
                <a:solidFill>
                  <a:schemeClr val="bg1"/>
                </a:solidFill>
              </a:rPr>
              <a:t>Attack</a:t>
            </a:r>
            <a:r>
              <a:rPr lang="de-DE" sz="5400" dirty="0">
                <a:solidFill>
                  <a:schemeClr val="bg1"/>
                </a:solidFill>
              </a:rPr>
              <a:t> Defense – Flood Defense</a:t>
            </a:r>
            <a:endParaRPr lang="de-BE" sz="5400" dirty="0">
              <a:solidFill>
                <a:schemeClr val="bg1"/>
              </a:solidFill>
            </a:endParaRPr>
          </a:p>
        </p:txBody>
      </p:sp>
      <p:sp>
        <p:nvSpPr>
          <p:cNvPr id="3090" name="sketchy line">
            <a:extLst>
              <a:ext uri="{FF2B5EF4-FFF2-40B4-BE49-F238E27FC236}">
                <a16:creationId xmlns:a16="http://schemas.microsoft.com/office/drawing/2014/main" id="{012847C3-B8A3-6305-3436-177390951C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14399" y="1681544"/>
            <a:ext cx="9692640" cy="18288"/>
          </a:xfrm>
          <a:custGeom>
            <a:avLst/>
            <a:gdLst>
              <a:gd name="csX0" fmla="*/ 0 w 9692640"/>
              <a:gd name="csY0" fmla="*/ 0 h 18288"/>
              <a:gd name="csX1" fmla="*/ 401552 w 9692640"/>
              <a:gd name="csY1" fmla="*/ 0 h 18288"/>
              <a:gd name="csX2" fmla="*/ 996957 w 9692640"/>
              <a:gd name="csY2" fmla="*/ 0 h 18288"/>
              <a:gd name="csX3" fmla="*/ 1398509 w 9692640"/>
              <a:gd name="csY3" fmla="*/ 0 h 18288"/>
              <a:gd name="csX4" fmla="*/ 2090841 w 9692640"/>
              <a:gd name="csY4" fmla="*/ 0 h 18288"/>
              <a:gd name="csX5" fmla="*/ 2686246 w 9692640"/>
              <a:gd name="csY5" fmla="*/ 0 h 18288"/>
              <a:gd name="csX6" fmla="*/ 3475504 w 9692640"/>
              <a:gd name="csY6" fmla="*/ 0 h 18288"/>
              <a:gd name="csX7" fmla="*/ 4361688 w 9692640"/>
              <a:gd name="csY7" fmla="*/ 0 h 18288"/>
              <a:gd name="csX8" fmla="*/ 5054019 w 9692640"/>
              <a:gd name="csY8" fmla="*/ 0 h 18288"/>
              <a:gd name="csX9" fmla="*/ 5940204 w 9692640"/>
              <a:gd name="csY9" fmla="*/ 0 h 18288"/>
              <a:gd name="csX10" fmla="*/ 6632535 w 9692640"/>
              <a:gd name="csY10" fmla="*/ 0 h 18288"/>
              <a:gd name="csX11" fmla="*/ 7034087 w 9692640"/>
              <a:gd name="csY11" fmla="*/ 0 h 18288"/>
              <a:gd name="csX12" fmla="*/ 7532566 w 9692640"/>
              <a:gd name="csY12" fmla="*/ 0 h 18288"/>
              <a:gd name="csX13" fmla="*/ 8418750 w 9692640"/>
              <a:gd name="csY13" fmla="*/ 0 h 18288"/>
              <a:gd name="csX14" fmla="*/ 9692640 w 9692640"/>
              <a:gd name="csY14" fmla="*/ 0 h 18288"/>
              <a:gd name="csX15" fmla="*/ 9692640 w 9692640"/>
              <a:gd name="csY15" fmla="*/ 18288 h 18288"/>
              <a:gd name="csX16" fmla="*/ 9000309 w 9692640"/>
              <a:gd name="csY16" fmla="*/ 18288 h 18288"/>
              <a:gd name="csX17" fmla="*/ 8307977 w 9692640"/>
              <a:gd name="csY17" fmla="*/ 18288 h 18288"/>
              <a:gd name="csX18" fmla="*/ 7712572 w 9692640"/>
              <a:gd name="csY18" fmla="*/ 18288 h 18288"/>
              <a:gd name="csX19" fmla="*/ 7214093 w 9692640"/>
              <a:gd name="csY19" fmla="*/ 18288 h 18288"/>
              <a:gd name="csX20" fmla="*/ 6327909 w 9692640"/>
              <a:gd name="csY20" fmla="*/ 18288 h 18288"/>
              <a:gd name="csX21" fmla="*/ 5635578 w 9692640"/>
              <a:gd name="csY21" fmla="*/ 18288 h 18288"/>
              <a:gd name="csX22" fmla="*/ 4846320 w 9692640"/>
              <a:gd name="csY22" fmla="*/ 18288 h 18288"/>
              <a:gd name="csX23" fmla="*/ 4444768 w 9692640"/>
              <a:gd name="csY23" fmla="*/ 18288 h 18288"/>
              <a:gd name="csX24" fmla="*/ 3946289 w 9692640"/>
              <a:gd name="csY24" fmla="*/ 18288 h 18288"/>
              <a:gd name="csX25" fmla="*/ 3253958 w 9692640"/>
              <a:gd name="csY25" fmla="*/ 18288 h 18288"/>
              <a:gd name="csX26" fmla="*/ 2464700 w 9692640"/>
              <a:gd name="csY26" fmla="*/ 18288 h 18288"/>
              <a:gd name="csX27" fmla="*/ 2063148 w 9692640"/>
              <a:gd name="csY27" fmla="*/ 18288 h 18288"/>
              <a:gd name="csX28" fmla="*/ 1661595 w 9692640"/>
              <a:gd name="csY28" fmla="*/ 18288 h 18288"/>
              <a:gd name="csX29" fmla="*/ 969264 w 9692640"/>
              <a:gd name="csY29" fmla="*/ 18288 h 18288"/>
              <a:gd name="csX30" fmla="*/ 0 w 9692640"/>
              <a:gd name="csY30" fmla="*/ 18288 h 18288"/>
              <a:gd name="csX31" fmla="*/ 0 w 9692640"/>
              <a:gd name="csY3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</a:cxnLst>
            <a:rect l="l" t="t" r="r" b="b"/>
            <a:pathLst>
              <a:path w="9692640" h="18288" fill="none" extrusionOk="0">
                <a:moveTo>
                  <a:pt x="0" y="0"/>
                </a:moveTo>
                <a:cubicBezTo>
                  <a:pt x="142992" y="4732"/>
                  <a:pt x="265909" y="-3365"/>
                  <a:pt x="401552" y="0"/>
                </a:cubicBezTo>
                <a:cubicBezTo>
                  <a:pt x="537195" y="3365"/>
                  <a:pt x="738153" y="6482"/>
                  <a:pt x="996957" y="0"/>
                </a:cubicBezTo>
                <a:cubicBezTo>
                  <a:pt x="1255762" y="-6482"/>
                  <a:pt x="1280511" y="12509"/>
                  <a:pt x="1398509" y="0"/>
                </a:cubicBezTo>
                <a:cubicBezTo>
                  <a:pt x="1516507" y="-12509"/>
                  <a:pt x="1782573" y="-31523"/>
                  <a:pt x="2090841" y="0"/>
                </a:cubicBezTo>
                <a:cubicBezTo>
                  <a:pt x="2399109" y="31523"/>
                  <a:pt x="2488380" y="26286"/>
                  <a:pt x="2686246" y="0"/>
                </a:cubicBezTo>
                <a:cubicBezTo>
                  <a:pt x="2884112" y="-26286"/>
                  <a:pt x="3186024" y="-14734"/>
                  <a:pt x="3475504" y="0"/>
                </a:cubicBezTo>
                <a:cubicBezTo>
                  <a:pt x="3764984" y="14734"/>
                  <a:pt x="4053017" y="43292"/>
                  <a:pt x="4361688" y="0"/>
                </a:cubicBezTo>
                <a:cubicBezTo>
                  <a:pt x="4670359" y="-43292"/>
                  <a:pt x="4736164" y="-729"/>
                  <a:pt x="5054019" y="0"/>
                </a:cubicBezTo>
                <a:cubicBezTo>
                  <a:pt x="5371874" y="729"/>
                  <a:pt x="5543528" y="-22963"/>
                  <a:pt x="5940204" y="0"/>
                </a:cubicBezTo>
                <a:cubicBezTo>
                  <a:pt x="6336881" y="22963"/>
                  <a:pt x="6423838" y="6469"/>
                  <a:pt x="6632535" y="0"/>
                </a:cubicBezTo>
                <a:cubicBezTo>
                  <a:pt x="6841232" y="-6469"/>
                  <a:pt x="6852819" y="17036"/>
                  <a:pt x="7034087" y="0"/>
                </a:cubicBezTo>
                <a:cubicBezTo>
                  <a:pt x="7215355" y="-17036"/>
                  <a:pt x="7313136" y="11151"/>
                  <a:pt x="7532566" y="0"/>
                </a:cubicBezTo>
                <a:cubicBezTo>
                  <a:pt x="7751996" y="-11151"/>
                  <a:pt x="8015001" y="25614"/>
                  <a:pt x="8418750" y="0"/>
                </a:cubicBezTo>
                <a:cubicBezTo>
                  <a:pt x="8822499" y="-25614"/>
                  <a:pt x="9163239" y="48603"/>
                  <a:pt x="9692640" y="0"/>
                </a:cubicBezTo>
                <a:cubicBezTo>
                  <a:pt x="9691955" y="4437"/>
                  <a:pt x="9693170" y="10717"/>
                  <a:pt x="9692640" y="18288"/>
                </a:cubicBezTo>
                <a:cubicBezTo>
                  <a:pt x="9545125" y="42172"/>
                  <a:pt x="9164259" y="6706"/>
                  <a:pt x="9000309" y="18288"/>
                </a:cubicBezTo>
                <a:cubicBezTo>
                  <a:pt x="8836359" y="29870"/>
                  <a:pt x="8521035" y="-14108"/>
                  <a:pt x="8307977" y="18288"/>
                </a:cubicBezTo>
                <a:cubicBezTo>
                  <a:pt x="8094919" y="50684"/>
                  <a:pt x="7881757" y="11235"/>
                  <a:pt x="7712572" y="18288"/>
                </a:cubicBezTo>
                <a:cubicBezTo>
                  <a:pt x="7543387" y="25341"/>
                  <a:pt x="7358861" y="20625"/>
                  <a:pt x="7214093" y="18288"/>
                </a:cubicBezTo>
                <a:cubicBezTo>
                  <a:pt x="7069325" y="15951"/>
                  <a:pt x="6523705" y="52160"/>
                  <a:pt x="6327909" y="18288"/>
                </a:cubicBezTo>
                <a:cubicBezTo>
                  <a:pt x="6132113" y="-15584"/>
                  <a:pt x="5923847" y="21204"/>
                  <a:pt x="5635578" y="18288"/>
                </a:cubicBezTo>
                <a:cubicBezTo>
                  <a:pt x="5347309" y="15372"/>
                  <a:pt x="5114749" y="50642"/>
                  <a:pt x="4846320" y="18288"/>
                </a:cubicBezTo>
                <a:cubicBezTo>
                  <a:pt x="4577891" y="-14066"/>
                  <a:pt x="4576701" y="1487"/>
                  <a:pt x="4444768" y="18288"/>
                </a:cubicBezTo>
                <a:cubicBezTo>
                  <a:pt x="4312835" y="35089"/>
                  <a:pt x="4112575" y="15158"/>
                  <a:pt x="3946289" y="18288"/>
                </a:cubicBezTo>
                <a:cubicBezTo>
                  <a:pt x="3780003" y="21418"/>
                  <a:pt x="3396009" y="18797"/>
                  <a:pt x="3253958" y="18288"/>
                </a:cubicBezTo>
                <a:cubicBezTo>
                  <a:pt x="3111907" y="17779"/>
                  <a:pt x="2760272" y="57223"/>
                  <a:pt x="2464700" y="18288"/>
                </a:cubicBezTo>
                <a:cubicBezTo>
                  <a:pt x="2169128" y="-20647"/>
                  <a:pt x="2232262" y="7960"/>
                  <a:pt x="2063148" y="18288"/>
                </a:cubicBezTo>
                <a:cubicBezTo>
                  <a:pt x="1894034" y="28616"/>
                  <a:pt x="1799338" y="3019"/>
                  <a:pt x="1661595" y="18288"/>
                </a:cubicBezTo>
                <a:cubicBezTo>
                  <a:pt x="1523852" y="33557"/>
                  <a:pt x="1113928" y="-4352"/>
                  <a:pt x="969264" y="18288"/>
                </a:cubicBezTo>
                <a:cubicBezTo>
                  <a:pt x="824600" y="40928"/>
                  <a:pt x="356149" y="-3128"/>
                  <a:pt x="0" y="18288"/>
                </a:cubicBezTo>
                <a:cubicBezTo>
                  <a:pt x="-540" y="12521"/>
                  <a:pt x="894" y="7749"/>
                  <a:pt x="0" y="0"/>
                </a:cubicBezTo>
                <a:close/>
              </a:path>
              <a:path w="9692640" h="18288" stroke="0" extrusionOk="0">
                <a:moveTo>
                  <a:pt x="0" y="0"/>
                </a:moveTo>
                <a:cubicBezTo>
                  <a:pt x="162642" y="3864"/>
                  <a:pt x="346119" y="-18364"/>
                  <a:pt x="498479" y="0"/>
                </a:cubicBezTo>
                <a:cubicBezTo>
                  <a:pt x="650839" y="18364"/>
                  <a:pt x="712065" y="-9389"/>
                  <a:pt x="900031" y="0"/>
                </a:cubicBezTo>
                <a:cubicBezTo>
                  <a:pt x="1087997" y="9389"/>
                  <a:pt x="1177291" y="3685"/>
                  <a:pt x="1398509" y="0"/>
                </a:cubicBezTo>
                <a:cubicBezTo>
                  <a:pt x="1619727" y="-3685"/>
                  <a:pt x="1874008" y="-8897"/>
                  <a:pt x="2090841" y="0"/>
                </a:cubicBezTo>
                <a:cubicBezTo>
                  <a:pt x="2307674" y="8897"/>
                  <a:pt x="2573432" y="-313"/>
                  <a:pt x="2880099" y="0"/>
                </a:cubicBezTo>
                <a:cubicBezTo>
                  <a:pt x="3186766" y="313"/>
                  <a:pt x="3422577" y="10664"/>
                  <a:pt x="3766283" y="0"/>
                </a:cubicBezTo>
                <a:cubicBezTo>
                  <a:pt x="4109989" y="-10664"/>
                  <a:pt x="4342683" y="-32873"/>
                  <a:pt x="4652467" y="0"/>
                </a:cubicBezTo>
                <a:cubicBezTo>
                  <a:pt x="4962251" y="32873"/>
                  <a:pt x="5122120" y="29155"/>
                  <a:pt x="5247872" y="0"/>
                </a:cubicBezTo>
                <a:cubicBezTo>
                  <a:pt x="5373625" y="-29155"/>
                  <a:pt x="5749491" y="1706"/>
                  <a:pt x="6037130" y="0"/>
                </a:cubicBezTo>
                <a:cubicBezTo>
                  <a:pt x="6324769" y="-1706"/>
                  <a:pt x="6531407" y="1172"/>
                  <a:pt x="6729461" y="0"/>
                </a:cubicBezTo>
                <a:cubicBezTo>
                  <a:pt x="6927515" y="-1172"/>
                  <a:pt x="7096794" y="-1520"/>
                  <a:pt x="7324867" y="0"/>
                </a:cubicBezTo>
                <a:cubicBezTo>
                  <a:pt x="7552940" y="1520"/>
                  <a:pt x="7878827" y="-17110"/>
                  <a:pt x="8114124" y="0"/>
                </a:cubicBezTo>
                <a:cubicBezTo>
                  <a:pt x="8349421" y="17110"/>
                  <a:pt x="8334208" y="15114"/>
                  <a:pt x="8515677" y="0"/>
                </a:cubicBezTo>
                <a:cubicBezTo>
                  <a:pt x="8697146" y="-15114"/>
                  <a:pt x="9236164" y="22466"/>
                  <a:pt x="9692640" y="0"/>
                </a:cubicBezTo>
                <a:cubicBezTo>
                  <a:pt x="9692735" y="8251"/>
                  <a:pt x="9692514" y="12333"/>
                  <a:pt x="9692640" y="18288"/>
                </a:cubicBezTo>
                <a:cubicBezTo>
                  <a:pt x="9410102" y="47398"/>
                  <a:pt x="9172773" y="7109"/>
                  <a:pt x="9000309" y="18288"/>
                </a:cubicBezTo>
                <a:cubicBezTo>
                  <a:pt x="8827845" y="29467"/>
                  <a:pt x="8713608" y="28372"/>
                  <a:pt x="8501830" y="18288"/>
                </a:cubicBezTo>
                <a:cubicBezTo>
                  <a:pt x="8290052" y="8204"/>
                  <a:pt x="7893416" y="3561"/>
                  <a:pt x="7712572" y="18288"/>
                </a:cubicBezTo>
                <a:cubicBezTo>
                  <a:pt x="7531728" y="33015"/>
                  <a:pt x="7480716" y="17052"/>
                  <a:pt x="7311020" y="18288"/>
                </a:cubicBezTo>
                <a:cubicBezTo>
                  <a:pt x="7141324" y="19524"/>
                  <a:pt x="6962706" y="15975"/>
                  <a:pt x="6618688" y="18288"/>
                </a:cubicBezTo>
                <a:cubicBezTo>
                  <a:pt x="6274670" y="20601"/>
                  <a:pt x="6230664" y="-1692"/>
                  <a:pt x="6120210" y="18288"/>
                </a:cubicBezTo>
                <a:cubicBezTo>
                  <a:pt x="6009756" y="38268"/>
                  <a:pt x="5442516" y="28115"/>
                  <a:pt x="5234026" y="18288"/>
                </a:cubicBezTo>
                <a:cubicBezTo>
                  <a:pt x="5025536" y="8461"/>
                  <a:pt x="4953693" y="18182"/>
                  <a:pt x="4832473" y="18288"/>
                </a:cubicBezTo>
                <a:cubicBezTo>
                  <a:pt x="4711253" y="18394"/>
                  <a:pt x="4414565" y="-11251"/>
                  <a:pt x="4140142" y="18288"/>
                </a:cubicBezTo>
                <a:cubicBezTo>
                  <a:pt x="3865719" y="47827"/>
                  <a:pt x="3819081" y="16772"/>
                  <a:pt x="3738590" y="18288"/>
                </a:cubicBezTo>
                <a:cubicBezTo>
                  <a:pt x="3658099" y="19804"/>
                  <a:pt x="3427576" y="1385"/>
                  <a:pt x="3240111" y="18288"/>
                </a:cubicBezTo>
                <a:cubicBezTo>
                  <a:pt x="3052646" y="35191"/>
                  <a:pt x="2749652" y="-13914"/>
                  <a:pt x="2450853" y="18288"/>
                </a:cubicBezTo>
                <a:cubicBezTo>
                  <a:pt x="2152054" y="50490"/>
                  <a:pt x="1928331" y="61101"/>
                  <a:pt x="1564669" y="18288"/>
                </a:cubicBezTo>
                <a:cubicBezTo>
                  <a:pt x="1201007" y="-24525"/>
                  <a:pt x="1217828" y="-275"/>
                  <a:pt x="1066190" y="18288"/>
                </a:cubicBezTo>
                <a:cubicBezTo>
                  <a:pt x="914552" y="36851"/>
                  <a:pt x="418290" y="-14785"/>
                  <a:pt x="0" y="18288"/>
                </a:cubicBezTo>
                <a:cubicBezTo>
                  <a:pt x="641" y="14236"/>
                  <a:pt x="889" y="7550"/>
                  <a:pt x="0" y="0"/>
                </a:cubicBezTo>
                <a:close/>
              </a:path>
            </a:pathLst>
          </a:custGeom>
          <a:solidFill>
            <a:srgbClr val="FFFFFF">
              <a:alpha val="75000"/>
            </a:srgbClr>
          </a:solidFill>
          <a:ln w="44450" cap="rnd">
            <a:solidFill>
              <a:schemeClr val="bg1">
                <a:alpha val="75000"/>
              </a:schemeClr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6DD6D50-C5DF-39C2-B1DB-19791C28C3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004446"/>
            <a:ext cx="10515600" cy="4176897"/>
          </a:xfrm>
        </p:spPr>
        <p:txBody>
          <a:bodyPr>
            <a:normAutofit/>
          </a:bodyPr>
          <a:lstStyle/>
          <a:p>
            <a:endParaRPr lang="de-DE" sz="2200" dirty="0">
              <a:solidFill>
                <a:schemeClr val="bg1"/>
              </a:solidFill>
            </a:endParaRPr>
          </a:p>
          <a:p>
            <a:r>
              <a:rPr lang="de-DE" sz="2200" dirty="0">
                <a:solidFill>
                  <a:schemeClr val="bg1"/>
                </a:solidFill>
              </a:rPr>
              <a:t>Setzt Schwellenwerte für Paketlimits</a:t>
            </a:r>
          </a:p>
          <a:p>
            <a:r>
              <a:rPr lang="de-DE" sz="2200" dirty="0">
                <a:solidFill>
                  <a:schemeClr val="bg1"/>
                </a:solidFill>
              </a:rPr>
              <a:t>Pro Verbindung bzw. Quelle</a:t>
            </a:r>
          </a:p>
          <a:p>
            <a:r>
              <a:rPr lang="de-DE" sz="2200" dirty="0">
                <a:solidFill>
                  <a:schemeClr val="bg1"/>
                </a:solidFill>
              </a:rPr>
              <a:t>Einzelne Quelle = </a:t>
            </a:r>
            <a:r>
              <a:rPr lang="de-DE" sz="2200" dirty="0" err="1">
                <a:solidFill>
                  <a:schemeClr val="bg1"/>
                </a:solidFill>
              </a:rPr>
              <a:t>DoS</a:t>
            </a:r>
            <a:r>
              <a:rPr lang="de-DE" sz="2200" dirty="0">
                <a:solidFill>
                  <a:schemeClr val="bg1"/>
                </a:solidFill>
              </a:rPr>
              <a:t> (</a:t>
            </a:r>
            <a:r>
              <a:rPr lang="de-DE" sz="2200" dirty="0" err="1">
                <a:solidFill>
                  <a:schemeClr val="bg1"/>
                </a:solidFill>
              </a:rPr>
              <a:t>komp</a:t>
            </a:r>
            <a:r>
              <a:rPr lang="de-DE" sz="2200" dirty="0">
                <a:solidFill>
                  <a:schemeClr val="bg1"/>
                </a:solidFill>
              </a:rPr>
              <a:t>. Client)</a:t>
            </a:r>
          </a:p>
          <a:p>
            <a:r>
              <a:rPr lang="de-DE" sz="2200" dirty="0">
                <a:solidFill>
                  <a:schemeClr val="bg1"/>
                </a:solidFill>
              </a:rPr>
              <a:t>Mehrere Quellen = DDoS (z.B. </a:t>
            </a:r>
            <a:r>
              <a:rPr lang="de-DE" sz="2200" dirty="0" err="1">
                <a:solidFill>
                  <a:schemeClr val="bg1"/>
                </a:solidFill>
              </a:rPr>
              <a:t>Botnetzwerk</a:t>
            </a:r>
            <a:r>
              <a:rPr lang="de-DE" sz="2200" dirty="0">
                <a:solidFill>
                  <a:schemeClr val="bg1"/>
                </a:solidFill>
              </a:rPr>
              <a:t>)</a:t>
            </a:r>
          </a:p>
          <a:p>
            <a:r>
              <a:rPr lang="de-DE" sz="2200" dirty="0">
                <a:solidFill>
                  <a:schemeClr val="bg1"/>
                </a:solidFill>
              </a:rPr>
              <a:t>Verschiedene Protokolle bieten verschiedene Angriffsmöglichkeiten</a:t>
            </a:r>
          </a:p>
          <a:p>
            <a:r>
              <a:rPr lang="de-DE" sz="2200" dirty="0">
                <a:solidFill>
                  <a:schemeClr val="bg1"/>
                </a:solidFill>
              </a:rPr>
              <a:t>UDP „normaler“ als ICMP -&gt; höhere Schwellenwerte</a:t>
            </a:r>
          </a:p>
        </p:txBody>
      </p:sp>
      <p:pic>
        <p:nvPicPr>
          <p:cNvPr id="10" name="Grafik 9" descr="Ein Bild, das Text, Screenshot, Schrift enthält.&#10;&#10;KI-generierte Inhalte können fehlerhaft sein.">
            <a:extLst>
              <a:ext uri="{FF2B5EF4-FFF2-40B4-BE49-F238E27FC236}">
                <a16:creationId xmlns:a16="http://schemas.microsoft.com/office/drawing/2014/main" id="{CB19D65C-0031-4DA9-0A42-37C99E8D88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90688" y="1995302"/>
            <a:ext cx="4563112" cy="1952898"/>
          </a:xfrm>
          <a:prstGeom prst="rect">
            <a:avLst/>
          </a:prstGeom>
        </p:spPr>
      </p:pic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C39671F9-6E79-A130-236B-D6EBAE92BA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FB693C-3D3E-4164-9FC0-E9F6868342D2}" type="slidenum">
              <a:rPr lang="de-BE" smtClean="0"/>
              <a:t>4</a:t>
            </a:fld>
            <a:endParaRPr lang="de-BE"/>
          </a:p>
        </p:txBody>
      </p:sp>
    </p:spTree>
    <p:extLst>
      <p:ext uri="{BB962C8B-B14F-4D97-AF65-F5344CB8AC3E}">
        <p14:creationId xmlns:p14="http://schemas.microsoft.com/office/powerpoint/2010/main" val="35593544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BF77F65-7F5C-92C3-D96B-A2A44F06BD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9" name="Rectangle 3080">
            <a:extLst>
              <a:ext uri="{FF2B5EF4-FFF2-40B4-BE49-F238E27FC236}">
                <a16:creationId xmlns:a16="http://schemas.microsoft.com/office/drawing/2014/main" id="{0FF6F32F-ACC6-D5A8-6549-20E2BA32CB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076" name="Picture 4" descr="Rethinking Firewall and Proxy Management for Enterprise Agility">
            <a:extLst>
              <a:ext uri="{FF2B5EF4-FFF2-40B4-BE49-F238E27FC236}">
                <a16:creationId xmlns:a16="http://schemas.microsoft.com/office/drawing/2014/main" id="{3B32BD50-618E-82B9-6E71-89D1C8FE97E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alphaModFix amt="4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" y="10"/>
            <a:ext cx="12191979" cy="685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1BC014A1-B0AA-B4E3-5C41-FDB12D1EC0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de-DE" sz="5400" dirty="0" err="1">
                <a:solidFill>
                  <a:schemeClr val="bg1"/>
                </a:solidFill>
              </a:rPr>
              <a:t>Attack</a:t>
            </a:r>
            <a:r>
              <a:rPr lang="de-DE" sz="5400" dirty="0">
                <a:solidFill>
                  <a:schemeClr val="bg1"/>
                </a:solidFill>
              </a:rPr>
              <a:t> Defense – Packet </a:t>
            </a:r>
            <a:r>
              <a:rPr lang="de-DE" sz="5400" dirty="0" err="1">
                <a:solidFill>
                  <a:schemeClr val="bg1"/>
                </a:solidFill>
              </a:rPr>
              <a:t>Anomaly</a:t>
            </a:r>
            <a:endParaRPr lang="de-BE" sz="5400" dirty="0">
              <a:solidFill>
                <a:schemeClr val="bg1"/>
              </a:solidFill>
            </a:endParaRPr>
          </a:p>
        </p:txBody>
      </p:sp>
      <p:sp>
        <p:nvSpPr>
          <p:cNvPr id="3090" name="sketchy line">
            <a:extLst>
              <a:ext uri="{FF2B5EF4-FFF2-40B4-BE49-F238E27FC236}">
                <a16:creationId xmlns:a16="http://schemas.microsoft.com/office/drawing/2014/main" id="{A257C652-1EB3-3CF1-80A2-0A8C59F6C8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14399" y="1681544"/>
            <a:ext cx="9692640" cy="18288"/>
          </a:xfrm>
          <a:custGeom>
            <a:avLst/>
            <a:gdLst>
              <a:gd name="csX0" fmla="*/ 0 w 9692640"/>
              <a:gd name="csY0" fmla="*/ 0 h 18288"/>
              <a:gd name="csX1" fmla="*/ 401552 w 9692640"/>
              <a:gd name="csY1" fmla="*/ 0 h 18288"/>
              <a:gd name="csX2" fmla="*/ 996957 w 9692640"/>
              <a:gd name="csY2" fmla="*/ 0 h 18288"/>
              <a:gd name="csX3" fmla="*/ 1398509 w 9692640"/>
              <a:gd name="csY3" fmla="*/ 0 h 18288"/>
              <a:gd name="csX4" fmla="*/ 2090841 w 9692640"/>
              <a:gd name="csY4" fmla="*/ 0 h 18288"/>
              <a:gd name="csX5" fmla="*/ 2686246 w 9692640"/>
              <a:gd name="csY5" fmla="*/ 0 h 18288"/>
              <a:gd name="csX6" fmla="*/ 3475504 w 9692640"/>
              <a:gd name="csY6" fmla="*/ 0 h 18288"/>
              <a:gd name="csX7" fmla="*/ 4361688 w 9692640"/>
              <a:gd name="csY7" fmla="*/ 0 h 18288"/>
              <a:gd name="csX8" fmla="*/ 5054019 w 9692640"/>
              <a:gd name="csY8" fmla="*/ 0 h 18288"/>
              <a:gd name="csX9" fmla="*/ 5940204 w 9692640"/>
              <a:gd name="csY9" fmla="*/ 0 h 18288"/>
              <a:gd name="csX10" fmla="*/ 6632535 w 9692640"/>
              <a:gd name="csY10" fmla="*/ 0 h 18288"/>
              <a:gd name="csX11" fmla="*/ 7034087 w 9692640"/>
              <a:gd name="csY11" fmla="*/ 0 h 18288"/>
              <a:gd name="csX12" fmla="*/ 7532566 w 9692640"/>
              <a:gd name="csY12" fmla="*/ 0 h 18288"/>
              <a:gd name="csX13" fmla="*/ 8418750 w 9692640"/>
              <a:gd name="csY13" fmla="*/ 0 h 18288"/>
              <a:gd name="csX14" fmla="*/ 9692640 w 9692640"/>
              <a:gd name="csY14" fmla="*/ 0 h 18288"/>
              <a:gd name="csX15" fmla="*/ 9692640 w 9692640"/>
              <a:gd name="csY15" fmla="*/ 18288 h 18288"/>
              <a:gd name="csX16" fmla="*/ 9000309 w 9692640"/>
              <a:gd name="csY16" fmla="*/ 18288 h 18288"/>
              <a:gd name="csX17" fmla="*/ 8307977 w 9692640"/>
              <a:gd name="csY17" fmla="*/ 18288 h 18288"/>
              <a:gd name="csX18" fmla="*/ 7712572 w 9692640"/>
              <a:gd name="csY18" fmla="*/ 18288 h 18288"/>
              <a:gd name="csX19" fmla="*/ 7214093 w 9692640"/>
              <a:gd name="csY19" fmla="*/ 18288 h 18288"/>
              <a:gd name="csX20" fmla="*/ 6327909 w 9692640"/>
              <a:gd name="csY20" fmla="*/ 18288 h 18288"/>
              <a:gd name="csX21" fmla="*/ 5635578 w 9692640"/>
              <a:gd name="csY21" fmla="*/ 18288 h 18288"/>
              <a:gd name="csX22" fmla="*/ 4846320 w 9692640"/>
              <a:gd name="csY22" fmla="*/ 18288 h 18288"/>
              <a:gd name="csX23" fmla="*/ 4444768 w 9692640"/>
              <a:gd name="csY23" fmla="*/ 18288 h 18288"/>
              <a:gd name="csX24" fmla="*/ 3946289 w 9692640"/>
              <a:gd name="csY24" fmla="*/ 18288 h 18288"/>
              <a:gd name="csX25" fmla="*/ 3253958 w 9692640"/>
              <a:gd name="csY25" fmla="*/ 18288 h 18288"/>
              <a:gd name="csX26" fmla="*/ 2464700 w 9692640"/>
              <a:gd name="csY26" fmla="*/ 18288 h 18288"/>
              <a:gd name="csX27" fmla="*/ 2063148 w 9692640"/>
              <a:gd name="csY27" fmla="*/ 18288 h 18288"/>
              <a:gd name="csX28" fmla="*/ 1661595 w 9692640"/>
              <a:gd name="csY28" fmla="*/ 18288 h 18288"/>
              <a:gd name="csX29" fmla="*/ 969264 w 9692640"/>
              <a:gd name="csY29" fmla="*/ 18288 h 18288"/>
              <a:gd name="csX30" fmla="*/ 0 w 9692640"/>
              <a:gd name="csY30" fmla="*/ 18288 h 18288"/>
              <a:gd name="csX31" fmla="*/ 0 w 9692640"/>
              <a:gd name="csY3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</a:cxnLst>
            <a:rect l="l" t="t" r="r" b="b"/>
            <a:pathLst>
              <a:path w="9692640" h="18288" fill="none" extrusionOk="0">
                <a:moveTo>
                  <a:pt x="0" y="0"/>
                </a:moveTo>
                <a:cubicBezTo>
                  <a:pt x="142992" y="4732"/>
                  <a:pt x="265909" y="-3365"/>
                  <a:pt x="401552" y="0"/>
                </a:cubicBezTo>
                <a:cubicBezTo>
                  <a:pt x="537195" y="3365"/>
                  <a:pt x="738153" y="6482"/>
                  <a:pt x="996957" y="0"/>
                </a:cubicBezTo>
                <a:cubicBezTo>
                  <a:pt x="1255762" y="-6482"/>
                  <a:pt x="1280511" y="12509"/>
                  <a:pt x="1398509" y="0"/>
                </a:cubicBezTo>
                <a:cubicBezTo>
                  <a:pt x="1516507" y="-12509"/>
                  <a:pt x="1782573" y="-31523"/>
                  <a:pt x="2090841" y="0"/>
                </a:cubicBezTo>
                <a:cubicBezTo>
                  <a:pt x="2399109" y="31523"/>
                  <a:pt x="2488380" y="26286"/>
                  <a:pt x="2686246" y="0"/>
                </a:cubicBezTo>
                <a:cubicBezTo>
                  <a:pt x="2884112" y="-26286"/>
                  <a:pt x="3186024" y="-14734"/>
                  <a:pt x="3475504" y="0"/>
                </a:cubicBezTo>
                <a:cubicBezTo>
                  <a:pt x="3764984" y="14734"/>
                  <a:pt x="4053017" y="43292"/>
                  <a:pt x="4361688" y="0"/>
                </a:cubicBezTo>
                <a:cubicBezTo>
                  <a:pt x="4670359" y="-43292"/>
                  <a:pt x="4736164" y="-729"/>
                  <a:pt x="5054019" y="0"/>
                </a:cubicBezTo>
                <a:cubicBezTo>
                  <a:pt x="5371874" y="729"/>
                  <a:pt x="5543528" y="-22963"/>
                  <a:pt x="5940204" y="0"/>
                </a:cubicBezTo>
                <a:cubicBezTo>
                  <a:pt x="6336881" y="22963"/>
                  <a:pt x="6423838" y="6469"/>
                  <a:pt x="6632535" y="0"/>
                </a:cubicBezTo>
                <a:cubicBezTo>
                  <a:pt x="6841232" y="-6469"/>
                  <a:pt x="6852819" y="17036"/>
                  <a:pt x="7034087" y="0"/>
                </a:cubicBezTo>
                <a:cubicBezTo>
                  <a:pt x="7215355" y="-17036"/>
                  <a:pt x="7313136" y="11151"/>
                  <a:pt x="7532566" y="0"/>
                </a:cubicBezTo>
                <a:cubicBezTo>
                  <a:pt x="7751996" y="-11151"/>
                  <a:pt x="8015001" y="25614"/>
                  <a:pt x="8418750" y="0"/>
                </a:cubicBezTo>
                <a:cubicBezTo>
                  <a:pt x="8822499" y="-25614"/>
                  <a:pt x="9163239" y="48603"/>
                  <a:pt x="9692640" y="0"/>
                </a:cubicBezTo>
                <a:cubicBezTo>
                  <a:pt x="9691955" y="4437"/>
                  <a:pt x="9693170" y="10717"/>
                  <a:pt x="9692640" y="18288"/>
                </a:cubicBezTo>
                <a:cubicBezTo>
                  <a:pt x="9545125" y="42172"/>
                  <a:pt x="9164259" y="6706"/>
                  <a:pt x="9000309" y="18288"/>
                </a:cubicBezTo>
                <a:cubicBezTo>
                  <a:pt x="8836359" y="29870"/>
                  <a:pt x="8521035" y="-14108"/>
                  <a:pt x="8307977" y="18288"/>
                </a:cubicBezTo>
                <a:cubicBezTo>
                  <a:pt x="8094919" y="50684"/>
                  <a:pt x="7881757" y="11235"/>
                  <a:pt x="7712572" y="18288"/>
                </a:cubicBezTo>
                <a:cubicBezTo>
                  <a:pt x="7543387" y="25341"/>
                  <a:pt x="7358861" y="20625"/>
                  <a:pt x="7214093" y="18288"/>
                </a:cubicBezTo>
                <a:cubicBezTo>
                  <a:pt x="7069325" y="15951"/>
                  <a:pt x="6523705" y="52160"/>
                  <a:pt x="6327909" y="18288"/>
                </a:cubicBezTo>
                <a:cubicBezTo>
                  <a:pt x="6132113" y="-15584"/>
                  <a:pt x="5923847" y="21204"/>
                  <a:pt x="5635578" y="18288"/>
                </a:cubicBezTo>
                <a:cubicBezTo>
                  <a:pt x="5347309" y="15372"/>
                  <a:pt x="5114749" y="50642"/>
                  <a:pt x="4846320" y="18288"/>
                </a:cubicBezTo>
                <a:cubicBezTo>
                  <a:pt x="4577891" y="-14066"/>
                  <a:pt x="4576701" y="1487"/>
                  <a:pt x="4444768" y="18288"/>
                </a:cubicBezTo>
                <a:cubicBezTo>
                  <a:pt x="4312835" y="35089"/>
                  <a:pt x="4112575" y="15158"/>
                  <a:pt x="3946289" y="18288"/>
                </a:cubicBezTo>
                <a:cubicBezTo>
                  <a:pt x="3780003" y="21418"/>
                  <a:pt x="3396009" y="18797"/>
                  <a:pt x="3253958" y="18288"/>
                </a:cubicBezTo>
                <a:cubicBezTo>
                  <a:pt x="3111907" y="17779"/>
                  <a:pt x="2760272" y="57223"/>
                  <a:pt x="2464700" y="18288"/>
                </a:cubicBezTo>
                <a:cubicBezTo>
                  <a:pt x="2169128" y="-20647"/>
                  <a:pt x="2232262" y="7960"/>
                  <a:pt x="2063148" y="18288"/>
                </a:cubicBezTo>
                <a:cubicBezTo>
                  <a:pt x="1894034" y="28616"/>
                  <a:pt x="1799338" y="3019"/>
                  <a:pt x="1661595" y="18288"/>
                </a:cubicBezTo>
                <a:cubicBezTo>
                  <a:pt x="1523852" y="33557"/>
                  <a:pt x="1113928" y="-4352"/>
                  <a:pt x="969264" y="18288"/>
                </a:cubicBezTo>
                <a:cubicBezTo>
                  <a:pt x="824600" y="40928"/>
                  <a:pt x="356149" y="-3128"/>
                  <a:pt x="0" y="18288"/>
                </a:cubicBezTo>
                <a:cubicBezTo>
                  <a:pt x="-540" y="12521"/>
                  <a:pt x="894" y="7749"/>
                  <a:pt x="0" y="0"/>
                </a:cubicBezTo>
                <a:close/>
              </a:path>
              <a:path w="9692640" h="18288" stroke="0" extrusionOk="0">
                <a:moveTo>
                  <a:pt x="0" y="0"/>
                </a:moveTo>
                <a:cubicBezTo>
                  <a:pt x="162642" y="3864"/>
                  <a:pt x="346119" y="-18364"/>
                  <a:pt x="498479" y="0"/>
                </a:cubicBezTo>
                <a:cubicBezTo>
                  <a:pt x="650839" y="18364"/>
                  <a:pt x="712065" y="-9389"/>
                  <a:pt x="900031" y="0"/>
                </a:cubicBezTo>
                <a:cubicBezTo>
                  <a:pt x="1087997" y="9389"/>
                  <a:pt x="1177291" y="3685"/>
                  <a:pt x="1398509" y="0"/>
                </a:cubicBezTo>
                <a:cubicBezTo>
                  <a:pt x="1619727" y="-3685"/>
                  <a:pt x="1874008" y="-8897"/>
                  <a:pt x="2090841" y="0"/>
                </a:cubicBezTo>
                <a:cubicBezTo>
                  <a:pt x="2307674" y="8897"/>
                  <a:pt x="2573432" y="-313"/>
                  <a:pt x="2880099" y="0"/>
                </a:cubicBezTo>
                <a:cubicBezTo>
                  <a:pt x="3186766" y="313"/>
                  <a:pt x="3422577" y="10664"/>
                  <a:pt x="3766283" y="0"/>
                </a:cubicBezTo>
                <a:cubicBezTo>
                  <a:pt x="4109989" y="-10664"/>
                  <a:pt x="4342683" y="-32873"/>
                  <a:pt x="4652467" y="0"/>
                </a:cubicBezTo>
                <a:cubicBezTo>
                  <a:pt x="4962251" y="32873"/>
                  <a:pt x="5122120" y="29155"/>
                  <a:pt x="5247872" y="0"/>
                </a:cubicBezTo>
                <a:cubicBezTo>
                  <a:pt x="5373625" y="-29155"/>
                  <a:pt x="5749491" y="1706"/>
                  <a:pt x="6037130" y="0"/>
                </a:cubicBezTo>
                <a:cubicBezTo>
                  <a:pt x="6324769" y="-1706"/>
                  <a:pt x="6531407" y="1172"/>
                  <a:pt x="6729461" y="0"/>
                </a:cubicBezTo>
                <a:cubicBezTo>
                  <a:pt x="6927515" y="-1172"/>
                  <a:pt x="7096794" y="-1520"/>
                  <a:pt x="7324867" y="0"/>
                </a:cubicBezTo>
                <a:cubicBezTo>
                  <a:pt x="7552940" y="1520"/>
                  <a:pt x="7878827" y="-17110"/>
                  <a:pt x="8114124" y="0"/>
                </a:cubicBezTo>
                <a:cubicBezTo>
                  <a:pt x="8349421" y="17110"/>
                  <a:pt x="8334208" y="15114"/>
                  <a:pt x="8515677" y="0"/>
                </a:cubicBezTo>
                <a:cubicBezTo>
                  <a:pt x="8697146" y="-15114"/>
                  <a:pt x="9236164" y="22466"/>
                  <a:pt x="9692640" y="0"/>
                </a:cubicBezTo>
                <a:cubicBezTo>
                  <a:pt x="9692735" y="8251"/>
                  <a:pt x="9692514" y="12333"/>
                  <a:pt x="9692640" y="18288"/>
                </a:cubicBezTo>
                <a:cubicBezTo>
                  <a:pt x="9410102" y="47398"/>
                  <a:pt x="9172773" y="7109"/>
                  <a:pt x="9000309" y="18288"/>
                </a:cubicBezTo>
                <a:cubicBezTo>
                  <a:pt x="8827845" y="29467"/>
                  <a:pt x="8713608" y="28372"/>
                  <a:pt x="8501830" y="18288"/>
                </a:cubicBezTo>
                <a:cubicBezTo>
                  <a:pt x="8290052" y="8204"/>
                  <a:pt x="7893416" y="3561"/>
                  <a:pt x="7712572" y="18288"/>
                </a:cubicBezTo>
                <a:cubicBezTo>
                  <a:pt x="7531728" y="33015"/>
                  <a:pt x="7480716" y="17052"/>
                  <a:pt x="7311020" y="18288"/>
                </a:cubicBezTo>
                <a:cubicBezTo>
                  <a:pt x="7141324" y="19524"/>
                  <a:pt x="6962706" y="15975"/>
                  <a:pt x="6618688" y="18288"/>
                </a:cubicBezTo>
                <a:cubicBezTo>
                  <a:pt x="6274670" y="20601"/>
                  <a:pt x="6230664" y="-1692"/>
                  <a:pt x="6120210" y="18288"/>
                </a:cubicBezTo>
                <a:cubicBezTo>
                  <a:pt x="6009756" y="38268"/>
                  <a:pt x="5442516" y="28115"/>
                  <a:pt x="5234026" y="18288"/>
                </a:cubicBezTo>
                <a:cubicBezTo>
                  <a:pt x="5025536" y="8461"/>
                  <a:pt x="4953693" y="18182"/>
                  <a:pt x="4832473" y="18288"/>
                </a:cubicBezTo>
                <a:cubicBezTo>
                  <a:pt x="4711253" y="18394"/>
                  <a:pt x="4414565" y="-11251"/>
                  <a:pt x="4140142" y="18288"/>
                </a:cubicBezTo>
                <a:cubicBezTo>
                  <a:pt x="3865719" y="47827"/>
                  <a:pt x="3819081" y="16772"/>
                  <a:pt x="3738590" y="18288"/>
                </a:cubicBezTo>
                <a:cubicBezTo>
                  <a:pt x="3658099" y="19804"/>
                  <a:pt x="3427576" y="1385"/>
                  <a:pt x="3240111" y="18288"/>
                </a:cubicBezTo>
                <a:cubicBezTo>
                  <a:pt x="3052646" y="35191"/>
                  <a:pt x="2749652" y="-13914"/>
                  <a:pt x="2450853" y="18288"/>
                </a:cubicBezTo>
                <a:cubicBezTo>
                  <a:pt x="2152054" y="50490"/>
                  <a:pt x="1928331" y="61101"/>
                  <a:pt x="1564669" y="18288"/>
                </a:cubicBezTo>
                <a:cubicBezTo>
                  <a:pt x="1201007" y="-24525"/>
                  <a:pt x="1217828" y="-275"/>
                  <a:pt x="1066190" y="18288"/>
                </a:cubicBezTo>
                <a:cubicBezTo>
                  <a:pt x="914552" y="36851"/>
                  <a:pt x="418290" y="-14785"/>
                  <a:pt x="0" y="18288"/>
                </a:cubicBezTo>
                <a:cubicBezTo>
                  <a:pt x="641" y="14236"/>
                  <a:pt x="889" y="7550"/>
                  <a:pt x="0" y="0"/>
                </a:cubicBezTo>
                <a:close/>
              </a:path>
            </a:pathLst>
          </a:custGeom>
          <a:solidFill>
            <a:srgbClr val="FFFFFF">
              <a:alpha val="75000"/>
            </a:srgbClr>
          </a:solidFill>
          <a:ln w="44450" cap="rnd">
            <a:solidFill>
              <a:schemeClr val="bg1">
                <a:alpha val="75000"/>
              </a:schemeClr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690674E7-5680-E986-BAD2-D9D7ECE4CE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004446"/>
            <a:ext cx="10515600" cy="417689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de-DE" sz="2200" dirty="0">
                <a:solidFill>
                  <a:schemeClr val="bg1"/>
                </a:solidFill>
              </a:rPr>
              <a:t>Blockiert TCP – Scans</a:t>
            </a:r>
          </a:p>
          <a:p>
            <a:pPr marL="0" indent="0">
              <a:buNone/>
            </a:pPr>
            <a:endParaRPr lang="de-DE" sz="2200" dirty="0">
              <a:solidFill>
                <a:schemeClr val="bg1"/>
              </a:solidFill>
            </a:endParaRPr>
          </a:p>
          <a:p>
            <a:pPr>
              <a:buFontTx/>
              <a:buChar char="-"/>
            </a:pPr>
            <a:r>
              <a:rPr lang="de-DE" sz="2200" dirty="0">
                <a:solidFill>
                  <a:schemeClr val="bg1"/>
                </a:solidFill>
              </a:rPr>
              <a:t>Irreguläre Flags (Stealth FIN / </a:t>
            </a:r>
            <a:r>
              <a:rPr lang="de-DE" sz="2200" dirty="0" err="1">
                <a:solidFill>
                  <a:schemeClr val="bg1"/>
                </a:solidFill>
              </a:rPr>
              <a:t>Xmas</a:t>
            </a:r>
            <a:r>
              <a:rPr lang="de-DE" sz="2200" dirty="0">
                <a:solidFill>
                  <a:schemeClr val="bg1"/>
                </a:solidFill>
              </a:rPr>
              <a:t> / Null)</a:t>
            </a:r>
          </a:p>
          <a:p>
            <a:pPr>
              <a:buFontTx/>
              <a:buChar char="-"/>
            </a:pPr>
            <a:r>
              <a:rPr lang="de-DE" sz="2200" dirty="0">
                <a:solidFill>
                  <a:schemeClr val="bg1"/>
                </a:solidFill>
              </a:rPr>
              <a:t>RST – Check auf TCP Responses</a:t>
            </a:r>
          </a:p>
          <a:p>
            <a:pPr>
              <a:buFontTx/>
              <a:buChar char="-"/>
            </a:pPr>
            <a:r>
              <a:rPr lang="de-DE" sz="2200" dirty="0">
                <a:solidFill>
                  <a:schemeClr val="bg1"/>
                </a:solidFill>
              </a:rPr>
              <a:t>Ping </a:t>
            </a:r>
            <a:r>
              <a:rPr lang="de-DE" sz="2200" dirty="0" err="1">
                <a:solidFill>
                  <a:schemeClr val="bg1"/>
                </a:solidFill>
              </a:rPr>
              <a:t>of</a:t>
            </a:r>
            <a:r>
              <a:rPr lang="de-DE" sz="2200" dirty="0">
                <a:solidFill>
                  <a:schemeClr val="bg1"/>
                </a:solidFill>
              </a:rPr>
              <a:t> Death (riesiges ICMP-Paket)</a:t>
            </a:r>
          </a:p>
          <a:p>
            <a:pPr>
              <a:buFontTx/>
              <a:buChar char="-"/>
            </a:pPr>
            <a:r>
              <a:rPr lang="de-DE" sz="2200" dirty="0">
                <a:solidFill>
                  <a:schemeClr val="bg1"/>
                </a:solidFill>
              </a:rPr>
              <a:t>Large Ping (ICMP-Paket einer bestimmten Größe)</a:t>
            </a:r>
          </a:p>
          <a:p>
            <a:pPr>
              <a:buFontTx/>
              <a:buChar char="-"/>
            </a:pPr>
            <a:r>
              <a:rPr lang="de-DE" sz="2200" dirty="0">
                <a:solidFill>
                  <a:schemeClr val="bg1"/>
                </a:solidFill>
              </a:rPr>
              <a:t>Ping aus dem WAN</a:t>
            </a:r>
          </a:p>
          <a:p>
            <a:pPr>
              <a:buFontTx/>
              <a:buChar char="-"/>
            </a:pPr>
            <a:r>
              <a:rPr lang="de-DE" sz="2200" dirty="0" err="1">
                <a:solidFill>
                  <a:schemeClr val="bg1"/>
                </a:solidFill>
              </a:rPr>
              <a:t>WinNuke</a:t>
            </a:r>
            <a:r>
              <a:rPr lang="de-DE" sz="2200" dirty="0">
                <a:solidFill>
                  <a:schemeClr val="bg1"/>
                </a:solidFill>
              </a:rPr>
              <a:t> (0xFF Paket an Port 139 – </a:t>
            </a:r>
            <a:r>
              <a:rPr lang="de-DE" sz="2200" dirty="0" err="1">
                <a:solidFill>
                  <a:schemeClr val="bg1"/>
                </a:solidFill>
              </a:rPr>
              <a:t>pre</a:t>
            </a:r>
            <a:r>
              <a:rPr lang="de-DE" sz="2200" dirty="0">
                <a:solidFill>
                  <a:schemeClr val="bg1"/>
                </a:solidFill>
              </a:rPr>
              <a:t> 2000 OS)</a:t>
            </a:r>
          </a:p>
          <a:p>
            <a:pPr>
              <a:buFontTx/>
              <a:buChar char="-"/>
            </a:pPr>
            <a:r>
              <a:rPr lang="de-DE" sz="2200" dirty="0">
                <a:solidFill>
                  <a:schemeClr val="bg1"/>
                </a:solidFill>
              </a:rPr>
              <a:t>Pakete mit bestimmten Bits und/oder Optionen)</a:t>
            </a:r>
          </a:p>
        </p:txBody>
      </p:sp>
      <p:pic>
        <p:nvPicPr>
          <p:cNvPr id="5" name="Grafik 4" descr="Ein Bild, das Text, Screenshot, Schrift, Dokument enthält.&#10;&#10;KI-generierte Inhalte können fehlerhaft sein.">
            <a:extLst>
              <a:ext uri="{FF2B5EF4-FFF2-40B4-BE49-F238E27FC236}">
                <a16:creationId xmlns:a16="http://schemas.microsoft.com/office/drawing/2014/main" id="{4DC2089A-03BA-9790-ACDD-37D60F4F7A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02002" y="2004446"/>
            <a:ext cx="3553321" cy="4176897"/>
          </a:xfrm>
          <a:prstGeom prst="rect">
            <a:avLst/>
          </a:prstGeom>
        </p:spPr>
      </p:pic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37CD90B7-34E2-3F96-8680-226F9E18C0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FB693C-3D3E-4164-9FC0-E9F6868342D2}" type="slidenum">
              <a:rPr lang="de-BE" smtClean="0"/>
              <a:t>5</a:t>
            </a:fld>
            <a:endParaRPr lang="de-BE"/>
          </a:p>
        </p:txBody>
      </p:sp>
    </p:spTree>
    <p:extLst>
      <p:ext uri="{BB962C8B-B14F-4D97-AF65-F5344CB8AC3E}">
        <p14:creationId xmlns:p14="http://schemas.microsoft.com/office/powerpoint/2010/main" val="28210574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0116DAE-F732-1A88-B29E-721E19EB6D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9" name="Rectangle 3080">
            <a:extLst>
              <a:ext uri="{FF2B5EF4-FFF2-40B4-BE49-F238E27FC236}">
                <a16:creationId xmlns:a16="http://schemas.microsoft.com/office/drawing/2014/main" id="{3C2632C6-9BCC-442C-C9EF-B9D90EFBB8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076" name="Picture 4" descr="Rethinking Firewall and Proxy Management for Enterprise Agility">
            <a:extLst>
              <a:ext uri="{FF2B5EF4-FFF2-40B4-BE49-F238E27FC236}">
                <a16:creationId xmlns:a16="http://schemas.microsoft.com/office/drawing/2014/main" id="{AB54D788-27E4-177D-52DF-E8DE375FA6E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alphaModFix amt="4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" y="10"/>
            <a:ext cx="12191979" cy="685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84159955-E5A9-65EC-E047-30E7FACC0E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de-DE" sz="5400" dirty="0">
                <a:solidFill>
                  <a:schemeClr val="bg1"/>
                </a:solidFill>
              </a:rPr>
              <a:t>MAC </a:t>
            </a:r>
            <a:r>
              <a:rPr lang="de-DE" sz="5400" dirty="0" err="1">
                <a:solidFill>
                  <a:schemeClr val="bg1"/>
                </a:solidFill>
              </a:rPr>
              <a:t>Filtering</a:t>
            </a:r>
            <a:endParaRPr lang="de-BE" sz="5400" dirty="0">
              <a:solidFill>
                <a:schemeClr val="bg1"/>
              </a:solidFill>
            </a:endParaRPr>
          </a:p>
        </p:txBody>
      </p:sp>
      <p:sp>
        <p:nvSpPr>
          <p:cNvPr id="3090" name="sketchy line">
            <a:extLst>
              <a:ext uri="{FF2B5EF4-FFF2-40B4-BE49-F238E27FC236}">
                <a16:creationId xmlns:a16="http://schemas.microsoft.com/office/drawing/2014/main" id="{63A56072-C3BE-4B63-7C1C-DF46DEFD42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14399" y="1681544"/>
            <a:ext cx="9692640" cy="18288"/>
          </a:xfrm>
          <a:custGeom>
            <a:avLst/>
            <a:gdLst>
              <a:gd name="csX0" fmla="*/ 0 w 9692640"/>
              <a:gd name="csY0" fmla="*/ 0 h 18288"/>
              <a:gd name="csX1" fmla="*/ 401552 w 9692640"/>
              <a:gd name="csY1" fmla="*/ 0 h 18288"/>
              <a:gd name="csX2" fmla="*/ 996957 w 9692640"/>
              <a:gd name="csY2" fmla="*/ 0 h 18288"/>
              <a:gd name="csX3" fmla="*/ 1398509 w 9692640"/>
              <a:gd name="csY3" fmla="*/ 0 h 18288"/>
              <a:gd name="csX4" fmla="*/ 2090841 w 9692640"/>
              <a:gd name="csY4" fmla="*/ 0 h 18288"/>
              <a:gd name="csX5" fmla="*/ 2686246 w 9692640"/>
              <a:gd name="csY5" fmla="*/ 0 h 18288"/>
              <a:gd name="csX6" fmla="*/ 3475504 w 9692640"/>
              <a:gd name="csY6" fmla="*/ 0 h 18288"/>
              <a:gd name="csX7" fmla="*/ 4361688 w 9692640"/>
              <a:gd name="csY7" fmla="*/ 0 h 18288"/>
              <a:gd name="csX8" fmla="*/ 5054019 w 9692640"/>
              <a:gd name="csY8" fmla="*/ 0 h 18288"/>
              <a:gd name="csX9" fmla="*/ 5940204 w 9692640"/>
              <a:gd name="csY9" fmla="*/ 0 h 18288"/>
              <a:gd name="csX10" fmla="*/ 6632535 w 9692640"/>
              <a:gd name="csY10" fmla="*/ 0 h 18288"/>
              <a:gd name="csX11" fmla="*/ 7034087 w 9692640"/>
              <a:gd name="csY11" fmla="*/ 0 h 18288"/>
              <a:gd name="csX12" fmla="*/ 7532566 w 9692640"/>
              <a:gd name="csY12" fmla="*/ 0 h 18288"/>
              <a:gd name="csX13" fmla="*/ 8418750 w 9692640"/>
              <a:gd name="csY13" fmla="*/ 0 h 18288"/>
              <a:gd name="csX14" fmla="*/ 9692640 w 9692640"/>
              <a:gd name="csY14" fmla="*/ 0 h 18288"/>
              <a:gd name="csX15" fmla="*/ 9692640 w 9692640"/>
              <a:gd name="csY15" fmla="*/ 18288 h 18288"/>
              <a:gd name="csX16" fmla="*/ 9000309 w 9692640"/>
              <a:gd name="csY16" fmla="*/ 18288 h 18288"/>
              <a:gd name="csX17" fmla="*/ 8307977 w 9692640"/>
              <a:gd name="csY17" fmla="*/ 18288 h 18288"/>
              <a:gd name="csX18" fmla="*/ 7712572 w 9692640"/>
              <a:gd name="csY18" fmla="*/ 18288 h 18288"/>
              <a:gd name="csX19" fmla="*/ 7214093 w 9692640"/>
              <a:gd name="csY19" fmla="*/ 18288 h 18288"/>
              <a:gd name="csX20" fmla="*/ 6327909 w 9692640"/>
              <a:gd name="csY20" fmla="*/ 18288 h 18288"/>
              <a:gd name="csX21" fmla="*/ 5635578 w 9692640"/>
              <a:gd name="csY21" fmla="*/ 18288 h 18288"/>
              <a:gd name="csX22" fmla="*/ 4846320 w 9692640"/>
              <a:gd name="csY22" fmla="*/ 18288 h 18288"/>
              <a:gd name="csX23" fmla="*/ 4444768 w 9692640"/>
              <a:gd name="csY23" fmla="*/ 18288 h 18288"/>
              <a:gd name="csX24" fmla="*/ 3946289 w 9692640"/>
              <a:gd name="csY24" fmla="*/ 18288 h 18288"/>
              <a:gd name="csX25" fmla="*/ 3253958 w 9692640"/>
              <a:gd name="csY25" fmla="*/ 18288 h 18288"/>
              <a:gd name="csX26" fmla="*/ 2464700 w 9692640"/>
              <a:gd name="csY26" fmla="*/ 18288 h 18288"/>
              <a:gd name="csX27" fmla="*/ 2063148 w 9692640"/>
              <a:gd name="csY27" fmla="*/ 18288 h 18288"/>
              <a:gd name="csX28" fmla="*/ 1661595 w 9692640"/>
              <a:gd name="csY28" fmla="*/ 18288 h 18288"/>
              <a:gd name="csX29" fmla="*/ 969264 w 9692640"/>
              <a:gd name="csY29" fmla="*/ 18288 h 18288"/>
              <a:gd name="csX30" fmla="*/ 0 w 9692640"/>
              <a:gd name="csY30" fmla="*/ 18288 h 18288"/>
              <a:gd name="csX31" fmla="*/ 0 w 9692640"/>
              <a:gd name="csY3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</a:cxnLst>
            <a:rect l="l" t="t" r="r" b="b"/>
            <a:pathLst>
              <a:path w="9692640" h="18288" fill="none" extrusionOk="0">
                <a:moveTo>
                  <a:pt x="0" y="0"/>
                </a:moveTo>
                <a:cubicBezTo>
                  <a:pt x="142992" y="4732"/>
                  <a:pt x="265909" y="-3365"/>
                  <a:pt x="401552" y="0"/>
                </a:cubicBezTo>
                <a:cubicBezTo>
                  <a:pt x="537195" y="3365"/>
                  <a:pt x="738153" y="6482"/>
                  <a:pt x="996957" y="0"/>
                </a:cubicBezTo>
                <a:cubicBezTo>
                  <a:pt x="1255762" y="-6482"/>
                  <a:pt x="1280511" y="12509"/>
                  <a:pt x="1398509" y="0"/>
                </a:cubicBezTo>
                <a:cubicBezTo>
                  <a:pt x="1516507" y="-12509"/>
                  <a:pt x="1782573" y="-31523"/>
                  <a:pt x="2090841" y="0"/>
                </a:cubicBezTo>
                <a:cubicBezTo>
                  <a:pt x="2399109" y="31523"/>
                  <a:pt x="2488380" y="26286"/>
                  <a:pt x="2686246" y="0"/>
                </a:cubicBezTo>
                <a:cubicBezTo>
                  <a:pt x="2884112" y="-26286"/>
                  <a:pt x="3186024" y="-14734"/>
                  <a:pt x="3475504" y="0"/>
                </a:cubicBezTo>
                <a:cubicBezTo>
                  <a:pt x="3764984" y="14734"/>
                  <a:pt x="4053017" y="43292"/>
                  <a:pt x="4361688" y="0"/>
                </a:cubicBezTo>
                <a:cubicBezTo>
                  <a:pt x="4670359" y="-43292"/>
                  <a:pt x="4736164" y="-729"/>
                  <a:pt x="5054019" y="0"/>
                </a:cubicBezTo>
                <a:cubicBezTo>
                  <a:pt x="5371874" y="729"/>
                  <a:pt x="5543528" y="-22963"/>
                  <a:pt x="5940204" y="0"/>
                </a:cubicBezTo>
                <a:cubicBezTo>
                  <a:pt x="6336881" y="22963"/>
                  <a:pt x="6423838" y="6469"/>
                  <a:pt x="6632535" y="0"/>
                </a:cubicBezTo>
                <a:cubicBezTo>
                  <a:pt x="6841232" y="-6469"/>
                  <a:pt x="6852819" y="17036"/>
                  <a:pt x="7034087" y="0"/>
                </a:cubicBezTo>
                <a:cubicBezTo>
                  <a:pt x="7215355" y="-17036"/>
                  <a:pt x="7313136" y="11151"/>
                  <a:pt x="7532566" y="0"/>
                </a:cubicBezTo>
                <a:cubicBezTo>
                  <a:pt x="7751996" y="-11151"/>
                  <a:pt x="8015001" y="25614"/>
                  <a:pt x="8418750" y="0"/>
                </a:cubicBezTo>
                <a:cubicBezTo>
                  <a:pt x="8822499" y="-25614"/>
                  <a:pt x="9163239" y="48603"/>
                  <a:pt x="9692640" y="0"/>
                </a:cubicBezTo>
                <a:cubicBezTo>
                  <a:pt x="9691955" y="4437"/>
                  <a:pt x="9693170" y="10717"/>
                  <a:pt x="9692640" y="18288"/>
                </a:cubicBezTo>
                <a:cubicBezTo>
                  <a:pt x="9545125" y="42172"/>
                  <a:pt x="9164259" y="6706"/>
                  <a:pt x="9000309" y="18288"/>
                </a:cubicBezTo>
                <a:cubicBezTo>
                  <a:pt x="8836359" y="29870"/>
                  <a:pt x="8521035" y="-14108"/>
                  <a:pt x="8307977" y="18288"/>
                </a:cubicBezTo>
                <a:cubicBezTo>
                  <a:pt x="8094919" y="50684"/>
                  <a:pt x="7881757" y="11235"/>
                  <a:pt x="7712572" y="18288"/>
                </a:cubicBezTo>
                <a:cubicBezTo>
                  <a:pt x="7543387" y="25341"/>
                  <a:pt x="7358861" y="20625"/>
                  <a:pt x="7214093" y="18288"/>
                </a:cubicBezTo>
                <a:cubicBezTo>
                  <a:pt x="7069325" y="15951"/>
                  <a:pt x="6523705" y="52160"/>
                  <a:pt x="6327909" y="18288"/>
                </a:cubicBezTo>
                <a:cubicBezTo>
                  <a:pt x="6132113" y="-15584"/>
                  <a:pt x="5923847" y="21204"/>
                  <a:pt x="5635578" y="18288"/>
                </a:cubicBezTo>
                <a:cubicBezTo>
                  <a:pt x="5347309" y="15372"/>
                  <a:pt x="5114749" y="50642"/>
                  <a:pt x="4846320" y="18288"/>
                </a:cubicBezTo>
                <a:cubicBezTo>
                  <a:pt x="4577891" y="-14066"/>
                  <a:pt x="4576701" y="1487"/>
                  <a:pt x="4444768" y="18288"/>
                </a:cubicBezTo>
                <a:cubicBezTo>
                  <a:pt x="4312835" y="35089"/>
                  <a:pt x="4112575" y="15158"/>
                  <a:pt x="3946289" y="18288"/>
                </a:cubicBezTo>
                <a:cubicBezTo>
                  <a:pt x="3780003" y="21418"/>
                  <a:pt x="3396009" y="18797"/>
                  <a:pt x="3253958" y="18288"/>
                </a:cubicBezTo>
                <a:cubicBezTo>
                  <a:pt x="3111907" y="17779"/>
                  <a:pt x="2760272" y="57223"/>
                  <a:pt x="2464700" y="18288"/>
                </a:cubicBezTo>
                <a:cubicBezTo>
                  <a:pt x="2169128" y="-20647"/>
                  <a:pt x="2232262" y="7960"/>
                  <a:pt x="2063148" y="18288"/>
                </a:cubicBezTo>
                <a:cubicBezTo>
                  <a:pt x="1894034" y="28616"/>
                  <a:pt x="1799338" y="3019"/>
                  <a:pt x="1661595" y="18288"/>
                </a:cubicBezTo>
                <a:cubicBezTo>
                  <a:pt x="1523852" y="33557"/>
                  <a:pt x="1113928" y="-4352"/>
                  <a:pt x="969264" y="18288"/>
                </a:cubicBezTo>
                <a:cubicBezTo>
                  <a:pt x="824600" y="40928"/>
                  <a:pt x="356149" y="-3128"/>
                  <a:pt x="0" y="18288"/>
                </a:cubicBezTo>
                <a:cubicBezTo>
                  <a:pt x="-540" y="12521"/>
                  <a:pt x="894" y="7749"/>
                  <a:pt x="0" y="0"/>
                </a:cubicBezTo>
                <a:close/>
              </a:path>
              <a:path w="9692640" h="18288" stroke="0" extrusionOk="0">
                <a:moveTo>
                  <a:pt x="0" y="0"/>
                </a:moveTo>
                <a:cubicBezTo>
                  <a:pt x="162642" y="3864"/>
                  <a:pt x="346119" y="-18364"/>
                  <a:pt x="498479" y="0"/>
                </a:cubicBezTo>
                <a:cubicBezTo>
                  <a:pt x="650839" y="18364"/>
                  <a:pt x="712065" y="-9389"/>
                  <a:pt x="900031" y="0"/>
                </a:cubicBezTo>
                <a:cubicBezTo>
                  <a:pt x="1087997" y="9389"/>
                  <a:pt x="1177291" y="3685"/>
                  <a:pt x="1398509" y="0"/>
                </a:cubicBezTo>
                <a:cubicBezTo>
                  <a:pt x="1619727" y="-3685"/>
                  <a:pt x="1874008" y="-8897"/>
                  <a:pt x="2090841" y="0"/>
                </a:cubicBezTo>
                <a:cubicBezTo>
                  <a:pt x="2307674" y="8897"/>
                  <a:pt x="2573432" y="-313"/>
                  <a:pt x="2880099" y="0"/>
                </a:cubicBezTo>
                <a:cubicBezTo>
                  <a:pt x="3186766" y="313"/>
                  <a:pt x="3422577" y="10664"/>
                  <a:pt x="3766283" y="0"/>
                </a:cubicBezTo>
                <a:cubicBezTo>
                  <a:pt x="4109989" y="-10664"/>
                  <a:pt x="4342683" y="-32873"/>
                  <a:pt x="4652467" y="0"/>
                </a:cubicBezTo>
                <a:cubicBezTo>
                  <a:pt x="4962251" y="32873"/>
                  <a:pt x="5122120" y="29155"/>
                  <a:pt x="5247872" y="0"/>
                </a:cubicBezTo>
                <a:cubicBezTo>
                  <a:pt x="5373625" y="-29155"/>
                  <a:pt x="5749491" y="1706"/>
                  <a:pt x="6037130" y="0"/>
                </a:cubicBezTo>
                <a:cubicBezTo>
                  <a:pt x="6324769" y="-1706"/>
                  <a:pt x="6531407" y="1172"/>
                  <a:pt x="6729461" y="0"/>
                </a:cubicBezTo>
                <a:cubicBezTo>
                  <a:pt x="6927515" y="-1172"/>
                  <a:pt x="7096794" y="-1520"/>
                  <a:pt x="7324867" y="0"/>
                </a:cubicBezTo>
                <a:cubicBezTo>
                  <a:pt x="7552940" y="1520"/>
                  <a:pt x="7878827" y="-17110"/>
                  <a:pt x="8114124" y="0"/>
                </a:cubicBezTo>
                <a:cubicBezTo>
                  <a:pt x="8349421" y="17110"/>
                  <a:pt x="8334208" y="15114"/>
                  <a:pt x="8515677" y="0"/>
                </a:cubicBezTo>
                <a:cubicBezTo>
                  <a:pt x="8697146" y="-15114"/>
                  <a:pt x="9236164" y="22466"/>
                  <a:pt x="9692640" y="0"/>
                </a:cubicBezTo>
                <a:cubicBezTo>
                  <a:pt x="9692735" y="8251"/>
                  <a:pt x="9692514" y="12333"/>
                  <a:pt x="9692640" y="18288"/>
                </a:cubicBezTo>
                <a:cubicBezTo>
                  <a:pt x="9410102" y="47398"/>
                  <a:pt x="9172773" y="7109"/>
                  <a:pt x="9000309" y="18288"/>
                </a:cubicBezTo>
                <a:cubicBezTo>
                  <a:pt x="8827845" y="29467"/>
                  <a:pt x="8713608" y="28372"/>
                  <a:pt x="8501830" y="18288"/>
                </a:cubicBezTo>
                <a:cubicBezTo>
                  <a:pt x="8290052" y="8204"/>
                  <a:pt x="7893416" y="3561"/>
                  <a:pt x="7712572" y="18288"/>
                </a:cubicBezTo>
                <a:cubicBezTo>
                  <a:pt x="7531728" y="33015"/>
                  <a:pt x="7480716" y="17052"/>
                  <a:pt x="7311020" y="18288"/>
                </a:cubicBezTo>
                <a:cubicBezTo>
                  <a:pt x="7141324" y="19524"/>
                  <a:pt x="6962706" y="15975"/>
                  <a:pt x="6618688" y="18288"/>
                </a:cubicBezTo>
                <a:cubicBezTo>
                  <a:pt x="6274670" y="20601"/>
                  <a:pt x="6230664" y="-1692"/>
                  <a:pt x="6120210" y="18288"/>
                </a:cubicBezTo>
                <a:cubicBezTo>
                  <a:pt x="6009756" y="38268"/>
                  <a:pt x="5442516" y="28115"/>
                  <a:pt x="5234026" y="18288"/>
                </a:cubicBezTo>
                <a:cubicBezTo>
                  <a:pt x="5025536" y="8461"/>
                  <a:pt x="4953693" y="18182"/>
                  <a:pt x="4832473" y="18288"/>
                </a:cubicBezTo>
                <a:cubicBezTo>
                  <a:pt x="4711253" y="18394"/>
                  <a:pt x="4414565" y="-11251"/>
                  <a:pt x="4140142" y="18288"/>
                </a:cubicBezTo>
                <a:cubicBezTo>
                  <a:pt x="3865719" y="47827"/>
                  <a:pt x="3819081" y="16772"/>
                  <a:pt x="3738590" y="18288"/>
                </a:cubicBezTo>
                <a:cubicBezTo>
                  <a:pt x="3658099" y="19804"/>
                  <a:pt x="3427576" y="1385"/>
                  <a:pt x="3240111" y="18288"/>
                </a:cubicBezTo>
                <a:cubicBezTo>
                  <a:pt x="3052646" y="35191"/>
                  <a:pt x="2749652" y="-13914"/>
                  <a:pt x="2450853" y="18288"/>
                </a:cubicBezTo>
                <a:cubicBezTo>
                  <a:pt x="2152054" y="50490"/>
                  <a:pt x="1928331" y="61101"/>
                  <a:pt x="1564669" y="18288"/>
                </a:cubicBezTo>
                <a:cubicBezTo>
                  <a:pt x="1201007" y="-24525"/>
                  <a:pt x="1217828" y="-275"/>
                  <a:pt x="1066190" y="18288"/>
                </a:cubicBezTo>
                <a:cubicBezTo>
                  <a:pt x="914552" y="36851"/>
                  <a:pt x="418290" y="-14785"/>
                  <a:pt x="0" y="18288"/>
                </a:cubicBezTo>
                <a:cubicBezTo>
                  <a:pt x="641" y="14236"/>
                  <a:pt x="889" y="7550"/>
                  <a:pt x="0" y="0"/>
                </a:cubicBezTo>
                <a:close/>
              </a:path>
            </a:pathLst>
          </a:custGeom>
          <a:solidFill>
            <a:srgbClr val="FFFFFF">
              <a:alpha val="75000"/>
            </a:srgbClr>
          </a:solidFill>
          <a:ln w="44450" cap="rnd">
            <a:solidFill>
              <a:schemeClr val="bg1">
                <a:alpha val="75000"/>
              </a:schemeClr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6036777C-CFB2-E3B6-240E-4F93F37FA5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004446"/>
            <a:ext cx="10515600" cy="4176897"/>
          </a:xfrm>
        </p:spPr>
        <p:txBody>
          <a:bodyPr>
            <a:normAutofit/>
          </a:bodyPr>
          <a:lstStyle/>
          <a:p>
            <a:pPr>
              <a:buFontTx/>
              <a:buChar char="-"/>
            </a:pPr>
            <a:r>
              <a:rPr lang="de-DE" sz="2200" dirty="0">
                <a:solidFill>
                  <a:schemeClr val="bg1"/>
                </a:solidFill>
              </a:rPr>
              <a:t>Steuert Netzzugang anhand von MAC Adressen</a:t>
            </a:r>
          </a:p>
          <a:p>
            <a:pPr>
              <a:buFontTx/>
              <a:buChar char="-"/>
            </a:pPr>
            <a:r>
              <a:rPr lang="de-DE" sz="2200" dirty="0">
                <a:solidFill>
                  <a:schemeClr val="bg1"/>
                </a:solidFill>
              </a:rPr>
              <a:t>Funktioniert sowohl via Blacklist als auch Whitelist</a:t>
            </a:r>
          </a:p>
          <a:p>
            <a:pPr>
              <a:buFontTx/>
              <a:buChar char="-"/>
            </a:pPr>
            <a:r>
              <a:rPr lang="de-DE" sz="2200" dirty="0">
                <a:solidFill>
                  <a:schemeClr val="bg1"/>
                </a:solidFill>
              </a:rPr>
              <a:t>Richtung kann bestimmt werden (LAN -&gt; WAN / WAN -&gt; LAN)</a:t>
            </a:r>
          </a:p>
          <a:p>
            <a:pPr>
              <a:buFontTx/>
              <a:buChar char="-"/>
            </a:pPr>
            <a:r>
              <a:rPr lang="de-DE" sz="2200" dirty="0">
                <a:solidFill>
                  <a:schemeClr val="bg1"/>
                </a:solidFill>
              </a:rPr>
              <a:t>Kann leicht durch MAC Spoofing ausgehebelt werden</a:t>
            </a:r>
          </a:p>
          <a:p>
            <a:pPr>
              <a:buFontTx/>
              <a:buChar char="-"/>
            </a:pPr>
            <a:r>
              <a:rPr lang="de-DE" sz="2200" dirty="0">
                <a:solidFill>
                  <a:schemeClr val="bg1"/>
                </a:solidFill>
              </a:rPr>
              <a:t>Hoher Pflegeaufwand</a:t>
            </a:r>
          </a:p>
          <a:p>
            <a:pPr>
              <a:buFontTx/>
              <a:buChar char="-"/>
            </a:pPr>
            <a:r>
              <a:rPr lang="de-DE" sz="2200" dirty="0">
                <a:solidFill>
                  <a:schemeClr val="bg1"/>
                </a:solidFill>
              </a:rPr>
              <a:t>Ergänzt VLAN-Segmentierung für Gästezugriff</a:t>
            </a:r>
          </a:p>
          <a:p>
            <a:pPr marL="0" indent="0">
              <a:buNone/>
            </a:pPr>
            <a:endParaRPr lang="de-DE" sz="2200" dirty="0">
              <a:solidFill>
                <a:schemeClr val="bg1"/>
              </a:solidFill>
            </a:endParaRP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6BF21557-220A-DB95-EB73-332A41D966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FB693C-3D3E-4164-9FC0-E9F6868342D2}" type="slidenum">
              <a:rPr lang="de-BE" smtClean="0"/>
              <a:t>6</a:t>
            </a:fld>
            <a:endParaRPr lang="de-BE"/>
          </a:p>
        </p:txBody>
      </p:sp>
    </p:spTree>
    <p:extLst>
      <p:ext uri="{BB962C8B-B14F-4D97-AF65-F5344CB8AC3E}">
        <p14:creationId xmlns:p14="http://schemas.microsoft.com/office/powerpoint/2010/main" val="91909901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05534EC-894D-7ABD-A40C-FE862D3E43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9" name="Rectangle 3080">
            <a:extLst>
              <a:ext uri="{FF2B5EF4-FFF2-40B4-BE49-F238E27FC236}">
                <a16:creationId xmlns:a16="http://schemas.microsoft.com/office/drawing/2014/main" id="{1CE90887-0931-86C9-7661-961B24D130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076" name="Picture 4" descr="Rethinking Firewall and Proxy Management for Enterprise Agility">
            <a:extLst>
              <a:ext uri="{FF2B5EF4-FFF2-40B4-BE49-F238E27FC236}">
                <a16:creationId xmlns:a16="http://schemas.microsoft.com/office/drawing/2014/main" id="{48A84CBF-93CE-6800-12CD-DAECA55EA03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alphaModFix amt="4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" y="10"/>
            <a:ext cx="12191979" cy="685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C7E47718-0742-FB46-2CA8-EC195BFE0A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de-DE" sz="5400" dirty="0">
                <a:solidFill>
                  <a:schemeClr val="bg1"/>
                </a:solidFill>
              </a:rPr>
              <a:t>Access Control List (ACL)</a:t>
            </a:r>
            <a:endParaRPr lang="de-BE" sz="5400" dirty="0">
              <a:solidFill>
                <a:schemeClr val="bg1"/>
              </a:solidFill>
            </a:endParaRPr>
          </a:p>
        </p:txBody>
      </p:sp>
      <p:sp>
        <p:nvSpPr>
          <p:cNvPr id="3090" name="sketchy line">
            <a:extLst>
              <a:ext uri="{FF2B5EF4-FFF2-40B4-BE49-F238E27FC236}">
                <a16:creationId xmlns:a16="http://schemas.microsoft.com/office/drawing/2014/main" id="{F306C6AB-9923-184A-194B-12B0650D27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14399" y="1681544"/>
            <a:ext cx="9692640" cy="18288"/>
          </a:xfrm>
          <a:custGeom>
            <a:avLst/>
            <a:gdLst>
              <a:gd name="csX0" fmla="*/ 0 w 9692640"/>
              <a:gd name="csY0" fmla="*/ 0 h 18288"/>
              <a:gd name="csX1" fmla="*/ 401552 w 9692640"/>
              <a:gd name="csY1" fmla="*/ 0 h 18288"/>
              <a:gd name="csX2" fmla="*/ 996957 w 9692640"/>
              <a:gd name="csY2" fmla="*/ 0 h 18288"/>
              <a:gd name="csX3" fmla="*/ 1398509 w 9692640"/>
              <a:gd name="csY3" fmla="*/ 0 h 18288"/>
              <a:gd name="csX4" fmla="*/ 2090841 w 9692640"/>
              <a:gd name="csY4" fmla="*/ 0 h 18288"/>
              <a:gd name="csX5" fmla="*/ 2686246 w 9692640"/>
              <a:gd name="csY5" fmla="*/ 0 h 18288"/>
              <a:gd name="csX6" fmla="*/ 3475504 w 9692640"/>
              <a:gd name="csY6" fmla="*/ 0 h 18288"/>
              <a:gd name="csX7" fmla="*/ 4361688 w 9692640"/>
              <a:gd name="csY7" fmla="*/ 0 h 18288"/>
              <a:gd name="csX8" fmla="*/ 5054019 w 9692640"/>
              <a:gd name="csY8" fmla="*/ 0 h 18288"/>
              <a:gd name="csX9" fmla="*/ 5940204 w 9692640"/>
              <a:gd name="csY9" fmla="*/ 0 h 18288"/>
              <a:gd name="csX10" fmla="*/ 6632535 w 9692640"/>
              <a:gd name="csY10" fmla="*/ 0 h 18288"/>
              <a:gd name="csX11" fmla="*/ 7034087 w 9692640"/>
              <a:gd name="csY11" fmla="*/ 0 h 18288"/>
              <a:gd name="csX12" fmla="*/ 7532566 w 9692640"/>
              <a:gd name="csY12" fmla="*/ 0 h 18288"/>
              <a:gd name="csX13" fmla="*/ 8418750 w 9692640"/>
              <a:gd name="csY13" fmla="*/ 0 h 18288"/>
              <a:gd name="csX14" fmla="*/ 9692640 w 9692640"/>
              <a:gd name="csY14" fmla="*/ 0 h 18288"/>
              <a:gd name="csX15" fmla="*/ 9692640 w 9692640"/>
              <a:gd name="csY15" fmla="*/ 18288 h 18288"/>
              <a:gd name="csX16" fmla="*/ 9000309 w 9692640"/>
              <a:gd name="csY16" fmla="*/ 18288 h 18288"/>
              <a:gd name="csX17" fmla="*/ 8307977 w 9692640"/>
              <a:gd name="csY17" fmla="*/ 18288 h 18288"/>
              <a:gd name="csX18" fmla="*/ 7712572 w 9692640"/>
              <a:gd name="csY18" fmla="*/ 18288 h 18288"/>
              <a:gd name="csX19" fmla="*/ 7214093 w 9692640"/>
              <a:gd name="csY19" fmla="*/ 18288 h 18288"/>
              <a:gd name="csX20" fmla="*/ 6327909 w 9692640"/>
              <a:gd name="csY20" fmla="*/ 18288 h 18288"/>
              <a:gd name="csX21" fmla="*/ 5635578 w 9692640"/>
              <a:gd name="csY21" fmla="*/ 18288 h 18288"/>
              <a:gd name="csX22" fmla="*/ 4846320 w 9692640"/>
              <a:gd name="csY22" fmla="*/ 18288 h 18288"/>
              <a:gd name="csX23" fmla="*/ 4444768 w 9692640"/>
              <a:gd name="csY23" fmla="*/ 18288 h 18288"/>
              <a:gd name="csX24" fmla="*/ 3946289 w 9692640"/>
              <a:gd name="csY24" fmla="*/ 18288 h 18288"/>
              <a:gd name="csX25" fmla="*/ 3253958 w 9692640"/>
              <a:gd name="csY25" fmla="*/ 18288 h 18288"/>
              <a:gd name="csX26" fmla="*/ 2464700 w 9692640"/>
              <a:gd name="csY26" fmla="*/ 18288 h 18288"/>
              <a:gd name="csX27" fmla="*/ 2063148 w 9692640"/>
              <a:gd name="csY27" fmla="*/ 18288 h 18288"/>
              <a:gd name="csX28" fmla="*/ 1661595 w 9692640"/>
              <a:gd name="csY28" fmla="*/ 18288 h 18288"/>
              <a:gd name="csX29" fmla="*/ 969264 w 9692640"/>
              <a:gd name="csY29" fmla="*/ 18288 h 18288"/>
              <a:gd name="csX30" fmla="*/ 0 w 9692640"/>
              <a:gd name="csY30" fmla="*/ 18288 h 18288"/>
              <a:gd name="csX31" fmla="*/ 0 w 9692640"/>
              <a:gd name="csY3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</a:cxnLst>
            <a:rect l="l" t="t" r="r" b="b"/>
            <a:pathLst>
              <a:path w="9692640" h="18288" fill="none" extrusionOk="0">
                <a:moveTo>
                  <a:pt x="0" y="0"/>
                </a:moveTo>
                <a:cubicBezTo>
                  <a:pt x="142992" y="4732"/>
                  <a:pt x="265909" y="-3365"/>
                  <a:pt x="401552" y="0"/>
                </a:cubicBezTo>
                <a:cubicBezTo>
                  <a:pt x="537195" y="3365"/>
                  <a:pt x="738153" y="6482"/>
                  <a:pt x="996957" y="0"/>
                </a:cubicBezTo>
                <a:cubicBezTo>
                  <a:pt x="1255762" y="-6482"/>
                  <a:pt x="1280511" y="12509"/>
                  <a:pt x="1398509" y="0"/>
                </a:cubicBezTo>
                <a:cubicBezTo>
                  <a:pt x="1516507" y="-12509"/>
                  <a:pt x="1782573" y="-31523"/>
                  <a:pt x="2090841" y="0"/>
                </a:cubicBezTo>
                <a:cubicBezTo>
                  <a:pt x="2399109" y="31523"/>
                  <a:pt x="2488380" y="26286"/>
                  <a:pt x="2686246" y="0"/>
                </a:cubicBezTo>
                <a:cubicBezTo>
                  <a:pt x="2884112" y="-26286"/>
                  <a:pt x="3186024" y="-14734"/>
                  <a:pt x="3475504" y="0"/>
                </a:cubicBezTo>
                <a:cubicBezTo>
                  <a:pt x="3764984" y="14734"/>
                  <a:pt x="4053017" y="43292"/>
                  <a:pt x="4361688" y="0"/>
                </a:cubicBezTo>
                <a:cubicBezTo>
                  <a:pt x="4670359" y="-43292"/>
                  <a:pt x="4736164" y="-729"/>
                  <a:pt x="5054019" y="0"/>
                </a:cubicBezTo>
                <a:cubicBezTo>
                  <a:pt x="5371874" y="729"/>
                  <a:pt x="5543528" y="-22963"/>
                  <a:pt x="5940204" y="0"/>
                </a:cubicBezTo>
                <a:cubicBezTo>
                  <a:pt x="6336881" y="22963"/>
                  <a:pt x="6423838" y="6469"/>
                  <a:pt x="6632535" y="0"/>
                </a:cubicBezTo>
                <a:cubicBezTo>
                  <a:pt x="6841232" y="-6469"/>
                  <a:pt x="6852819" y="17036"/>
                  <a:pt x="7034087" y="0"/>
                </a:cubicBezTo>
                <a:cubicBezTo>
                  <a:pt x="7215355" y="-17036"/>
                  <a:pt x="7313136" y="11151"/>
                  <a:pt x="7532566" y="0"/>
                </a:cubicBezTo>
                <a:cubicBezTo>
                  <a:pt x="7751996" y="-11151"/>
                  <a:pt x="8015001" y="25614"/>
                  <a:pt x="8418750" y="0"/>
                </a:cubicBezTo>
                <a:cubicBezTo>
                  <a:pt x="8822499" y="-25614"/>
                  <a:pt x="9163239" y="48603"/>
                  <a:pt x="9692640" y="0"/>
                </a:cubicBezTo>
                <a:cubicBezTo>
                  <a:pt x="9691955" y="4437"/>
                  <a:pt x="9693170" y="10717"/>
                  <a:pt x="9692640" y="18288"/>
                </a:cubicBezTo>
                <a:cubicBezTo>
                  <a:pt x="9545125" y="42172"/>
                  <a:pt x="9164259" y="6706"/>
                  <a:pt x="9000309" y="18288"/>
                </a:cubicBezTo>
                <a:cubicBezTo>
                  <a:pt x="8836359" y="29870"/>
                  <a:pt x="8521035" y="-14108"/>
                  <a:pt x="8307977" y="18288"/>
                </a:cubicBezTo>
                <a:cubicBezTo>
                  <a:pt x="8094919" y="50684"/>
                  <a:pt x="7881757" y="11235"/>
                  <a:pt x="7712572" y="18288"/>
                </a:cubicBezTo>
                <a:cubicBezTo>
                  <a:pt x="7543387" y="25341"/>
                  <a:pt x="7358861" y="20625"/>
                  <a:pt x="7214093" y="18288"/>
                </a:cubicBezTo>
                <a:cubicBezTo>
                  <a:pt x="7069325" y="15951"/>
                  <a:pt x="6523705" y="52160"/>
                  <a:pt x="6327909" y="18288"/>
                </a:cubicBezTo>
                <a:cubicBezTo>
                  <a:pt x="6132113" y="-15584"/>
                  <a:pt x="5923847" y="21204"/>
                  <a:pt x="5635578" y="18288"/>
                </a:cubicBezTo>
                <a:cubicBezTo>
                  <a:pt x="5347309" y="15372"/>
                  <a:pt x="5114749" y="50642"/>
                  <a:pt x="4846320" y="18288"/>
                </a:cubicBezTo>
                <a:cubicBezTo>
                  <a:pt x="4577891" y="-14066"/>
                  <a:pt x="4576701" y="1487"/>
                  <a:pt x="4444768" y="18288"/>
                </a:cubicBezTo>
                <a:cubicBezTo>
                  <a:pt x="4312835" y="35089"/>
                  <a:pt x="4112575" y="15158"/>
                  <a:pt x="3946289" y="18288"/>
                </a:cubicBezTo>
                <a:cubicBezTo>
                  <a:pt x="3780003" y="21418"/>
                  <a:pt x="3396009" y="18797"/>
                  <a:pt x="3253958" y="18288"/>
                </a:cubicBezTo>
                <a:cubicBezTo>
                  <a:pt x="3111907" y="17779"/>
                  <a:pt x="2760272" y="57223"/>
                  <a:pt x="2464700" y="18288"/>
                </a:cubicBezTo>
                <a:cubicBezTo>
                  <a:pt x="2169128" y="-20647"/>
                  <a:pt x="2232262" y="7960"/>
                  <a:pt x="2063148" y="18288"/>
                </a:cubicBezTo>
                <a:cubicBezTo>
                  <a:pt x="1894034" y="28616"/>
                  <a:pt x="1799338" y="3019"/>
                  <a:pt x="1661595" y="18288"/>
                </a:cubicBezTo>
                <a:cubicBezTo>
                  <a:pt x="1523852" y="33557"/>
                  <a:pt x="1113928" y="-4352"/>
                  <a:pt x="969264" y="18288"/>
                </a:cubicBezTo>
                <a:cubicBezTo>
                  <a:pt x="824600" y="40928"/>
                  <a:pt x="356149" y="-3128"/>
                  <a:pt x="0" y="18288"/>
                </a:cubicBezTo>
                <a:cubicBezTo>
                  <a:pt x="-540" y="12521"/>
                  <a:pt x="894" y="7749"/>
                  <a:pt x="0" y="0"/>
                </a:cubicBezTo>
                <a:close/>
              </a:path>
              <a:path w="9692640" h="18288" stroke="0" extrusionOk="0">
                <a:moveTo>
                  <a:pt x="0" y="0"/>
                </a:moveTo>
                <a:cubicBezTo>
                  <a:pt x="162642" y="3864"/>
                  <a:pt x="346119" y="-18364"/>
                  <a:pt x="498479" y="0"/>
                </a:cubicBezTo>
                <a:cubicBezTo>
                  <a:pt x="650839" y="18364"/>
                  <a:pt x="712065" y="-9389"/>
                  <a:pt x="900031" y="0"/>
                </a:cubicBezTo>
                <a:cubicBezTo>
                  <a:pt x="1087997" y="9389"/>
                  <a:pt x="1177291" y="3685"/>
                  <a:pt x="1398509" y="0"/>
                </a:cubicBezTo>
                <a:cubicBezTo>
                  <a:pt x="1619727" y="-3685"/>
                  <a:pt x="1874008" y="-8897"/>
                  <a:pt x="2090841" y="0"/>
                </a:cubicBezTo>
                <a:cubicBezTo>
                  <a:pt x="2307674" y="8897"/>
                  <a:pt x="2573432" y="-313"/>
                  <a:pt x="2880099" y="0"/>
                </a:cubicBezTo>
                <a:cubicBezTo>
                  <a:pt x="3186766" y="313"/>
                  <a:pt x="3422577" y="10664"/>
                  <a:pt x="3766283" y="0"/>
                </a:cubicBezTo>
                <a:cubicBezTo>
                  <a:pt x="4109989" y="-10664"/>
                  <a:pt x="4342683" y="-32873"/>
                  <a:pt x="4652467" y="0"/>
                </a:cubicBezTo>
                <a:cubicBezTo>
                  <a:pt x="4962251" y="32873"/>
                  <a:pt x="5122120" y="29155"/>
                  <a:pt x="5247872" y="0"/>
                </a:cubicBezTo>
                <a:cubicBezTo>
                  <a:pt x="5373625" y="-29155"/>
                  <a:pt x="5749491" y="1706"/>
                  <a:pt x="6037130" y="0"/>
                </a:cubicBezTo>
                <a:cubicBezTo>
                  <a:pt x="6324769" y="-1706"/>
                  <a:pt x="6531407" y="1172"/>
                  <a:pt x="6729461" y="0"/>
                </a:cubicBezTo>
                <a:cubicBezTo>
                  <a:pt x="6927515" y="-1172"/>
                  <a:pt x="7096794" y="-1520"/>
                  <a:pt x="7324867" y="0"/>
                </a:cubicBezTo>
                <a:cubicBezTo>
                  <a:pt x="7552940" y="1520"/>
                  <a:pt x="7878827" y="-17110"/>
                  <a:pt x="8114124" y="0"/>
                </a:cubicBezTo>
                <a:cubicBezTo>
                  <a:pt x="8349421" y="17110"/>
                  <a:pt x="8334208" y="15114"/>
                  <a:pt x="8515677" y="0"/>
                </a:cubicBezTo>
                <a:cubicBezTo>
                  <a:pt x="8697146" y="-15114"/>
                  <a:pt x="9236164" y="22466"/>
                  <a:pt x="9692640" y="0"/>
                </a:cubicBezTo>
                <a:cubicBezTo>
                  <a:pt x="9692735" y="8251"/>
                  <a:pt x="9692514" y="12333"/>
                  <a:pt x="9692640" y="18288"/>
                </a:cubicBezTo>
                <a:cubicBezTo>
                  <a:pt x="9410102" y="47398"/>
                  <a:pt x="9172773" y="7109"/>
                  <a:pt x="9000309" y="18288"/>
                </a:cubicBezTo>
                <a:cubicBezTo>
                  <a:pt x="8827845" y="29467"/>
                  <a:pt x="8713608" y="28372"/>
                  <a:pt x="8501830" y="18288"/>
                </a:cubicBezTo>
                <a:cubicBezTo>
                  <a:pt x="8290052" y="8204"/>
                  <a:pt x="7893416" y="3561"/>
                  <a:pt x="7712572" y="18288"/>
                </a:cubicBezTo>
                <a:cubicBezTo>
                  <a:pt x="7531728" y="33015"/>
                  <a:pt x="7480716" y="17052"/>
                  <a:pt x="7311020" y="18288"/>
                </a:cubicBezTo>
                <a:cubicBezTo>
                  <a:pt x="7141324" y="19524"/>
                  <a:pt x="6962706" y="15975"/>
                  <a:pt x="6618688" y="18288"/>
                </a:cubicBezTo>
                <a:cubicBezTo>
                  <a:pt x="6274670" y="20601"/>
                  <a:pt x="6230664" y="-1692"/>
                  <a:pt x="6120210" y="18288"/>
                </a:cubicBezTo>
                <a:cubicBezTo>
                  <a:pt x="6009756" y="38268"/>
                  <a:pt x="5442516" y="28115"/>
                  <a:pt x="5234026" y="18288"/>
                </a:cubicBezTo>
                <a:cubicBezTo>
                  <a:pt x="5025536" y="8461"/>
                  <a:pt x="4953693" y="18182"/>
                  <a:pt x="4832473" y="18288"/>
                </a:cubicBezTo>
                <a:cubicBezTo>
                  <a:pt x="4711253" y="18394"/>
                  <a:pt x="4414565" y="-11251"/>
                  <a:pt x="4140142" y="18288"/>
                </a:cubicBezTo>
                <a:cubicBezTo>
                  <a:pt x="3865719" y="47827"/>
                  <a:pt x="3819081" y="16772"/>
                  <a:pt x="3738590" y="18288"/>
                </a:cubicBezTo>
                <a:cubicBezTo>
                  <a:pt x="3658099" y="19804"/>
                  <a:pt x="3427576" y="1385"/>
                  <a:pt x="3240111" y="18288"/>
                </a:cubicBezTo>
                <a:cubicBezTo>
                  <a:pt x="3052646" y="35191"/>
                  <a:pt x="2749652" y="-13914"/>
                  <a:pt x="2450853" y="18288"/>
                </a:cubicBezTo>
                <a:cubicBezTo>
                  <a:pt x="2152054" y="50490"/>
                  <a:pt x="1928331" y="61101"/>
                  <a:pt x="1564669" y="18288"/>
                </a:cubicBezTo>
                <a:cubicBezTo>
                  <a:pt x="1201007" y="-24525"/>
                  <a:pt x="1217828" y="-275"/>
                  <a:pt x="1066190" y="18288"/>
                </a:cubicBezTo>
                <a:cubicBezTo>
                  <a:pt x="914552" y="36851"/>
                  <a:pt x="418290" y="-14785"/>
                  <a:pt x="0" y="18288"/>
                </a:cubicBezTo>
                <a:cubicBezTo>
                  <a:pt x="641" y="14236"/>
                  <a:pt x="889" y="7550"/>
                  <a:pt x="0" y="0"/>
                </a:cubicBezTo>
                <a:close/>
              </a:path>
            </a:pathLst>
          </a:custGeom>
          <a:solidFill>
            <a:srgbClr val="FFFFFF">
              <a:alpha val="75000"/>
            </a:srgbClr>
          </a:solidFill>
          <a:ln w="44450" cap="rnd">
            <a:solidFill>
              <a:schemeClr val="bg1">
                <a:alpha val="75000"/>
              </a:schemeClr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D8A737E5-2638-19F1-3419-BB32949BC3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004446"/>
            <a:ext cx="10515600" cy="4176897"/>
          </a:xfrm>
        </p:spPr>
        <p:txBody>
          <a:bodyPr>
            <a:normAutofit/>
          </a:bodyPr>
          <a:lstStyle/>
          <a:p>
            <a:pPr>
              <a:buFontTx/>
              <a:buChar char="-"/>
            </a:pPr>
            <a:r>
              <a:rPr lang="de-DE" sz="2200" dirty="0">
                <a:solidFill>
                  <a:schemeClr val="bg1"/>
                </a:solidFill>
              </a:rPr>
              <a:t>Operiert auf L3/L4 (IP / Protokoll / Port)</a:t>
            </a:r>
          </a:p>
          <a:p>
            <a:pPr>
              <a:buFontTx/>
              <a:buChar char="-"/>
            </a:pPr>
            <a:r>
              <a:rPr lang="de-DE" sz="2200" dirty="0">
                <a:solidFill>
                  <a:schemeClr val="bg1"/>
                </a:solidFill>
              </a:rPr>
              <a:t>Regelt Datenverkehr zwischen Quellen und Zielen</a:t>
            </a:r>
          </a:p>
          <a:p>
            <a:pPr>
              <a:buFontTx/>
              <a:buChar char="-"/>
            </a:pPr>
            <a:r>
              <a:rPr lang="de-DE" sz="2200" dirty="0" err="1">
                <a:solidFill>
                  <a:schemeClr val="bg1"/>
                </a:solidFill>
              </a:rPr>
              <a:t>Allow</a:t>
            </a:r>
            <a:r>
              <a:rPr lang="de-DE" sz="2200" dirty="0">
                <a:solidFill>
                  <a:schemeClr val="bg1"/>
                </a:solidFill>
              </a:rPr>
              <a:t> / Deny Prinzip</a:t>
            </a:r>
          </a:p>
          <a:p>
            <a:pPr>
              <a:buFontTx/>
              <a:buChar char="-"/>
            </a:pPr>
            <a:r>
              <a:rPr lang="de-DE" sz="2200" dirty="0">
                <a:solidFill>
                  <a:schemeClr val="bg1"/>
                </a:solidFill>
              </a:rPr>
              <a:t>Verschiedene Services (TCP / SSH etc.)</a:t>
            </a:r>
          </a:p>
          <a:p>
            <a:pPr>
              <a:buFontTx/>
              <a:buChar char="-"/>
            </a:pPr>
            <a:r>
              <a:rPr lang="de-DE" sz="2200" dirty="0">
                <a:solidFill>
                  <a:schemeClr val="bg1"/>
                </a:solidFill>
              </a:rPr>
              <a:t>Eingehende / Ausgehende Verbindungen</a:t>
            </a:r>
          </a:p>
          <a:p>
            <a:pPr>
              <a:buFontTx/>
              <a:buChar char="-"/>
            </a:pPr>
            <a:r>
              <a:rPr lang="de-DE" sz="2200" dirty="0">
                <a:solidFill>
                  <a:schemeClr val="bg1"/>
                </a:solidFill>
              </a:rPr>
              <a:t>Quelle oder Ziele -&gt; IPs / Subnetze</a:t>
            </a:r>
          </a:p>
          <a:p>
            <a:pPr>
              <a:buFontTx/>
              <a:buChar char="-"/>
            </a:pPr>
            <a:r>
              <a:rPr lang="de-DE" sz="2200" dirty="0">
                <a:solidFill>
                  <a:schemeClr val="bg1"/>
                </a:solidFill>
              </a:rPr>
              <a:t>Zeitlich gesteuert</a:t>
            </a:r>
          </a:p>
          <a:p>
            <a:pPr>
              <a:buFontTx/>
              <a:buChar char="-"/>
            </a:pPr>
            <a:endParaRPr lang="de-DE" sz="2200" dirty="0">
              <a:solidFill>
                <a:schemeClr val="bg1"/>
              </a:solidFill>
            </a:endParaRPr>
          </a:p>
        </p:txBody>
      </p:sp>
      <p:pic>
        <p:nvPicPr>
          <p:cNvPr id="5" name="Grafik 4" descr="Ein Bild, das Text, Screenshot, Zahl, Schrift enthält.">
            <a:extLst>
              <a:ext uri="{FF2B5EF4-FFF2-40B4-BE49-F238E27FC236}">
                <a16:creationId xmlns:a16="http://schemas.microsoft.com/office/drawing/2014/main" id="{27FA6077-A489-154C-DE6C-AAE17A99B7C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13334" y="2004446"/>
            <a:ext cx="4141990" cy="4176897"/>
          </a:xfrm>
          <a:prstGeom prst="rect">
            <a:avLst/>
          </a:prstGeom>
        </p:spPr>
      </p:pic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D611B616-EC7D-35E0-491F-E39858D639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FB693C-3D3E-4164-9FC0-E9F6868342D2}" type="slidenum">
              <a:rPr lang="de-BE" smtClean="0"/>
              <a:t>7</a:t>
            </a:fld>
            <a:endParaRPr lang="de-BE"/>
          </a:p>
        </p:txBody>
      </p:sp>
    </p:spTree>
    <p:extLst>
      <p:ext uri="{BB962C8B-B14F-4D97-AF65-F5344CB8AC3E}">
        <p14:creationId xmlns:p14="http://schemas.microsoft.com/office/powerpoint/2010/main" val="47755836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9821931-9963-96E4-6BB1-F900259ED5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9" name="Rectangle 3080">
            <a:extLst>
              <a:ext uri="{FF2B5EF4-FFF2-40B4-BE49-F238E27FC236}">
                <a16:creationId xmlns:a16="http://schemas.microsoft.com/office/drawing/2014/main" id="{228765F3-2C47-7F62-949B-5EB2F37670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076" name="Picture 4" descr="Rethinking Firewall and Proxy Management for Enterprise Agility">
            <a:extLst>
              <a:ext uri="{FF2B5EF4-FFF2-40B4-BE49-F238E27FC236}">
                <a16:creationId xmlns:a16="http://schemas.microsoft.com/office/drawing/2014/main" id="{A659B95C-4F8B-7A53-B6F4-01F5F001503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alphaModFix amt="4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" y="10"/>
            <a:ext cx="12191979" cy="685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78E36C96-8571-0CAE-6161-87C3D07ED5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de-DE" sz="5400" dirty="0" err="1">
                <a:solidFill>
                  <a:schemeClr val="bg1"/>
                </a:solidFill>
              </a:rPr>
              <a:t>Application</a:t>
            </a:r>
            <a:r>
              <a:rPr lang="de-DE" sz="5400" dirty="0">
                <a:solidFill>
                  <a:schemeClr val="bg1"/>
                </a:solidFill>
              </a:rPr>
              <a:t> Control</a:t>
            </a:r>
            <a:endParaRPr lang="de-BE" sz="5400" dirty="0">
              <a:solidFill>
                <a:schemeClr val="bg1"/>
              </a:solidFill>
            </a:endParaRPr>
          </a:p>
        </p:txBody>
      </p:sp>
      <p:sp>
        <p:nvSpPr>
          <p:cNvPr id="3090" name="sketchy line">
            <a:extLst>
              <a:ext uri="{FF2B5EF4-FFF2-40B4-BE49-F238E27FC236}">
                <a16:creationId xmlns:a16="http://schemas.microsoft.com/office/drawing/2014/main" id="{46FE4F7E-6036-6541-A025-0DC796E872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14399" y="1681544"/>
            <a:ext cx="9692640" cy="18288"/>
          </a:xfrm>
          <a:custGeom>
            <a:avLst/>
            <a:gdLst>
              <a:gd name="csX0" fmla="*/ 0 w 9692640"/>
              <a:gd name="csY0" fmla="*/ 0 h 18288"/>
              <a:gd name="csX1" fmla="*/ 401552 w 9692640"/>
              <a:gd name="csY1" fmla="*/ 0 h 18288"/>
              <a:gd name="csX2" fmla="*/ 996957 w 9692640"/>
              <a:gd name="csY2" fmla="*/ 0 h 18288"/>
              <a:gd name="csX3" fmla="*/ 1398509 w 9692640"/>
              <a:gd name="csY3" fmla="*/ 0 h 18288"/>
              <a:gd name="csX4" fmla="*/ 2090841 w 9692640"/>
              <a:gd name="csY4" fmla="*/ 0 h 18288"/>
              <a:gd name="csX5" fmla="*/ 2686246 w 9692640"/>
              <a:gd name="csY5" fmla="*/ 0 h 18288"/>
              <a:gd name="csX6" fmla="*/ 3475504 w 9692640"/>
              <a:gd name="csY6" fmla="*/ 0 h 18288"/>
              <a:gd name="csX7" fmla="*/ 4361688 w 9692640"/>
              <a:gd name="csY7" fmla="*/ 0 h 18288"/>
              <a:gd name="csX8" fmla="*/ 5054019 w 9692640"/>
              <a:gd name="csY8" fmla="*/ 0 h 18288"/>
              <a:gd name="csX9" fmla="*/ 5940204 w 9692640"/>
              <a:gd name="csY9" fmla="*/ 0 h 18288"/>
              <a:gd name="csX10" fmla="*/ 6632535 w 9692640"/>
              <a:gd name="csY10" fmla="*/ 0 h 18288"/>
              <a:gd name="csX11" fmla="*/ 7034087 w 9692640"/>
              <a:gd name="csY11" fmla="*/ 0 h 18288"/>
              <a:gd name="csX12" fmla="*/ 7532566 w 9692640"/>
              <a:gd name="csY12" fmla="*/ 0 h 18288"/>
              <a:gd name="csX13" fmla="*/ 8418750 w 9692640"/>
              <a:gd name="csY13" fmla="*/ 0 h 18288"/>
              <a:gd name="csX14" fmla="*/ 9692640 w 9692640"/>
              <a:gd name="csY14" fmla="*/ 0 h 18288"/>
              <a:gd name="csX15" fmla="*/ 9692640 w 9692640"/>
              <a:gd name="csY15" fmla="*/ 18288 h 18288"/>
              <a:gd name="csX16" fmla="*/ 9000309 w 9692640"/>
              <a:gd name="csY16" fmla="*/ 18288 h 18288"/>
              <a:gd name="csX17" fmla="*/ 8307977 w 9692640"/>
              <a:gd name="csY17" fmla="*/ 18288 h 18288"/>
              <a:gd name="csX18" fmla="*/ 7712572 w 9692640"/>
              <a:gd name="csY18" fmla="*/ 18288 h 18288"/>
              <a:gd name="csX19" fmla="*/ 7214093 w 9692640"/>
              <a:gd name="csY19" fmla="*/ 18288 h 18288"/>
              <a:gd name="csX20" fmla="*/ 6327909 w 9692640"/>
              <a:gd name="csY20" fmla="*/ 18288 h 18288"/>
              <a:gd name="csX21" fmla="*/ 5635578 w 9692640"/>
              <a:gd name="csY21" fmla="*/ 18288 h 18288"/>
              <a:gd name="csX22" fmla="*/ 4846320 w 9692640"/>
              <a:gd name="csY22" fmla="*/ 18288 h 18288"/>
              <a:gd name="csX23" fmla="*/ 4444768 w 9692640"/>
              <a:gd name="csY23" fmla="*/ 18288 h 18288"/>
              <a:gd name="csX24" fmla="*/ 3946289 w 9692640"/>
              <a:gd name="csY24" fmla="*/ 18288 h 18288"/>
              <a:gd name="csX25" fmla="*/ 3253958 w 9692640"/>
              <a:gd name="csY25" fmla="*/ 18288 h 18288"/>
              <a:gd name="csX26" fmla="*/ 2464700 w 9692640"/>
              <a:gd name="csY26" fmla="*/ 18288 h 18288"/>
              <a:gd name="csX27" fmla="*/ 2063148 w 9692640"/>
              <a:gd name="csY27" fmla="*/ 18288 h 18288"/>
              <a:gd name="csX28" fmla="*/ 1661595 w 9692640"/>
              <a:gd name="csY28" fmla="*/ 18288 h 18288"/>
              <a:gd name="csX29" fmla="*/ 969264 w 9692640"/>
              <a:gd name="csY29" fmla="*/ 18288 h 18288"/>
              <a:gd name="csX30" fmla="*/ 0 w 9692640"/>
              <a:gd name="csY30" fmla="*/ 18288 h 18288"/>
              <a:gd name="csX31" fmla="*/ 0 w 9692640"/>
              <a:gd name="csY3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</a:cxnLst>
            <a:rect l="l" t="t" r="r" b="b"/>
            <a:pathLst>
              <a:path w="9692640" h="18288" fill="none" extrusionOk="0">
                <a:moveTo>
                  <a:pt x="0" y="0"/>
                </a:moveTo>
                <a:cubicBezTo>
                  <a:pt x="142992" y="4732"/>
                  <a:pt x="265909" y="-3365"/>
                  <a:pt x="401552" y="0"/>
                </a:cubicBezTo>
                <a:cubicBezTo>
                  <a:pt x="537195" y="3365"/>
                  <a:pt x="738153" y="6482"/>
                  <a:pt x="996957" y="0"/>
                </a:cubicBezTo>
                <a:cubicBezTo>
                  <a:pt x="1255762" y="-6482"/>
                  <a:pt x="1280511" y="12509"/>
                  <a:pt x="1398509" y="0"/>
                </a:cubicBezTo>
                <a:cubicBezTo>
                  <a:pt x="1516507" y="-12509"/>
                  <a:pt x="1782573" y="-31523"/>
                  <a:pt x="2090841" y="0"/>
                </a:cubicBezTo>
                <a:cubicBezTo>
                  <a:pt x="2399109" y="31523"/>
                  <a:pt x="2488380" y="26286"/>
                  <a:pt x="2686246" y="0"/>
                </a:cubicBezTo>
                <a:cubicBezTo>
                  <a:pt x="2884112" y="-26286"/>
                  <a:pt x="3186024" y="-14734"/>
                  <a:pt x="3475504" y="0"/>
                </a:cubicBezTo>
                <a:cubicBezTo>
                  <a:pt x="3764984" y="14734"/>
                  <a:pt x="4053017" y="43292"/>
                  <a:pt x="4361688" y="0"/>
                </a:cubicBezTo>
                <a:cubicBezTo>
                  <a:pt x="4670359" y="-43292"/>
                  <a:pt x="4736164" y="-729"/>
                  <a:pt x="5054019" y="0"/>
                </a:cubicBezTo>
                <a:cubicBezTo>
                  <a:pt x="5371874" y="729"/>
                  <a:pt x="5543528" y="-22963"/>
                  <a:pt x="5940204" y="0"/>
                </a:cubicBezTo>
                <a:cubicBezTo>
                  <a:pt x="6336881" y="22963"/>
                  <a:pt x="6423838" y="6469"/>
                  <a:pt x="6632535" y="0"/>
                </a:cubicBezTo>
                <a:cubicBezTo>
                  <a:pt x="6841232" y="-6469"/>
                  <a:pt x="6852819" y="17036"/>
                  <a:pt x="7034087" y="0"/>
                </a:cubicBezTo>
                <a:cubicBezTo>
                  <a:pt x="7215355" y="-17036"/>
                  <a:pt x="7313136" y="11151"/>
                  <a:pt x="7532566" y="0"/>
                </a:cubicBezTo>
                <a:cubicBezTo>
                  <a:pt x="7751996" y="-11151"/>
                  <a:pt x="8015001" y="25614"/>
                  <a:pt x="8418750" y="0"/>
                </a:cubicBezTo>
                <a:cubicBezTo>
                  <a:pt x="8822499" y="-25614"/>
                  <a:pt x="9163239" y="48603"/>
                  <a:pt x="9692640" y="0"/>
                </a:cubicBezTo>
                <a:cubicBezTo>
                  <a:pt x="9691955" y="4437"/>
                  <a:pt x="9693170" y="10717"/>
                  <a:pt x="9692640" y="18288"/>
                </a:cubicBezTo>
                <a:cubicBezTo>
                  <a:pt x="9545125" y="42172"/>
                  <a:pt x="9164259" y="6706"/>
                  <a:pt x="9000309" y="18288"/>
                </a:cubicBezTo>
                <a:cubicBezTo>
                  <a:pt x="8836359" y="29870"/>
                  <a:pt x="8521035" y="-14108"/>
                  <a:pt x="8307977" y="18288"/>
                </a:cubicBezTo>
                <a:cubicBezTo>
                  <a:pt x="8094919" y="50684"/>
                  <a:pt x="7881757" y="11235"/>
                  <a:pt x="7712572" y="18288"/>
                </a:cubicBezTo>
                <a:cubicBezTo>
                  <a:pt x="7543387" y="25341"/>
                  <a:pt x="7358861" y="20625"/>
                  <a:pt x="7214093" y="18288"/>
                </a:cubicBezTo>
                <a:cubicBezTo>
                  <a:pt x="7069325" y="15951"/>
                  <a:pt x="6523705" y="52160"/>
                  <a:pt x="6327909" y="18288"/>
                </a:cubicBezTo>
                <a:cubicBezTo>
                  <a:pt x="6132113" y="-15584"/>
                  <a:pt x="5923847" y="21204"/>
                  <a:pt x="5635578" y="18288"/>
                </a:cubicBezTo>
                <a:cubicBezTo>
                  <a:pt x="5347309" y="15372"/>
                  <a:pt x="5114749" y="50642"/>
                  <a:pt x="4846320" y="18288"/>
                </a:cubicBezTo>
                <a:cubicBezTo>
                  <a:pt x="4577891" y="-14066"/>
                  <a:pt x="4576701" y="1487"/>
                  <a:pt x="4444768" y="18288"/>
                </a:cubicBezTo>
                <a:cubicBezTo>
                  <a:pt x="4312835" y="35089"/>
                  <a:pt x="4112575" y="15158"/>
                  <a:pt x="3946289" y="18288"/>
                </a:cubicBezTo>
                <a:cubicBezTo>
                  <a:pt x="3780003" y="21418"/>
                  <a:pt x="3396009" y="18797"/>
                  <a:pt x="3253958" y="18288"/>
                </a:cubicBezTo>
                <a:cubicBezTo>
                  <a:pt x="3111907" y="17779"/>
                  <a:pt x="2760272" y="57223"/>
                  <a:pt x="2464700" y="18288"/>
                </a:cubicBezTo>
                <a:cubicBezTo>
                  <a:pt x="2169128" y="-20647"/>
                  <a:pt x="2232262" y="7960"/>
                  <a:pt x="2063148" y="18288"/>
                </a:cubicBezTo>
                <a:cubicBezTo>
                  <a:pt x="1894034" y="28616"/>
                  <a:pt x="1799338" y="3019"/>
                  <a:pt x="1661595" y="18288"/>
                </a:cubicBezTo>
                <a:cubicBezTo>
                  <a:pt x="1523852" y="33557"/>
                  <a:pt x="1113928" y="-4352"/>
                  <a:pt x="969264" y="18288"/>
                </a:cubicBezTo>
                <a:cubicBezTo>
                  <a:pt x="824600" y="40928"/>
                  <a:pt x="356149" y="-3128"/>
                  <a:pt x="0" y="18288"/>
                </a:cubicBezTo>
                <a:cubicBezTo>
                  <a:pt x="-540" y="12521"/>
                  <a:pt x="894" y="7749"/>
                  <a:pt x="0" y="0"/>
                </a:cubicBezTo>
                <a:close/>
              </a:path>
              <a:path w="9692640" h="18288" stroke="0" extrusionOk="0">
                <a:moveTo>
                  <a:pt x="0" y="0"/>
                </a:moveTo>
                <a:cubicBezTo>
                  <a:pt x="162642" y="3864"/>
                  <a:pt x="346119" y="-18364"/>
                  <a:pt x="498479" y="0"/>
                </a:cubicBezTo>
                <a:cubicBezTo>
                  <a:pt x="650839" y="18364"/>
                  <a:pt x="712065" y="-9389"/>
                  <a:pt x="900031" y="0"/>
                </a:cubicBezTo>
                <a:cubicBezTo>
                  <a:pt x="1087997" y="9389"/>
                  <a:pt x="1177291" y="3685"/>
                  <a:pt x="1398509" y="0"/>
                </a:cubicBezTo>
                <a:cubicBezTo>
                  <a:pt x="1619727" y="-3685"/>
                  <a:pt x="1874008" y="-8897"/>
                  <a:pt x="2090841" y="0"/>
                </a:cubicBezTo>
                <a:cubicBezTo>
                  <a:pt x="2307674" y="8897"/>
                  <a:pt x="2573432" y="-313"/>
                  <a:pt x="2880099" y="0"/>
                </a:cubicBezTo>
                <a:cubicBezTo>
                  <a:pt x="3186766" y="313"/>
                  <a:pt x="3422577" y="10664"/>
                  <a:pt x="3766283" y="0"/>
                </a:cubicBezTo>
                <a:cubicBezTo>
                  <a:pt x="4109989" y="-10664"/>
                  <a:pt x="4342683" y="-32873"/>
                  <a:pt x="4652467" y="0"/>
                </a:cubicBezTo>
                <a:cubicBezTo>
                  <a:pt x="4962251" y="32873"/>
                  <a:pt x="5122120" y="29155"/>
                  <a:pt x="5247872" y="0"/>
                </a:cubicBezTo>
                <a:cubicBezTo>
                  <a:pt x="5373625" y="-29155"/>
                  <a:pt x="5749491" y="1706"/>
                  <a:pt x="6037130" y="0"/>
                </a:cubicBezTo>
                <a:cubicBezTo>
                  <a:pt x="6324769" y="-1706"/>
                  <a:pt x="6531407" y="1172"/>
                  <a:pt x="6729461" y="0"/>
                </a:cubicBezTo>
                <a:cubicBezTo>
                  <a:pt x="6927515" y="-1172"/>
                  <a:pt x="7096794" y="-1520"/>
                  <a:pt x="7324867" y="0"/>
                </a:cubicBezTo>
                <a:cubicBezTo>
                  <a:pt x="7552940" y="1520"/>
                  <a:pt x="7878827" y="-17110"/>
                  <a:pt x="8114124" y="0"/>
                </a:cubicBezTo>
                <a:cubicBezTo>
                  <a:pt x="8349421" y="17110"/>
                  <a:pt x="8334208" y="15114"/>
                  <a:pt x="8515677" y="0"/>
                </a:cubicBezTo>
                <a:cubicBezTo>
                  <a:pt x="8697146" y="-15114"/>
                  <a:pt x="9236164" y="22466"/>
                  <a:pt x="9692640" y="0"/>
                </a:cubicBezTo>
                <a:cubicBezTo>
                  <a:pt x="9692735" y="8251"/>
                  <a:pt x="9692514" y="12333"/>
                  <a:pt x="9692640" y="18288"/>
                </a:cubicBezTo>
                <a:cubicBezTo>
                  <a:pt x="9410102" y="47398"/>
                  <a:pt x="9172773" y="7109"/>
                  <a:pt x="9000309" y="18288"/>
                </a:cubicBezTo>
                <a:cubicBezTo>
                  <a:pt x="8827845" y="29467"/>
                  <a:pt x="8713608" y="28372"/>
                  <a:pt x="8501830" y="18288"/>
                </a:cubicBezTo>
                <a:cubicBezTo>
                  <a:pt x="8290052" y="8204"/>
                  <a:pt x="7893416" y="3561"/>
                  <a:pt x="7712572" y="18288"/>
                </a:cubicBezTo>
                <a:cubicBezTo>
                  <a:pt x="7531728" y="33015"/>
                  <a:pt x="7480716" y="17052"/>
                  <a:pt x="7311020" y="18288"/>
                </a:cubicBezTo>
                <a:cubicBezTo>
                  <a:pt x="7141324" y="19524"/>
                  <a:pt x="6962706" y="15975"/>
                  <a:pt x="6618688" y="18288"/>
                </a:cubicBezTo>
                <a:cubicBezTo>
                  <a:pt x="6274670" y="20601"/>
                  <a:pt x="6230664" y="-1692"/>
                  <a:pt x="6120210" y="18288"/>
                </a:cubicBezTo>
                <a:cubicBezTo>
                  <a:pt x="6009756" y="38268"/>
                  <a:pt x="5442516" y="28115"/>
                  <a:pt x="5234026" y="18288"/>
                </a:cubicBezTo>
                <a:cubicBezTo>
                  <a:pt x="5025536" y="8461"/>
                  <a:pt x="4953693" y="18182"/>
                  <a:pt x="4832473" y="18288"/>
                </a:cubicBezTo>
                <a:cubicBezTo>
                  <a:pt x="4711253" y="18394"/>
                  <a:pt x="4414565" y="-11251"/>
                  <a:pt x="4140142" y="18288"/>
                </a:cubicBezTo>
                <a:cubicBezTo>
                  <a:pt x="3865719" y="47827"/>
                  <a:pt x="3819081" y="16772"/>
                  <a:pt x="3738590" y="18288"/>
                </a:cubicBezTo>
                <a:cubicBezTo>
                  <a:pt x="3658099" y="19804"/>
                  <a:pt x="3427576" y="1385"/>
                  <a:pt x="3240111" y="18288"/>
                </a:cubicBezTo>
                <a:cubicBezTo>
                  <a:pt x="3052646" y="35191"/>
                  <a:pt x="2749652" y="-13914"/>
                  <a:pt x="2450853" y="18288"/>
                </a:cubicBezTo>
                <a:cubicBezTo>
                  <a:pt x="2152054" y="50490"/>
                  <a:pt x="1928331" y="61101"/>
                  <a:pt x="1564669" y="18288"/>
                </a:cubicBezTo>
                <a:cubicBezTo>
                  <a:pt x="1201007" y="-24525"/>
                  <a:pt x="1217828" y="-275"/>
                  <a:pt x="1066190" y="18288"/>
                </a:cubicBezTo>
                <a:cubicBezTo>
                  <a:pt x="914552" y="36851"/>
                  <a:pt x="418290" y="-14785"/>
                  <a:pt x="0" y="18288"/>
                </a:cubicBezTo>
                <a:cubicBezTo>
                  <a:pt x="641" y="14236"/>
                  <a:pt x="889" y="7550"/>
                  <a:pt x="0" y="0"/>
                </a:cubicBezTo>
                <a:close/>
              </a:path>
            </a:pathLst>
          </a:custGeom>
          <a:solidFill>
            <a:srgbClr val="FFFFFF">
              <a:alpha val="75000"/>
            </a:srgbClr>
          </a:solidFill>
          <a:ln w="44450" cap="rnd">
            <a:solidFill>
              <a:schemeClr val="bg1">
                <a:alpha val="75000"/>
              </a:schemeClr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D6B88E23-7A5C-A7BE-19D9-1F40337902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004446"/>
            <a:ext cx="10515600" cy="4176897"/>
          </a:xfrm>
        </p:spPr>
        <p:txBody>
          <a:bodyPr>
            <a:normAutofit/>
          </a:bodyPr>
          <a:lstStyle/>
          <a:p>
            <a:pPr>
              <a:buFontTx/>
              <a:buChar char="-"/>
            </a:pPr>
            <a:r>
              <a:rPr lang="de-DE" sz="2200" dirty="0">
                <a:solidFill>
                  <a:schemeClr val="bg1"/>
                </a:solidFill>
              </a:rPr>
              <a:t>Operiert bis Layer 7</a:t>
            </a:r>
          </a:p>
          <a:p>
            <a:pPr>
              <a:buFontTx/>
              <a:buChar char="-"/>
            </a:pPr>
            <a:r>
              <a:rPr lang="de-DE" sz="2200" dirty="0">
                <a:solidFill>
                  <a:schemeClr val="bg1"/>
                </a:solidFill>
              </a:rPr>
              <a:t>Blockiert Applikationen nach Vorgaben</a:t>
            </a:r>
          </a:p>
          <a:p>
            <a:pPr marL="0" indent="0">
              <a:buNone/>
            </a:pPr>
            <a:r>
              <a:rPr lang="de-DE" sz="2200" dirty="0">
                <a:solidFill>
                  <a:schemeClr val="bg1"/>
                </a:solidFill>
              </a:rPr>
              <a:t>	- Name</a:t>
            </a:r>
          </a:p>
          <a:p>
            <a:pPr marL="0" indent="0">
              <a:buNone/>
            </a:pPr>
            <a:r>
              <a:rPr lang="de-DE" sz="2200" dirty="0">
                <a:solidFill>
                  <a:schemeClr val="bg1"/>
                </a:solidFill>
              </a:rPr>
              <a:t>	- Kategorie (z.B. </a:t>
            </a:r>
            <a:r>
              <a:rPr lang="de-DE" sz="2200" dirty="0" err="1">
                <a:solidFill>
                  <a:schemeClr val="bg1"/>
                </a:solidFill>
              </a:rPr>
              <a:t>Social</a:t>
            </a:r>
            <a:r>
              <a:rPr lang="de-DE" sz="2200" dirty="0">
                <a:solidFill>
                  <a:schemeClr val="bg1"/>
                </a:solidFill>
              </a:rPr>
              <a:t> Media, Gaming, Torrent)</a:t>
            </a:r>
          </a:p>
          <a:p>
            <a:pPr>
              <a:buFontTx/>
              <a:buChar char="-"/>
            </a:pPr>
            <a:r>
              <a:rPr lang="de-DE" sz="2200" dirty="0">
                <a:solidFill>
                  <a:schemeClr val="bg1"/>
                </a:solidFill>
              </a:rPr>
              <a:t>Enthält Deep Packet </a:t>
            </a:r>
            <a:r>
              <a:rPr lang="de-DE" sz="2200" dirty="0" err="1">
                <a:solidFill>
                  <a:schemeClr val="bg1"/>
                </a:solidFill>
              </a:rPr>
              <a:t>Inspection</a:t>
            </a:r>
            <a:endParaRPr lang="de-DE" sz="2200" dirty="0">
              <a:solidFill>
                <a:schemeClr val="bg1"/>
              </a:solidFill>
            </a:endParaRPr>
          </a:p>
          <a:p>
            <a:pPr>
              <a:buFontTx/>
              <a:buChar char="-"/>
            </a:pPr>
            <a:r>
              <a:rPr lang="de-DE" sz="2200" dirty="0">
                <a:solidFill>
                  <a:schemeClr val="bg1"/>
                </a:solidFill>
              </a:rPr>
              <a:t>Applikationen nutzen </a:t>
            </a:r>
            <a:r>
              <a:rPr lang="de-DE" sz="2200" dirty="0" err="1">
                <a:solidFill>
                  <a:schemeClr val="bg1"/>
                </a:solidFill>
              </a:rPr>
              <a:t>u.A.</a:t>
            </a:r>
            <a:r>
              <a:rPr lang="de-DE" sz="2200" dirty="0">
                <a:solidFill>
                  <a:schemeClr val="bg1"/>
                </a:solidFill>
              </a:rPr>
              <a:t> </a:t>
            </a:r>
            <a:r>
              <a:rPr lang="de-DE" sz="2200" dirty="0" err="1">
                <a:solidFill>
                  <a:schemeClr val="bg1"/>
                </a:solidFill>
              </a:rPr>
              <a:t>dyn</a:t>
            </a:r>
            <a:r>
              <a:rPr lang="de-DE" sz="2200" dirty="0">
                <a:solidFill>
                  <a:schemeClr val="bg1"/>
                </a:solidFill>
              </a:rPr>
              <a:t>. Ports oder tunneln Traffic</a:t>
            </a:r>
          </a:p>
          <a:p>
            <a:pPr>
              <a:buFontTx/>
              <a:buChar char="-"/>
            </a:pPr>
            <a:r>
              <a:rPr lang="de-DE" sz="2200" dirty="0">
                <a:solidFill>
                  <a:schemeClr val="bg1"/>
                </a:solidFill>
              </a:rPr>
              <a:t>Hohe CPU-Last</a:t>
            </a:r>
          </a:p>
          <a:p>
            <a:pPr>
              <a:buFontTx/>
              <a:buChar char="-"/>
            </a:pPr>
            <a:r>
              <a:rPr lang="de-DE" sz="2200" dirty="0">
                <a:solidFill>
                  <a:schemeClr val="bg1"/>
                </a:solidFill>
              </a:rPr>
              <a:t>Kritische Infrastruktur</a:t>
            </a:r>
          </a:p>
          <a:p>
            <a:pPr>
              <a:buFontTx/>
              <a:buChar char="-"/>
            </a:pPr>
            <a:endParaRPr lang="de-DE" sz="2200" dirty="0">
              <a:solidFill>
                <a:schemeClr val="bg1"/>
              </a:solidFill>
            </a:endParaRP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57299C70-7351-0367-1B01-0C800D3C59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FB693C-3D3E-4164-9FC0-E9F6868342D2}" type="slidenum">
              <a:rPr lang="de-BE" smtClean="0"/>
              <a:t>8</a:t>
            </a:fld>
            <a:endParaRPr lang="de-BE"/>
          </a:p>
        </p:txBody>
      </p:sp>
    </p:spTree>
    <p:extLst>
      <p:ext uri="{BB962C8B-B14F-4D97-AF65-F5344CB8AC3E}">
        <p14:creationId xmlns:p14="http://schemas.microsoft.com/office/powerpoint/2010/main" val="130952198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6382704-9B43-A45D-5A15-B87DB0E63D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9" name="Rectangle 3080">
            <a:extLst>
              <a:ext uri="{FF2B5EF4-FFF2-40B4-BE49-F238E27FC236}">
                <a16:creationId xmlns:a16="http://schemas.microsoft.com/office/drawing/2014/main" id="{75F18639-2ACF-FC34-2D74-657EDE898C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076" name="Picture 4" descr="Rethinking Firewall and Proxy Management for Enterprise Agility">
            <a:extLst>
              <a:ext uri="{FF2B5EF4-FFF2-40B4-BE49-F238E27FC236}">
                <a16:creationId xmlns:a16="http://schemas.microsoft.com/office/drawing/2014/main" id="{F7C8C869-E4B9-A9DB-49FF-3AEA796AF25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alphaModFix amt="4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" y="10"/>
            <a:ext cx="12191979" cy="685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86B8E6E9-065C-710D-8FBE-147CCFFA25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de-DE" sz="5400" dirty="0">
                <a:solidFill>
                  <a:schemeClr val="bg1"/>
                </a:solidFill>
              </a:rPr>
              <a:t>IPS / IDS</a:t>
            </a:r>
            <a:endParaRPr lang="de-BE" sz="5400" dirty="0">
              <a:solidFill>
                <a:schemeClr val="bg1"/>
              </a:solidFill>
            </a:endParaRPr>
          </a:p>
        </p:txBody>
      </p:sp>
      <p:sp>
        <p:nvSpPr>
          <p:cNvPr id="3090" name="sketchy line">
            <a:extLst>
              <a:ext uri="{FF2B5EF4-FFF2-40B4-BE49-F238E27FC236}">
                <a16:creationId xmlns:a16="http://schemas.microsoft.com/office/drawing/2014/main" id="{9951CCF1-D2F6-7BE1-C021-BF818C5881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14399" y="1681544"/>
            <a:ext cx="9692640" cy="18288"/>
          </a:xfrm>
          <a:custGeom>
            <a:avLst/>
            <a:gdLst>
              <a:gd name="csX0" fmla="*/ 0 w 9692640"/>
              <a:gd name="csY0" fmla="*/ 0 h 18288"/>
              <a:gd name="csX1" fmla="*/ 401552 w 9692640"/>
              <a:gd name="csY1" fmla="*/ 0 h 18288"/>
              <a:gd name="csX2" fmla="*/ 996957 w 9692640"/>
              <a:gd name="csY2" fmla="*/ 0 h 18288"/>
              <a:gd name="csX3" fmla="*/ 1398509 w 9692640"/>
              <a:gd name="csY3" fmla="*/ 0 h 18288"/>
              <a:gd name="csX4" fmla="*/ 2090841 w 9692640"/>
              <a:gd name="csY4" fmla="*/ 0 h 18288"/>
              <a:gd name="csX5" fmla="*/ 2686246 w 9692640"/>
              <a:gd name="csY5" fmla="*/ 0 h 18288"/>
              <a:gd name="csX6" fmla="*/ 3475504 w 9692640"/>
              <a:gd name="csY6" fmla="*/ 0 h 18288"/>
              <a:gd name="csX7" fmla="*/ 4361688 w 9692640"/>
              <a:gd name="csY7" fmla="*/ 0 h 18288"/>
              <a:gd name="csX8" fmla="*/ 5054019 w 9692640"/>
              <a:gd name="csY8" fmla="*/ 0 h 18288"/>
              <a:gd name="csX9" fmla="*/ 5940204 w 9692640"/>
              <a:gd name="csY9" fmla="*/ 0 h 18288"/>
              <a:gd name="csX10" fmla="*/ 6632535 w 9692640"/>
              <a:gd name="csY10" fmla="*/ 0 h 18288"/>
              <a:gd name="csX11" fmla="*/ 7034087 w 9692640"/>
              <a:gd name="csY11" fmla="*/ 0 h 18288"/>
              <a:gd name="csX12" fmla="*/ 7532566 w 9692640"/>
              <a:gd name="csY12" fmla="*/ 0 h 18288"/>
              <a:gd name="csX13" fmla="*/ 8418750 w 9692640"/>
              <a:gd name="csY13" fmla="*/ 0 h 18288"/>
              <a:gd name="csX14" fmla="*/ 9692640 w 9692640"/>
              <a:gd name="csY14" fmla="*/ 0 h 18288"/>
              <a:gd name="csX15" fmla="*/ 9692640 w 9692640"/>
              <a:gd name="csY15" fmla="*/ 18288 h 18288"/>
              <a:gd name="csX16" fmla="*/ 9000309 w 9692640"/>
              <a:gd name="csY16" fmla="*/ 18288 h 18288"/>
              <a:gd name="csX17" fmla="*/ 8307977 w 9692640"/>
              <a:gd name="csY17" fmla="*/ 18288 h 18288"/>
              <a:gd name="csX18" fmla="*/ 7712572 w 9692640"/>
              <a:gd name="csY18" fmla="*/ 18288 h 18288"/>
              <a:gd name="csX19" fmla="*/ 7214093 w 9692640"/>
              <a:gd name="csY19" fmla="*/ 18288 h 18288"/>
              <a:gd name="csX20" fmla="*/ 6327909 w 9692640"/>
              <a:gd name="csY20" fmla="*/ 18288 h 18288"/>
              <a:gd name="csX21" fmla="*/ 5635578 w 9692640"/>
              <a:gd name="csY21" fmla="*/ 18288 h 18288"/>
              <a:gd name="csX22" fmla="*/ 4846320 w 9692640"/>
              <a:gd name="csY22" fmla="*/ 18288 h 18288"/>
              <a:gd name="csX23" fmla="*/ 4444768 w 9692640"/>
              <a:gd name="csY23" fmla="*/ 18288 h 18288"/>
              <a:gd name="csX24" fmla="*/ 3946289 w 9692640"/>
              <a:gd name="csY24" fmla="*/ 18288 h 18288"/>
              <a:gd name="csX25" fmla="*/ 3253958 w 9692640"/>
              <a:gd name="csY25" fmla="*/ 18288 h 18288"/>
              <a:gd name="csX26" fmla="*/ 2464700 w 9692640"/>
              <a:gd name="csY26" fmla="*/ 18288 h 18288"/>
              <a:gd name="csX27" fmla="*/ 2063148 w 9692640"/>
              <a:gd name="csY27" fmla="*/ 18288 h 18288"/>
              <a:gd name="csX28" fmla="*/ 1661595 w 9692640"/>
              <a:gd name="csY28" fmla="*/ 18288 h 18288"/>
              <a:gd name="csX29" fmla="*/ 969264 w 9692640"/>
              <a:gd name="csY29" fmla="*/ 18288 h 18288"/>
              <a:gd name="csX30" fmla="*/ 0 w 9692640"/>
              <a:gd name="csY30" fmla="*/ 18288 h 18288"/>
              <a:gd name="csX31" fmla="*/ 0 w 9692640"/>
              <a:gd name="csY3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</a:cxnLst>
            <a:rect l="l" t="t" r="r" b="b"/>
            <a:pathLst>
              <a:path w="9692640" h="18288" fill="none" extrusionOk="0">
                <a:moveTo>
                  <a:pt x="0" y="0"/>
                </a:moveTo>
                <a:cubicBezTo>
                  <a:pt x="142992" y="4732"/>
                  <a:pt x="265909" y="-3365"/>
                  <a:pt x="401552" y="0"/>
                </a:cubicBezTo>
                <a:cubicBezTo>
                  <a:pt x="537195" y="3365"/>
                  <a:pt x="738153" y="6482"/>
                  <a:pt x="996957" y="0"/>
                </a:cubicBezTo>
                <a:cubicBezTo>
                  <a:pt x="1255762" y="-6482"/>
                  <a:pt x="1280511" y="12509"/>
                  <a:pt x="1398509" y="0"/>
                </a:cubicBezTo>
                <a:cubicBezTo>
                  <a:pt x="1516507" y="-12509"/>
                  <a:pt x="1782573" y="-31523"/>
                  <a:pt x="2090841" y="0"/>
                </a:cubicBezTo>
                <a:cubicBezTo>
                  <a:pt x="2399109" y="31523"/>
                  <a:pt x="2488380" y="26286"/>
                  <a:pt x="2686246" y="0"/>
                </a:cubicBezTo>
                <a:cubicBezTo>
                  <a:pt x="2884112" y="-26286"/>
                  <a:pt x="3186024" y="-14734"/>
                  <a:pt x="3475504" y="0"/>
                </a:cubicBezTo>
                <a:cubicBezTo>
                  <a:pt x="3764984" y="14734"/>
                  <a:pt x="4053017" y="43292"/>
                  <a:pt x="4361688" y="0"/>
                </a:cubicBezTo>
                <a:cubicBezTo>
                  <a:pt x="4670359" y="-43292"/>
                  <a:pt x="4736164" y="-729"/>
                  <a:pt x="5054019" y="0"/>
                </a:cubicBezTo>
                <a:cubicBezTo>
                  <a:pt x="5371874" y="729"/>
                  <a:pt x="5543528" y="-22963"/>
                  <a:pt x="5940204" y="0"/>
                </a:cubicBezTo>
                <a:cubicBezTo>
                  <a:pt x="6336881" y="22963"/>
                  <a:pt x="6423838" y="6469"/>
                  <a:pt x="6632535" y="0"/>
                </a:cubicBezTo>
                <a:cubicBezTo>
                  <a:pt x="6841232" y="-6469"/>
                  <a:pt x="6852819" y="17036"/>
                  <a:pt x="7034087" y="0"/>
                </a:cubicBezTo>
                <a:cubicBezTo>
                  <a:pt x="7215355" y="-17036"/>
                  <a:pt x="7313136" y="11151"/>
                  <a:pt x="7532566" y="0"/>
                </a:cubicBezTo>
                <a:cubicBezTo>
                  <a:pt x="7751996" y="-11151"/>
                  <a:pt x="8015001" y="25614"/>
                  <a:pt x="8418750" y="0"/>
                </a:cubicBezTo>
                <a:cubicBezTo>
                  <a:pt x="8822499" y="-25614"/>
                  <a:pt x="9163239" y="48603"/>
                  <a:pt x="9692640" y="0"/>
                </a:cubicBezTo>
                <a:cubicBezTo>
                  <a:pt x="9691955" y="4437"/>
                  <a:pt x="9693170" y="10717"/>
                  <a:pt x="9692640" y="18288"/>
                </a:cubicBezTo>
                <a:cubicBezTo>
                  <a:pt x="9545125" y="42172"/>
                  <a:pt x="9164259" y="6706"/>
                  <a:pt x="9000309" y="18288"/>
                </a:cubicBezTo>
                <a:cubicBezTo>
                  <a:pt x="8836359" y="29870"/>
                  <a:pt x="8521035" y="-14108"/>
                  <a:pt x="8307977" y="18288"/>
                </a:cubicBezTo>
                <a:cubicBezTo>
                  <a:pt x="8094919" y="50684"/>
                  <a:pt x="7881757" y="11235"/>
                  <a:pt x="7712572" y="18288"/>
                </a:cubicBezTo>
                <a:cubicBezTo>
                  <a:pt x="7543387" y="25341"/>
                  <a:pt x="7358861" y="20625"/>
                  <a:pt x="7214093" y="18288"/>
                </a:cubicBezTo>
                <a:cubicBezTo>
                  <a:pt x="7069325" y="15951"/>
                  <a:pt x="6523705" y="52160"/>
                  <a:pt x="6327909" y="18288"/>
                </a:cubicBezTo>
                <a:cubicBezTo>
                  <a:pt x="6132113" y="-15584"/>
                  <a:pt x="5923847" y="21204"/>
                  <a:pt x="5635578" y="18288"/>
                </a:cubicBezTo>
                <a:cubicBezTo>
                  <a:pt x="5347309" y="15372"/>
                  <a:pt x="5114749" y="50642"/>
                  <a:pt x="4846320" y="18288"/>
                </a:cubicBezTo>
                <a:cubicBezTo>
                  <a:pt x="4577891" y="-14066"/>
                  <a:pt x="4576701" y="1487"/>
                  <a:pt x="4444768" y="18288"/>
                </a:cubicBezTo>
                <a:cubicBezTo>
                  <a:pt x="4312835" y="35089"/>
                  <a:pt x="4112575" y="15158"/>
                  <a:pt x="3946289" y="18288"/>
                </a:cubicBezTo>
                <a:cubicBezTo>
                  <a:pt x="3780003" y="21418"/>
                  <a:pt x="3396009" y="18797"/>
                  <a:pt x="3253958" y="18288"/>
                </a:cubicBezTo>
                <a:cubicBezTo>
                  <a:pt x="3111907" y="17779"/>
                  <a:pt x="2760272" y="57223"/>
                  <a:pt x="2464700" y="18288"/>
                </a:cubicBezTo>
                <a:cubicBezTo>
                  <a:pt x="2169128" y="-20647"/>
                  <a:pt x="2232262" y="7960"/>
                  <a:pt x="2063148" y="18288"/>
                </a:cubicBezTo>
                <a:cubicBezTo>
                  <a:pt x="1894034" y="28616"/>
                  <a:pt x="1799338" y="3019"/>
                  <a:pt x="1661595" y="18288"/>
                </a:cubicBezTo>
                <a:cubicBezTo>
                  <a:pt x="1523852" y="33557"/>
                  <a:pt x="1113928" y="-4352"/>
                  <a:pt x="969264" y="18288"/>
                </a:cubicBezTo>
                <a:cubicBezTo>
                  <a:pt x="824600" y="40928"/>
                  <a:pt x="356149" y="-3128"/>
                  <a:pt x="0" y="18288"/>
                </a:cubicBezTo>
                <a:cubicBezTo>
                  <a:pt x="-540" y="12521"/>
                  <a:pt x="894" y="7749"/>
                  <a:pt x="0" y="0"/>
                </a:cubicBezTo>
                <a:close/>
              </a:path>
              <a:path w="9692640" h="18288" stroke="0" extrusionOk="0">
                <a:moveTo>
                  <a:pt x="0" y="0"/>
                </a:moveTo>
                <a:cubicBezTo>
                  <a:pt x="162642" y="3864"/>
                  <a:pt x="346119" y="-18364"/>
                  <a:pt x="498479" y="0"/>
                </a:cubicBezTo>
                <a:cubicBezTo>
                  <a:pt x="650839" y="18364"/>
                  <a:pt x="712065" y="-9389"/>
                  <a:pt x="900031" y="0"/>
                </a:cubicBezTo>
                <a:cubicBezTo>
                  <a:pt x="1087997" y="9389"/>
                  <a:pt x="1177291" y="3685"/>
                  <a:pt x="1398509" y="0"/>
                </a:cubicBezTo>
                <a:cubicBezTo>
                  <a:pt x="1619727" y="-3685"/>
                  <a:pt x="1874008" y="-8897"/>
                  <a:pt x="2090841" y="0"/>
                </a:cubicBezTo>
                <a:cubicBezTo>
                  <a:pt x="2307674" y="8897"/>
                  <a:pt x="2573432" y="-313"/>
                  <a:pt x="2880099" y="0"/>
                </a:cubicBezTo>
                <a:cubicBezTo>
                  <a:pt x="3186766" y="313"/>
                  <a:pt x="3422577" y="10664"/>
                  <a:pt x="3766283" y="0"/>
                </a:cubicBezTo>
                <a:cubicBezTo>
                  <a:pt x="4109989" y="-10664"/>
                  <a:pt x="4342683" y="-32873"/>
                  <a:pt x="4652467" y="0"/>
                </a:cubicBezTo>
                <a:cubicBezTo>
                  <a:pt x="4962251" y="32873"/>
                  <a:pt x="5122120" y="29155"/>
                  <a:pt x="5247872" y="0"/>
                </a:cubicBezTo>
                <a:cubicBezTo>
                  <a:pt x="5373625" y="-29155"/>
                  <a:pt x="5749491" y="1706"/>
                  <a:pt x="6037130" y="0"/>
                </a:cubicBezTo>
                <a:cubicBezTo>
                  <a:pt x="6324769" y="-1706"/>
                  <a:pt x="6531407" y="1172"/>
                  <a:pt x="6729461" y="0"/>
                </a:cubicBezTo>
                <a:cubicBezTo>
                  <a:pt x="6927515" y="-1172"/>
                  <a:pt x="7096794" y="-1520"/>
                  <a:pt x="7324867" y="0"/>
                </a:cubicBezTo>
                <a:cubicBezTo>
                  <a:pt x="7552940" y="1520"/>
                  <a:pt x="7878827" y="-17110"/>
                  <a:pt x="8114124" y="0"/>
                </a:cubicBezTo>
                <a:cubicBezTo>
                  <a:pt x="8349421" y="17110"/>
                  <a:pt x="8334208" y="15114"/>
                  <a:pt x="8515677" y="0"/>
                </a:cubicBezTo>
                <a:cubicBezTo>
                  <a:pt x="8697146" y="-15114"/>
                  <a:pt x="9236164" y="22466"/>
                  <a:pt x="9692640" y="0"/>
                </a:cubicBezTo>
                <a:cubicBezTo>
                  <a:pt x="9692735" y="8251"/>
                  <a:pt x="9692514" y="12333"/>
                  <a:pt x="9692640" y="18288"/>
                </a:cubicBezTo>
                <a:cubicBezTo>
                  <a:pt x="9410102" y="47398"/>
                  <a:pt x="9172773" y="7109"/>
                  <a:pt x="9000309" y="18288"/>
                </a:cubicBezTo>
                <a:cubicBezTo>
                  <a:pt x="8827845" y="29467"/>
                  <a:pt x="8713608" y="28372"/>
                  <a:pt x="8501830" y="18288"/>
                </a:cubicBezTo>
                <a:cubicBezTo>
                  <a:pt x="8290052" y="8204"/>
                  <a:pt x="7893416" y="3561"/>
                  <a:pt x="7712572" y="18288"/>
                </a:cubicBezTo>
                <a:cubicBezTo>
                  <a:pt x="7531728" y="33015"/>
                  <a:pt x="7480716" y="17052"/>
                  <a:pt x="7311020" y="18288"/>
                </a:cubicBezTo>
                <a:cubicBezTo>
                  <a:pt x="7141324" y="19524"/>
                  <a:pt x="6962706" y="15975"/>
                  <a:pt x="6618688" y="18288"/>
                </a:cubicBezTo>
                <a:cubicBezTo>
                  <a:pt x="6274670" y="20601"/>
                  <a:pt x="6230664" y="-1692"/>
                  <a:pt x="6120210" y="18288"/>
                </a:cubicBezTo>
                <a:cubicBezTo>
                  <a:pt x="6009756" y="38268"/>
                  <a:pt x="5442516" y="28115"/>
                  <a:pt x="5234026" y="18288"/>
                </a:cubicBezTo>
                <a:cubicBezTo>
                  <a:pt x="5025536" y="8461"/>
                  <a:pt x="4953693" y="18182"/>
                  <a:pt x="4832473" y="18288"/>
                </a:cubicBezTo>
                <a:cubicBezTo>
                  <a:pt x="4711253" y="18394"/>
                  <a:pt x="4414565" y="-11251"/>
                  <a:pt x="4140142" y="18288"/>
                </a:cubicBezTo>
                <a:cubicBezTo>
                  <a:pt x="3865719" y="47827"/>
                  <a:pt x="3819081" y="16772"/>
                  <a:pt x="3738590" y="18288"/>
                </a:cubicBezTo>
                <a:cubicBezTo>
                  <a:pt x="3658099" y="19804"/>
                  <a:pt x="3427576" y="1385"/>
                  <a:pt x="3240111" y="18288"/>
                </a:cubicBezTo>
                <a:cubicBezTo>
                  <a:pt x="3052646" y="35191"/>
                  <a:pt x="2749652" y="-13914"/>
                  <a:pt x="2450853" y="18288"/>
                </a:cubicBezTo>
                <a:cubicBezTo>
                  <a:pt x="2152054" y="50490"/>
                  <a:pt x="1928331" y="61101"/>
                  <a:pt x="1564669" y="18288"/>
                </a:cubicBezTo>
                <a:cubicBezTo>
                  <a:pt x="1201007" y="-24525"/>
                  <a:pt x="1217828" y="-275"/>
                  <a:pt x="1066190" y="18288"/>
                </a:cubicBezTo>
                <a:cubicBezTo>
                  <a:pt x="914552" y="36851"/>
                  <a:pt x="418290" y="-14785"/>
                  <a:pt x="0" y="18288"/>
                </a:cubicBezTo>
                <a:cubicBezTo>
                  <a:pt x="641" y="14236"/>
                  <a:pt x="889" y="7550"/>
                  <a:pt x="0" y="0"/>
                </a:cubicBezTo>
                <a:close/>
              </a:path>
            </a:pathLst>
          </a:custGeom>
          <a:solidFill>
            <a:srgbClr val="FFFFFF">
              <a:alpha val="75000"/>
            </a:srgbClr>
          </a:solidFill>
          <a:ln w="44450" cap="rnd">
            <a:solidFill>
              <a:schemeClr val="bg1">
                <a:alpha val="75000"/>
              </a:schemeClr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5B39B34-CD9C-8574-9B13-EDE40F0017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004446"/>
            <a:ext cx="10515600" cy="417689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de-DE" sz="2200" dirty="0">
                <a:solidFill>
                  <a:schemeClr val="bg1"/>
                </a:solidFill>
              </a:rPr>
              <a:t> - erkennt und blockiert verdächtigen Traffic</a:t>
            </a:r>
          </a:p>
          <a:p>
            <a:pPr>
              <a:buFontTx/>
              <a:buChar char="-"/>
            </a:pPr>
            <a:r>
              <a:rPr lang="de-DE" sz="2200" dirty="0">
                <a:solidFill>
                  <a:schemeClr val="bg1"/>
                </a:solidFill>
              </a:rPr>
              <a:t>Basieren auf Signaturen und Anomalien</a:t>
            </a:r>
          </a:p>
          <a:p>
            <a:pPr>
              <a:buFontTx/>
              <a:buChar char="-"/>
            </a:pPr>
            <a:r>
              <a:rPr lang="de-DE" sz="2200" dirty="0">
                <a:solidFill>
                  <a:schemeClr val="bg1"/>
                </a:solidFill>
              </a:rPr>
              <a:t>Gezielte Filterung -&gt;</a:t>
            </a:r>
          </a:p>
          <a:p>
            <a:pPr>
              <a:buFontTx/>
              <a:buChar char="-"/>
            </a:pPr>
            <a:r>
              <a:rPr lang="de-DE" sz="2200" dirty="0">
                <a:solidFill>
                  <a:schemeClr val="bg1"/>
                </a:solidFill>
              </a:rPr>
              <a:t>IDS warnt</a:t>
            </a:r>
          </a:p>
          <a:p>
            <a:pPr>
              <a:buFontTx/>
              <a:buChar char="-"/>
            </a:pPr>
            <a:r>
              <a:rPr lang="de-DE" sz="2200" dirty="0">
                <a:solidFill>
                  <a:schemeClr val="bg1"/>
                </a:solidFill>
              </a:rPr>
              <a:t>IPS blockiert</a:t>
            </a:r>
          </a:p>
          <a:p>
            <a:pPr>
              <a:buFontTx/>
              <a:buChar char="-"/>
            </a:pPr>
            <a:r>
              <a:rPr lang="de-DE" sz="2200" dirty="0" err="1">
                <a:solidFill>
                  <a:schemeClr val="bg1"/>
                </a:solidFill>
              </a:rPr>
              <a:t>Logging</a:t>
            </a:r>
            <a:r>
              <a:rPr lang="de-DE" sz="2200" dirty="0">
                <a:solidFill>
                  <a:schemeClr val="bg1"/>
                </a:solidFill>
              </a:rPr>
              <a:t> zum Nachvollziehen von Vorfällen</a:t>
            </a:r>
          </a:p>
          <a:p>
            <a:pPr>
              <a:buFontTx/>
              <a:buChar char="-"/>
            </a:pPr>
            <a:r>
              <a:rPr lang="de-DE" sz="2200" dirty="0">
                <a:solidFill>
                  <a:schemeClr val="bg1"/>
                </a:solidFill>
              </a:rPr>
              <a:t>IPS kann zu effektiv sein</a:t>
            </a:r>
          </a:p>
          <a:p>
            <a:pPr>
              <a:buFontTx/>
              <a:buChar char="-"/>
            </a:pPr>
            <a:r>
              <a:rPr lang="de-DE" sz="2200" dirty="0">
                <a:solidFill>
                  <a:schemeClr val="bg1"/>
                </a:solidFill>
              </a:rPr>
              <a:t>IDS + </a:t>
            </a:r>
            <a:r>
              <a:rPr lang="de-DE" sz="2200" dirty="0" err="1">
                <a:solidFill>
                  <a:schemeClr val="bg1"/>
                </a:solidFill>
              </a:rPr>
              <a:t>Logging</a:t>
            </a:r>
            <a:r>
              <a:rPr lang="de-DE" sz="2200" dirty="0">
                <a:solidFill>
                  <a:schemeClr val="bg1"/>
                </a:solidFill>
              </a:rPr>
              <a:t> -&gt; gezielte Regeln + Whitelist</a:t>
            </a:r>
          </a:p>
          <a:p>
            <a:pPr>
              <a:buFontTx/>
              <a:buChar char="-"/>
            </a:pPr>
            <a:r>
              <a:rPr lang="de-DE" sz="2200" dirty="0">
                <a:solidFill>
                  <a:schemeClr val="bg1"/>
                </a:solidFill>
              </a:rPr>
              <a:t>Im </a:t>
            </a:r>
            <a:r>
              <a:rPr lang="de-DE" sz="2200" dirty="0" err="1">
                <a:solidFill>
                  <a:schemeClr val="bg1"/>
                </a:solidFill>
              </a:rPr>
              <a:t>Threat</a:t>
            </a:r>
            <a:r>
              <a:rPr lang="de-DE" sz="2200" dirty="0">
                <a:solidFill>
                  <a:schemeClr val="bg1"/>
                </a:solidFill>
              </a:rPr>
              <a:t> Management und Block List verwaltet</a:t>
            </a:r>
          </a:p>
        </p:txBody>
      </p:sp>
      <p:pic>
        <p:nvPicPr>
          <p:cNvPr id="5" name="Grafik 4" descr="Ein Bild, das Text, Screenshot, Schrift enthält.&#10;&#10;KI-generierte Inhalte können fehlerhaft sein.">
            <a:extLst>
              <a:ext uri="{FF2B5EF4-FFF2-40B4-BE49-F238E27FC236}">
                <a16:creationId xmlns:a16="http://schemas.microsoft.com/office/drawing/2014/main" id="{4FE578F8-F2C2-0FA3-E7EF-220FFF02B8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9832" y="2055803"/>
            <a:ext cx="3725491" cy="4125540"/>
          </a:xfrm>
          <a:prstGeom prst="rect">
            <a:avLst/>
          </a:prstGeom>
        </p:spPr>
      </p:pic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75559F51-7D95-1CE6-30AD-A1146A9F0C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FB693C-3D3E-4164-9FC0-E9F6868342D2}" type="slidenum">
              <a:rPr lang="de-BE" smtClean="0"/>
              <a:t>9</a:t>
            </a:fld>
            <a:endParaRPr lang="de-BE"/>
          </a:p>
        </p:txBody>
      </p:sp>
    </p:spTree>
    <p:extLst>
      <p:ext uri="{BB962C8B-B14F-4D97-AF65-F5344CB8AC3E}">
        <p14:creationId xmlns:p14="http://schemas.microsoft.com/office/powerpoint/2010/main" val="238554349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72374E2-F6A8-B5DB-10D6-D5D22F88F1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9" name="Rectangle 3080">
            <a:extLst>
              <a:ext uri="{FF2B5EF4-FFF2-40B4-BE49-F238E27FC236}">
                <a16:creationId xmlns:a16="http://schemas.microsoft.com/office/drawing/2014/main" id="{EE434327-8541-D979-75F4-8400DF339A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076" name="Picture 4" descr="Rethinking Firewall and Proxy Management for Enterprise Agility">
            <a:extLst>
              <a:ext uri="{FF2B5EF4-FFF2-40B4-BE49-F238E27FC236}">
                <a16:creationId xmlns:a16="http://schemas.microsoft.com/office/drawing/2014/main" id="{70EA9772-268F-6377-A12D-6B39AD062E9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alphaModFix amt="4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" y="10"/>
            <a:ext cx="12191979" cy="685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EA9ACFD3-1FB8-4887-5DF8-3C16DD3985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de-DE" sz="5400" dirty="0">
                <a:solidFill>
                  <a:schemeClr val="bg1"/>
                </a:solidFill>
              </a:rPr>
              <a:t>Web </a:t>
            </a:r>
            <a:r>
              <a:rPr lang="de-DE" sz="5400" dirty="0" err="1">
                <a:solidFill>
                  <a:schemeClr val="bg1"/>
                </a:solidFill>
              </a:rPr>
              <a:t>Filtering</a:t>
            </a:r>
            <a:endParaRPr lang="de-BE" sz="5400" dirty="0">
              <a:solidFill>
                <a:schemeClr val="bg1"/>
              </a:solidFill>
            </a:endParaRPr>
          </a:p>
        </p:txBody>
      </p:sp>
      <p:sp>
        <p:nvSpPr>
          <p:cNvPr id="3090" name="sketchy line">
            <a:extLst>
              <a:ext uri="{FF2B5EF4-FFF2-40B4-BE49-F238E27FC236}">
                <a16:creationId xmlns:a16="http://schemas.microsoft.com/office/drawing/2014/main" id="{B0FC77EE-E7A9-D4DE-1AAF-D5B7A3ACFA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14399" y="1681544"/>
            <a:ext cx="9692640" cy="18288"/>
          </a:xfrm>
          <a:custGeom>
            <a:avLst/>
            <a:gdLst>
              <a:gd name="csX0" fmla="*/ 0 w 9692640"/>
              <a:gd name="csY0" fmla="*/ 0 h 18288"/>
              <a:gd name="csX1" fmla="*/ 401552 w 9692640"/>
              <a:gd name="csY1" fmla="*/ 0 h 18288"/>
              <a:gd name="csX2" fmla="*/ 996957 w 9692640"/>
              <a:gd name="csY2" fmla="*/ 0 h 18288"/>
              <a:gd name="csX3" fmla="*/ 1398509 w 9692640"/>
              <a:gd name="csY3" fmla="*/ 0 h 18288"/>
              <a:gd name="csX4" fmla="*/ 2090841 w 9692640"/>
              <a:gd name="csY4" fmla="*/ 0 h 18288"/>
              <a:gd name="csX5" fmla="*/ 2686246 w 9692640"/>
              <a:gd name="csY5" fmla="*/ 0 h 18288"/>
              <a:gd name="csX6" fmla="*/ 3475504 w 9692640"/>
              <a:gd name="csY6" fmla="*/ 0 h 18288"/>
              <a:gd name="csX7" fmla="*/ 4361688 w 9692640"/>
              <a:gd name="csY7" fmla="*/ 0 h 18288"/>
              <a:gd name="csX8" fmla="*/ 5054019 w 9692640"/>
              <a:gd name="csY8" fmla="*/ 0 h 18288"/>
              <a:gd name="csX9" fmla="*/ 5940204 w 9692640"/>
              <a:gd name="csY9" fmla="*/ 0 h 18288"/>
              <a:gd name="csX10" fmla="*/ 6632535 w 9692640"/>
              <a:gd name="csY10" fmla="*/ 0 h 18288"/>
              <a:gd name="csX11" fmla="*/ 7034087 w 9692640"/>
              <a:gd name="csY11" fmla="*/ 0 h 18288"/>
              <a:gd name="csX12" fmla="*/ 7532566 w 9692640"/>
              <a:gd name="csY12" fmla="*/ 0 h 18288"/>
              <a:gd name="csX13" fmla="*/ 8418750 w 9692640"/>
              <a:gd name="csY13" fmla="*/ 0 h 18288"/>
              <a:gd name="csX14" fmla="*/ 9692640 w 9692640"/>
              <a:gd name="csY14" fmla="*/ 0 h 18288"/>
              <a:gd name="csX15" fmla="*/ 9692640 w 9692640"/>
              <a:gd name="csY15" fmla="*/ 18288 h 18288"/>
              <a:gd name="csX16" fmla="*/ 9000309 w 9692640"/>
              <a:gd name="csY16" fmla="*/ 18288 h 18288"/>
              <a:gd name="csX17" fmla="*/ 8307977 w 9692640"/>
              <a:gd name="csY17" fmla="*/ 18288 h 18288"/>
              <a:gd name="csX18" fmla="*/ 7712572 w 9692640"/>
              <a:gd name="csY18" fmla="*/ 18288 h 18288"/>
              <a:gd name="csX19" fmla="*/ 7214093 w 9692640"/>
              <a:gd name="csY19" fmla="*/ 18288 h 18288"/>
              <a:gd name="csX20" fmla="*/ 6327909 w 9692640"/>
              <a:gd name="csY20" fmla="*/ 18288 h 18288"/>
              <a:gd name="csX21" fmla="*/ 5635578 w 9692640"/>
              <a:gd name="csY21" fmla="*/ 18288 h 18288"/>
              <a:gd name="csX22" fmla="*/ 4846320 w 9692640"/>
              <a:gd name="csY22" fmla="*/ 18288 h 18288"/>
              <a:gd name="csX23" fmla="*/ 4444768 w 9692640"/>
              <a:gd name="csY23" fmla="*/ 18288 h 18288"/>
              <a:gd name="csX24" fmla="*/ 3946289 w 9692640"/>
              <a:gd name="csY24" fmla="*/ 18288 h 18288"/>
              <a:gd name="csX25" fmla="*/ 3253958 w 9692640"/>
              <a:gd name="csY25" fmla="*/ 18288 h 18288"/>
              <a:gd name="csX26" fmla="*/ 2464700 w 9692640"/>
              <a:gd name="csY26" fmla="*/ 18288 h 18288"/>
              <a:gd name="csX27" fmla="*/ 2063148 w 9692640"/>
              <a:gd name="csY27" fmla="*/ 18288 h 18288"/>
              <a:gd name="csX28" fmla="*/ 1661595 w 9692640"/>
              <a:gd name="csY28" fmla="*/ 18288 h 18288"/>
              <a:gd name="csX29" fmla="*/ 969264 w 9692640"/>
              <a:gd name="csY29" fmla="*/ 18288 h 18288"/>
              <a:gd name="csX30" fmla="*/ 0 w 9692640"/>
              <a:gd name="csY30" fmla="*/ 18288 h 18288"/>
              <a:gd name="csX31" fmla="*/ 0 w 9692640"/>
              <a:gd name="csY3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</a:cxnLst>
            <a:rect l="l" t="t" r="r" b="b"/>
            <a:pathLst>
              <a:path w="9692640" h="18288" fill="none" extrusionOk="0">
                <a:moveTo>
                  <a:pt x="0" y="0"/>
                </a:moveTo>
                <a:cubicBezTo>
                  <a:pt x="142992" y="4732"/>
                  <a:pt x="265909" y="-3365"/>
                  <a:pt x="401552" y="0"/>
                </a:cubicBezTo>
                <a:cubicBezTo>
                  <a:pt x="537195" y="3365"/>
                  <a:pt x="738153" y="6482"/>
                  <a:pt x="996957" y="0"/>
                </a:cubicBezTo>
                <a:cubicBezTo>
                  <a:pt x="1255762" y="-6482"/>
                  <a:pt x="1280511" y="12509"/>
                  <a:pt x="1398509" y="0"/>
                </a:cubicBezTo>
                <a:cubicBezTo>
                  <a:pt x="1516507" y="-12509"/>
                  <a:pt x="1782573" y="-31523"/>
                  <a:pt x="2090841" y="0"/>
                </a:cubicBezTo>
                <a:cubicBezTo>
                  <a:pt x="2399109" y="31523"/>
                  <a:pt x="2488380" y="26286"/>
                  <a:pt x="2686246" y="0"/>
                </a:cubicBezTo>
                <a:cubicBezTo>
                  <a:pt x="2884112" y="-26286"/>
                  <a:pt x="3186024" y="-14734"/>
                  <a:pt x="3475504" y="0"/>
                </a:cubicBezTo>
                <a:cubicBezTo>
                  <a:pt x="3764984" y="14734"/>
                  <a:pt x="4053017" y="43292"/>
                  <a:pt x="4361688" y="0"/>
                </a:cubicBezTo>
                <a:cubicBezTo>
                  <a:pt x="4670359" y="-43292"/>
                  <a:pt x="4736164" y="-729"/>
                  <a:pt x="5054019" y="0"/>
                </a:cubicBezTo>
                <a:cubicBezTo>
                  <a:pt x="5371874" y="729"/>
                  <a:pt x="5543528" y="-22963"/>
                  <a:pt x="5940204" y="0"/>
                </a:cubicBezTo>
                <a:cubicBezTo>
                  <a:pt x="6336881" y="22963"/>
                  <a:pt x="6423838" y="6469"/>
                  <a:pt x="6632535" y="0"/>
                </a:cubicBezTo>
                <a:cubicBezTo>
                  <a:pt x="6841232" y="-6469"/>
                  <a:pt x="6852819" y="17036"/>
                  <a:pt x="7034087" y="0"/>
                </a:cubicBezTo>
                <a:cubicBezTo>
                  <a:pt x="7215355" y="-17036"/>
                  <a:pt x="7313136" y="11151"/>
                  <a:pt x="7532566" y="0"/>
                </a:cubicBezTo>
                <a:cubicBezTo>
                  <a:pt x="7751996" y="-11151"/>
                  <a:pt x="8015001" y="25614"/>
                  <a:pt x="8418750" y="0"/>
                </a:cubicBezTo>
                <a:cubicBezTo>
                  <a:pt x="8822499" y="-25614"/>
                  <a:pt x="9163239" y="48603"/>
                  <a:pt x="9692640" y="0"/>
                </a:cubicBezTo>
                <a:cubicBezTo>
                  <a:pt x="9691955" y="4437"/>
                  <a:pt x="9693170" y="10717"/>
                  <a:pt x="9692640" y="18288"/>
                </a:cubicBezTo>
                <a:cubicBezTo>
                  <a:pt x="9545125" y="42172"/>
                  <a:pt x="9164259" y="6706"/>
                  <a:pt x="9000309" y="18288"/>
                </a:cubicBezTo>
                <a:cubicBezTo>
                  <a:pt x="8836359" y="29870"/>
                  <a:pt x="8521035" y="-14108"/>
                  <a:pt x="8307977" y="18288"/>
                </a:cubicBezTo>
                <a:cubicBezTo>
                  <a:pt x="8094919" y="50684"/>
                  <a:pt x="7881757" y="11235"/>
                  <a:pt x="7712572" y="18288"/>
                </a:cubicBezTo>
                <a:cubicBezTo>
                  <a:pt x="7543387" y="25341"/>
                  <a:pt x="7358861" y="20625"/>
                  <a:pt x="7214093" y="18288"/>
                </a:cubicBezTo>
                <a:cubicBezTo>
                  <a:pt x="7069325" y="15951"/>
                  <a:pt x="6523705" y="52160"/>
                  <a:pt x="6327909" y="18288"/>
                </a:cubicBezTo>
                <a:cubicBezTo>
                  <a:pt x="6132113" y="-15584"/>
                  <a:pt x="5923847" y="21204"/>
                  <a:pt x="5635578" y="18288"/>
                </a:cubicBezTo>
                <a:cubicBezTo>
                  <a:pt x="5347309" y="15372"/>
                  <a:pt x="5114749" y="50642"/>
                  <a:pt x="4846320" y="18288"/>
                </a:cubicBezTo>
                <a:cubicBezTo>
                  <a:pt x="4577891" y="-14066"/>
                  <a:pt x="4576701" y="1487"/>
                  <a:pt x="4444768" y="18288"/>
                </a:cubicBezTo>
                <a:cubicBezTo>
                  <a:pt x="4312835" y="35089"/>
                  <a:pt x="4112575" y="15158"/>
                  <a:pt x="3946289" y="18288"/>
                </a:cubicBezTo>
                <a:cubicBezTo>
                  <a:pt x="3780003" y="21418"/>
                  <a:pt x="3396009" y="18797"/>
                  <a:pt x="3253958" y="18288"/>
                </a:cubicBezTo>
                <a:cubicBezTo>
                  <a:pt x="3111907" y="17779"/>
                  <a:pt x="2760272" y="57223"/>
                  <a:pt x="2464700" y="18288"/>
                </a:cubicBezTo>
                <a:cubicBezTo>
                  <a:pt x="2169128" y="-20647"/>
                  <a:pt x="2232262" y="7960"/>
                  <a:pt x="2063148" y="18288"/>
                </a:cubicBezTo>
                <a:cubicBezTo>
                  <a:pt x="1894034" y="28616"/>
                  <a:pt x="1799338" y="3019"/>
                  <a:pt x="1661595" y="18288"/>
                </a:cubicBezTo>
                <a:cubicBezTo>
                  <a:pt x="1523852" y="33557"/>
                  <a:pt x="1113928" y="-4352"/>
                  <a:pt x="969264" y="18288"/>
                </a:cubicBezTo>
                <a:cubicBezTo>
                  <a:pt x="824600" y="40928"/>
                  <a:pt x="356149" y="-3128"/>
                  <a:pt x="0" y="18288"/>
                </a:cubicBezTo>
                <a:cubicBezTo>
                  <a:pt x="-540" y="12521"/>
                  <a:pt x="894" y="7749"/>
                  <a:pt x="0" y="0"/>
                </a:cubicBezTo>
                <a:close/>
              </a:path>
              <a:path w="9692640" h="18288" stroke="0" extrusionOk="0">
                <a:moveTo>
                  <a:pt x="0" y="0"/>
                </a:moveTo>
                <a:cubicBezTo>
                  <a:pt x="162642" y="3864"/>
                  <a:pt x="346119" y="-18364"/>
                  <a:pt x="498479" y="0"/>
                </a:cubicBezTo>
                <a:cubicBezTo>
                  <a:pt x="650839" y="18364"/>
                  <a:pt x="712065" y="-9389"/>
                  <a:pt x="900031" y="0"/>
                </a:cubicBezTo>
                <a:cubicBezTo>
                  <a:pt x="1087997" y="9389"/>
                  <a:pt x="1177291" y="3685"/>
                  <a:pt x="1398509" y="0"/>
                </a:cubicBezTo>
                <a:cubicBezTo>
                  <a:pt x="1619727" y="-3685"/>
                  <a:pt x="1874008" y="-8897"/>
                  <a:pt x="2090841" y="0"/>
                </a:cubicBezTo>
                <a:cubicBezTo>
                  <a:pt x="2307674" y="8897"/>
                  <a:pt x="2573432" y="-313"/>
                  <a:pt x="2880099" y="0"/>
                </a:cubicBezTo>
                <a:cubicBezTo>
                  <a:pt x="3186766" y="313"/>
                  <a:pt x="3422577" y="10664"/>
                  <a:pt x="3766283" y="0"/>
                </a:cubicBezTo>
                <a:cubicBezTo>
                  <a:pt x="4109989" y="-10664"/>
                  <a:pt x="4342683" y="-32873"/>
                  <a:pt x="4652467" y="0"/>
                </a:cubicBezTo>
                <a:cubicBezTo>
                  <a:pt x="4962251" y="32873"/>
                  <a:pt x="5122120" y="29155"/>
                  <a:pt x="5247872" y="0"/>
                </a:cubicBezTo>
                <a:cubicBezTo>
                  <a:pt x="5373625" y="-29155"/>
                  <a:pt x="5749491" y="1706"/>
                  <a:pt x="6037130" y="0"/>
                </a:cubicBezTo>
                <a:cubicBezTo>
                  <a:pt x="6324769" y="-1706"/>
                  <a:pt x="6531407" y="1172"/>
                  <a:pt x="6729461" y="0"/>
                </a:cubicBezTo>
                <a:cubicBezTo>
                  <a:pt x="6927515" y="-1172"/>
                  <a:pt x="7096794" y="-1520"/>
                  <a:pt x="7324867" y="0"/>
                </a:cubicBezTo>
                <a:cubicBezTo>
                  <a:pt x="7552940" y="1520"/>
                  <a:pt x="7878827" y="-17110"/>
                  <a:pt x="8114124" y="0"/>
                </a:cubicBezTo>
                <a:cubicBezTo>
                  <a:pt x="8349421" y="17110"/>
                  <a:pt x="8334208" y="15114"/>
                  <a:pt x="8515677" y="0"/>
                </a:cubicBezTo>
                <a:cubicBezTo>
                  <a:pt x="8697146" y="-15114"/>
                  <a:pt x="9236164" y="22466"/>
                  <a:pt x="9692640" y="0"/>
                </a:cubicBezTo>
                <a:cubicBezTo>
                  <a:pt x="9692735" y="8251"/>
                  <a:pt x="9692514" y="12333"/>
                  <a:pt x="9692640" y="18288"/>
                </a:cubicBezTo>
                <a:cubicBezTo>
                  <a:pt x="9410102" y="47398"/>
                  <a:pt x="9172773" y="7109"/>
                  <a:pt x="9000309" y="18288"/>
                </a:cubicBezTo>
                <a:cubicBezTo>
                  <a:pt x="8827845" y="29467"/>
                  <a:pt x="8713608" y="28372"/>
                  <a:pt x="8501830" y="18288"/>
                </a:cubicBezTo>
                <a:cubicBezTo>
                  <a:pt x="8290052" y="8204"/>
                  <a:pt x="7893416" y="3561"/>
                  <a:pt x="7712572" y="18288"/>
                </a:cubicBezTo>
                <a:cubicBezTo>
                  <a:pt x="7531728" y="33015"/>
                  <a:pt x="7480716" y="17052"/>
                  <a:pt x="7311020" y="18288"/>
                </a:cubicBezTo>
                <a:cubicBezTo>
                  <a:pt x="7141324" y="19524"/>
                  <a:pt x="6962706" y="15975"/>
                  <a:pt x="6618688" y="18288"/>
                </a:cubicBezTo>
                <a:cubicBezTo>
                  <a:pt x="6274670" y="20601"/>
                  <a:pt x="6230664" y="-1692"/>
                  <a:pt x="6120210" y="18288"/>
                </a:cubicBezTo>
                <a:cubicBezTo>
                  <a:pt x="6009756" y="38268"/>
                  <a:pt x="5442516" y="28115"/>
                  <a:pt x="5234026" y="18288"/>
                </a:cubicBezTo>
                <a:cubicBezTo>
                  <a:pt x="5025536" y="8461"/>
                  <a:pt x="4953693" y="18182"/>
                  <a:pt x="4832473" y="18288"/>
                </a:cubicBezTo>
                <a:cubicBezTo>
                  <a:pt x="4711253" y="18394"/>
                  <a:pt x="4414565" y="-11251"/>
                  <a:pt x="4140142" y="18288"/>
                </a:cubicBezTo>
                <a:cubicBezTo>
                  <a:pt x="3865719" y="47827"/>
                  <a:pt x="3819081" y="16772"/>
                  <a:pt x="3738590" y="18288"/>
                </a:cubicBezTo>
                <a:cubicBezTo>
                  <a:pt x="3658099" y="19804"/>
                  <a:pt x="3427576" y="1385"/>
                  <a:pt x="3240111" y="18288"/>
                </a:cubicBezTo>
                <a:cubicBezTo>
                  <a:pt x="3052646" y="35191"/>
                  <a:pt x="2749652" y="-13914"/>
                  <a:pt x="2450853" y="18288"/>
                </a:cubicBezTo>
                <a:cubicBezTo>
                  <a:pt x="2152054" y="50490"/>
                  <a:pt x="1928331" y="61101"/>
                  <a:pt x="1564669" y="18288"/>
                </a:cubicBezTo>
                <a:cubicBezTo>
                  <a:pt x="1201007" y="-24525"/>
                  <a:pt x="1217828" y="-275"/>
                  <a:pt x="1066190" y="18288"/>
                </a:cubicBezTo>
                <a:cubicBezTo>
                  <a:pt x="914552" y="36851"/>
                  <a:pt x="418290" y="-14785"/>
                  <a:pt x="0" y="18288"/>
                </a:cubicBezTo>
                <a:cubicBezTo>
                  <a:pt x="641" y="14236"/>
                  <a:pt x="889" y="7550"/>
                  <a:pt x="0" y="0"/>
                </a:cubicBezTo>
                <a:close/>
              </a:path>
            </a:pathLst>
          </a:custGeom>
          <a:solidFill>
            <a:srgbClr val="FFFFFF">
              <a:alpha val="75000"/>
            </a:srgbClr>
          </a:solidFill>
          <a:ln w="44450" cap="rnd">
            <a:solidFill>
              <a:schemeClr val="bg1">
                <a:alpha val="75000"/>
              </a:schemeClr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491B39D-B58F-C8B1-5273-5386F4BF91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004446"/>
            <a:ext cx="10515600" cy="4176897"/>
          </a:xfrm>
        </p:spPr>
        <p:txBody>
          <a:bodyPr>
            <a:normAutofit/>
          </a:bodyPr>
          <a:lstStyle/>
          <a:p>
            <a:pPr>
              <a:buFontTx/>
              <a:buChar char="-"/>
            </a:pPr>
            <a:r>
              <a:rPr lang="de-DE" sz="2200" dirty="0">
                <a:solidFill>
                  <a:schemeClr val="bg1"/>
                </a:solidFill>
              </a:rPr>
              <a:t>Unterteilung in Gruppen von Geräten / Kategorien / URLs</a:t>
            </a:r>
          </a:p>
          <a:p>
            <a:pPr>
              <a:buFontTx/>
              <a:buChar char="-"/>
            </a:pPr>
            <a:endParaRPr lang="de-DE" sz="2200" dirty="0">
              <a:solidFill>
                <a:schemeClr val="bg1"/>
              </a:solidFill>
            </a:endParaRPr>
          </a:p>
          <a:p>
            <a:pPr>
              <a:buFontTx/>
              <a:buChar char="-"/>
            </a:pPr>
            <a:r>
              <a:rPr lang="de-DE" sz="2200" dirty="0">
                <a:solidFill>
                  <a:schemeClr val="bg1"/>
                </a:solidFill>
              </a:rPr>
              <a:t>Geräte bzw. Benutzergruppen ( Admins / Mitarbeiter / Gäste)</a:t>
            </a:r>
          </a:p>
          <a:p>
            <a:pPr>
              <a:buFontTx/>
              <a:buChar char="-"/>
            </a:pPr>
            <a:endParaRPr lang="de-DE" sz="2200" dirty="0">
              <a:solidFill>
                <a:schemeClr val="bg1"/>
              </a:solidFill>
            </a:endParaRPr>
          </a:p>
          <a:p>
            <a:pPr>
              <a:buFontTx/>
              <a:buChar char="-"/>
            </a:pPr>
            <a:r>
              <a:rPr lang="de-DE" sz="2200" dirty="0">
                <a:solidFill>
                  <a:schemeClr val="bg1"/>
                </a:solidFill>
              </a:rPr>
              <a:t>Kategorien wie z.B. </a:t>
            </a:r>
            <a:r>
              <a:rPr lang="de-DE" sz="2200" dirty="0" err="1">
                <a:solidFill>
                  <a:schemeClr val="bg1"/>
                </a:solidFill>
              </a:rPr>
              <a:t>Social</a:t>
            </a:r>
            <a:r>
              <a:rPr lang="de-DE" sz="2200" dirty="0">
                <a:solidFill>
                  <a:schemeClr val="bg1"/>
                </a:solidFill>
              </a:rPr>
              <a:t> Media , Pornographie etc.</a:t>
            </a:r>
          </a:p>
          <a:p>
            <a:pPr>
              <a:buFontTx/>
              <a:buChar char="-"/>
            </a:pPr>
            <a:r>
              <a:rPr lang="de-DE" sz="2200" dirty="0" err="1">
                <a:solidFill>
                  <a:schemeClr val="bg1"/>
                </a:solidFill>
              </a:rPr>
              <a:t>Regelset</a:t>
            </a:r>
            <a:r>
              <a:rPr lang="de-DE" sz="2200" dirty="0">
                <a:solidFill>
                  <a:schemeClr val="bg1"/>
                </a:solidFill>
              </a:rPr>
              <a:t> -&gt; </a:t>
            </a:r>
            <a:r>
              <a:rPr lang="de-DE" sz="2200" dirty="0" err="1">
                <a:solidFill>
                  <a:schemeClr val="bg1"/>
                </a:solidFill>
              </a:rPr>
              <a:t>Allow</a:t>
            </a:r>
            <a:r>
              <a:rPr lang="de-DE" sz="2200" dirty="0">
                <a:solidFill>
                  <a:schemeClr val="bg1"/>
                </a:solidFill>
              </a:rPr>
              <a:t> / Deny / Warn und Zeitbasiert </a:t>
            </a:r>
          </a:p>
          <a:p>
            <a:pPr>
              <a:buFontTx/>
              <a:buChar char="-"/>
            </a:pPr>
            <a:endParaRPr lang="de-DE" sz="2200" dirty="0">
              <a:solidFill>
                <a:schemeClr val="bg1"/>
              </a:solidFill>
            </a:endParaRPr>
          </a:p>
          <a:p>
            <a:pPr>
              <a:buFontTx/>
              <a:buChar char="-"/>
            </a:pPr>
            <a:r>
              <a:rPr lang="de-DE" sz="2200" dirty="0">
                <a:solidFill>
                  <a:schemeClr val="bg1"/>
                </a:solidFill>
              </a:rPr>
              <a:t>URL </a:t>
            </a:r>
            <a:r>
              <a:rPr lang="de-DE" sz="2200" dirty="0" err="1">
                <a:solidFill>
                  <a:schemeClr val="bg1"/>
                </a:solidFill>
              </a:rPr>
              <a:t>Filtering</a:t>
            </a:r>
            <a:r>
              <a:rPr lang="de-DE" sz="2200" dirty="0">
                <a:solidFill>
                  <a:schemeClr val="bg1"/>
                </a:solidFill>
              </a:rPr>
              <a:t> spez. URLs bzw. Domains</a:t>
            </a:r>
          </a:p>
          <a:p>
            <a:pPr>
              <a:buFontTx/>
              <a:buChar char="-"/>
            </a:pPr>
            <a:endParaRPr lang="de-DE" sz="2200" dirty="0">
              <a:solidFill>
                <a:schemeClr val="bg1"/>
              </a:solidFill>
            </a:endParaRP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8A90B2A1-D39A-B1B3-3C5A-4C49198606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FB693C-3D3E-4164-9FC0-E9F6868342D2}" type="slidenum">
              <a:rPr lang="de-BE" smtClean="0"/>
              <a:t>10</a:t>
            </a:fld>
            <a:endParaRPr lang="de-BE"/>
          </a:p>
        </p:txBody>
      </p:sp>
    </p:spTree>
    <p:extLst>
      <p:ext uri="{BB962C8B-B14F-4D97-AF65-F5344CB8AC3E}">
        <p14:creationId xmlns:p14="http://schemas.microsoft.com/office/powerpoint/2010/main" val="308257081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9912C0F-D09E-75BF-6082-A6E51145EF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9" name="Rectangle 3080">
            <a:extLst>
              <a:ext uri="{FF2B5EF4-FFF2-40B4-BE49-F238E27FC236}">
                <a16:creationId xmlns:a16="http://schemas.microsoft.com/office/drawing/2014/main" id="{841E9628-1666-E214-BB72-685C86E5F1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076" name="Picture 4" descr="Rethinking Firewall and Proxy Management for Enterprise Agility">
            <a:extLst>
              <a:ext uri="{FF2B5EF4-FFF2-40B4-BE49-F238E27FC236}">
                <a16:creationId xmlns:a16="http://schemas.microsoft.com/office/drawing/2014/main" id="{4946EEF7-71D8-C981-1118-DD3CCB0AC4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alphaModFix amt="4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" y="10"/>
            <a:ext cx="12191979" cy="685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36FABE19-CA30-805C-426D-B13EF671F2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de-DE" sz="5400" dirty="0">
                <a:solidFill>
                  <a:schemeClr val="bg1"/>
                </a:solidFill>
              </a:rPr>
              <a:t>Web Security</a:t>
            </a:r>
            <a:endParaRPr lang="de-BE" sz="5400" dirty="0">
              <a:solidFill>
                <a:schemeClr val="bg1"/>
              </a:solidFill>
            </a:endParaRPr>
          </a:p>
        </p:txBody>
      </p:sp>
      <p:sp>
        <p:nvSpPr>
          <p:cNvPr id="3090" name="sketchy line">
            <a:extLst>
              <a:ext uri="{FF2B5EF4-FFF2-40B4-BE49-F238E27FC236}">
                <a16:creationId xmlns:a16="http://schemas.microsoft.com/office/drawing/2014/main" id="{588E3C6F-9451-8C7B-682F-FF79B0F4AB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14399" y="1681544"/>
            <a:ext cx="9692640" cy="18288"/>
          </a:xfrm>
          <a:custGeom>
            <a:avLst/>
            <a:gdLst>
              <a:gd name="csX0" fmla="*/ 0 w 9692640"/>
              <a:gd name="csY0" fmla="*/ 0 h 18288"/>
              <a:gd name="csX1" fmla="*/ 401552 w 9692640"/>
              <a:gd name="csY1" fmla="*/ 0 h 18288"/>
              <a:gd name="csX2" fmla="*/ 996957 w 9692640"/>
              <a:gd name="csY2" fmla="*/ 0 h 18288"/>
              <a:gd name="csX3" fmla="*/ 1398509 w 9692640"/>
              <a:gd name="csY3" fmla="*/ 0 h 18288"/>
              <a:gd name="csX4" fmla="*/ 2090841 w 9692640"/>
              <a:gd name="csY4" fmla="*/ 0 h 18288"/>
              <a:gd name="csX5" fmla="*/ 2686246 w 9692640"/>
              <a:gd name="csY5" fmla="*/ 0 h 18288"/>
              <a:gd name="csX6" fmla="*/ 3475504 w 9692640"/>
              <a:gd name="csY6" fmla="*/ 0 h 18288"/>
              <a:gd name="csX7" fmla="*/ 4361688 w 9692640"/>
              <a:gd name="csY7" fmla="*/ 0 h 18288"/>
              <a:gd name="csX8" fmla="*/ 5054019 w 9692640"/>
              <a:gd name="csY8" fmla="*/ 0 h 18288"/>
              <a:gd name="csX9" fmla="*/ 5940204 w 9692640"/>
              <a:gd name="csY9" fmla="*/ 0 h 18288"/>
              <a:gd name="csX10" fmla="*/ 6632535 w 9692640"/>
              <a:gd name="csY10" fmla="*/ 0 h 18288"/>
              <a:gd name="csX11" fmla="*/ 7034087 w 9692640"/>
              <a:gd name="csY11" fmla="*/ 0 h 18288"/>
              <a:gd name="csX12" fmla="*/ 7532566 w 9692640"/>
              <a:gd name="csY12" fmla="*/ 0 h 18288"/>
              <a:gd name="csX13" fmla="*/ 8418750 w 9692640"/>
              <a:gd name="csY13" fmla="*/ 0 h 18288"/>
              <a:gd name="csX14" fmla="*/ 9692640 w 9692640"/>
              <a:gd name="csY14" fmla="*/ 0 h 18288"/>
              <a:gd name="csX15" fmla="*/ 9692640 w 9692640"/>
              <a:gd name="csY15" fmla="*/ 18288 h 18288"/>
              <a:gd name="csX16" fmla="*/ 9000309 w 9692640"/>
              <a:gd name="csY16" fmla="*/ 18288 h 18288"/>
              <a:gd name="csX17" fmla="*/ 8307977 w 9692640"/>
              <a:gd name="csY17" fmla="*/ 18288 h 18288"/>
              <a:gd name="csX18" fmla="*/ 7712572 w 9692640"/>
              <a:gd name="csY18" fmla="*/ 18288 h 18288"/>
              <a:gd name="csX19" fmla="*/ 7214093 w 9692640"/>
              <a:gd name="csY19" fmla="*/ 18288 h 18288"/>
              <a:gd name="csX20" fmla="*/ 6327909 w 9692640"/>
              <a:gd name="csY20" fmla="*/ 18288 h 18288"/>
              <a:gd name="csX21" fmla="*/ 5635578 w 9692640"/>
              <a:gd name="csY21" fmla="*/ 18288 h 18288"/>
              <a:gd name="csX22" fmla="*/ 4846320 w 9692640"/>
              <a:gd name="csY22" fmla="*/ 18288 h 18288"/>
              <a:gd name="csX23" fmla="*/ 4444768 w 9692640"/>
              <a:gd name="csY23" fmla="*/ 18288 h 18288"/>
              <a:gd name="csX24" fmla="*/ 3946289 w 9692640"/>
              <a:gd name="csY24" fmla="*/ 18288 h 18288"/>
              <a:gd name="csX25" fmla="*/ 3253958 w 9692640"/>
              <a:gd name="csY25" fmla="*/ 18288 h 18288"/>
              <a:gd name="csX26" fmla="*/ 2464700 w 9692640"/>
              <a:gd name="csY26" fmla="*/ 18288 h 18288"/>
              <a:gd name="csX27" fmla="*/ 2063148 w 9692640"/>
              <a:gd name="csY27" fmla="*/ 18288 h 18288"/>
              <a:gd name="csX28" fmla="*/ 1661595 w 9692640"/>
              <a:gd name="csY28" fmla="*/ 18288 h 18288"/>
              <a:gd name="csX29" fmla="*/ 969264 w 9692640"/>
              <a:gd name="csY29" fmla="*/ 18288 h 18288"/>
              <a:gd name="csX30" fmla="*/ 0 w 9692640"/>
              <a:gd name="csY30" fmla="*/ 18288 h 18288"/>
              <a:gd name="csX31" fmla="*/ 0 w 9692640"/>
              <a:gd name="csY3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</a:cxnLst>
            <a:rect l="l" t="t" r="r" b="b"/>
            <a:pathLst>
              <a:path w="9692640" h="18288" fill="none" extrusionOk="0">
                <a:moveTo>
                  <a:pt x="0" y="0"/>
                </a:moveTo>
                <a:cubicBezTo>
                  <a:pt x="142992" y="4732"/>
                  <a:pt x="265909" y="-3365"/>
                  <a:pt x="401552" y="0"/>
                </a:cubicBezTo>
                <a:cubicBezTo>
                  <a:pt x="537195" y="3365"/>
                  <a:pt x="738153" y="6482"/>
                  <a:pt x="996957" y="0"/>
                </a:cubicBezTo>
                <a:cubicBezTo>
                  <a:pt x="1255762" y="-6482"/>
                  <a:pt x="1280511" y="12509"/>
                  <a:pt x="1398509" y="0"/>
                </a:cubicBezTo>
                <a:cubicBezTo>
                  <a:pt x="1516507" y="-12509"/>
                  <a:pt x="1782573" y="-31523"/>
                  <a:pt x="2090841" y="0"/>
                </a:cubicBezTo>
                <a:cubicBezTo>
                  <a:pt x="2399109" y="31523"/>
                  <a:pt x="2488380" y="26286"/>
                  <a:pt x="2686246" y="0"/>
                </a:cubicBezTo>
                <a:cubicBezTo>
                  <a:pt x="2884112" y="-26286"/>
                  <a:pt x="3186024" y="-14734"/>
                  <a:pt x="3475504" y="0"/>
                </a:cubicBezTo>
                <a:cubicBezTo>
                  <a:pt x="3764984" y="14734"/>
                  <a:pt x="4053017" y="43292"/>
                  <a:pt x="4361688" y="0"/>
                </a:cubicBezTo>
                <a:cubicBezTo>
                  <a:pt x="4670359" y="-43292"/>
                  <a:pt x="4736164" y="-729"/>
                  <a:pt x="5054019" y="0"/>
                </a:cubicBezTo>
                <a:cubicBezTo>
                  <a:pt x="5371874" y="729"/>
                  <a:pt x="5543528" y="-22963"/>
                  <a:pt x="5940204" y="0"/>
                </a:cubicBezTo>
                <a:cubicBezTo>
                  <a:pt x="6336881" y="22963"/>
                  <a:pt x="6423838" y="6469"/>
                  <a:pt x="6632535" y="0"/>
                </a:cubicBezTo>
                <a:cubicBezTo>
                  <a:pt x="6841232" y="-6469"/>
                  <a:pt x="6852819" y="17036"/>
                  <a:pt x="7034087" y="0"/>
                </a:cubicBezTo>
                <a:cubicBezTo>
                  <a:pt x="7215355" y="-17036"/>
                  <a:pt x="7313136" y="11151"/>
                  <a:pt x="7532566" y="0"/>
                </a:cubicBezTo>
                <a:cubicBezTo>
                  <a:pt x="7751996" y="-11151"/>
                  <a:pt x="8015001" y="25614"/>
                  <a:pt x="8418750" y="0"/>
                </a:cubicBezTo>
                <a:cubicBezTo>
                  <a:pt x="8822499" y="-25614"/>
                  <a:pt x="9163239" y="48603"/>
                  <a:pt x="9692640" y="0"/>
                </a:cubicBezTo>
                <a:cubicBezTo>
                  <a:pt x="9691955" y="4437"/>
                  <a:pt x="9693170" y="10717"/>
                  <a:pt x="9692640" y="18288"/>
                </a:cubicBezTo>
                <a:cubicBezTo>
                  <a:pt x="9545125" y="42172"/>
                  <a:pt x="9164259" y="6706"/>
                  <a:pt x="9000309" y="18288"/>
                </a:cubicBezTo>
                <a:cubicBezTo>
                  <a:pt x="8836359" y="29870"/>
                  <a:pt x="8521035" y="-14108"/>
                  <a:pt x="8307977" y="18288"/>
                </a:cubicBezTo>
                <a:cubicBezTo>
                  <a:pt x="8094919" y="50684"/>
                  <a:pt x="7881757" y="11235"/>
                  <a:pt x="7712572" y="18288"/>
                </a:cubicBezTo>
                <a:cubicBezTo>
                  <a:pt x="7543387" y="25341"/>
                  <a:pt x="7358861" y="20625"/>
                  <a:pt x="7214093" y="18288"/>
                </a:cubicBezTo>
                <a:cubicBezTo>
                  <a:pt x="7069325" y="15951"/>
                  <a:pt x="6523705" y="52160"/>
                  <a:pt x="6327909" y="18288"/>
                </a:cubicBezTo>
                <a:cubicBezTo>
                  <a:pt x="6132113" y="-15584"/>
                  <a:pt x="5923847" y="21204"/>
                  <a:pt x="5635578" y="18288"/>
                </a:cubicBezTo>
                <a:cubicBezTo>
                  <a:pt x="5347309" y="15372"/>
                  <a:pt x="5114749" y="50642"/>
                  <a:pt x="4846320" y="18288"/>
                </a:cubicBezTo>
                <a:cubicBezTo>
                  <a:pt x="4577891" y="-14066"/>
                  <a:pt x="4576701" y="1487"/>
                  <a:pt x="4444768" y="18288"/>
                </a:cubicBezTo>
                <a:cubicBezTo>
                  <a:pt x="4312835" y="35089"/>
                  <a:pt x="4112575" y="15158"/>
                  <a:pt x="3946289" y="18288"/>
                </a:cubicBezTo>
                <a:cubicBezTo>
                  <a:pt x="3780003" y="21418"/>
                  <a:pt x="3396009" y="18797"/>
                  <a:pt x="3253958" y="18288"/>
                </a:cubicBezTo>
                <a:cubicBezTo>
                  <a:pt x="3111907" y="17779"/>
                  <a:pt x="2760272" y="57223"/>
                  <a:pt x="2464700" y="18288"/>
                </a:cubicBezTo>
                <a:cubicBezTo>
                  <a:pt x="2169128" y="-20647"/>
                  <a:pt x="2232262" y="7960"/>
                  <a:pt x="2063148" y="18288"/>
                </a:cubicBezTo>
                <a:cubicBezTo>
                  <a:pt x="1894034" y="28616"/>
                  <a:pt x="1799338" y="3019"/>
                  <a:pt x="1661595" y="18288"/>
                </a:cubicBezTo>
                <a:cubicBezTo>
                  <a:pt x="1523852" y="33557"/>
                  <a:pt x="1113928" y="-4352"/>
                  <a:pt x="969264" y="18288"/>
                </a:cubicBezTo>
                <a:cubicBezTo>
                  <a:pt x="824600" y="40928"/>
                  <a:pt x="356149" y="-3128"/>
                  <a:pt x="0" y="18288"/>
                </a:cubicBezTo>
                <a:cubicBezTo>
                  <a:pt x="-540" y="12521"/>
                  <a:pt x="894" y="7749"/>
                  <a:pt x="0" y="0"/>
                </a:cubicBezTo>
                <a:close/>
              </a:path>
              <a:path w="9692640" h="18288" stroke="0" extrusionOk="0">
                <a:moveTo>
                  <a:pt x="0" y="0"/>
                </a:moveTo>
                <a:cubicBezTo>
                  <a:pt x="162642" y="3864"/>
                  <a:pt x="346119" y="-18364"/>
                  <a:pt x="498479" y="0"/>
                </a:cubicBezTo>
                <a:cubicBezTo>
                  <a:pt x="650839" y="18364"/>
                  <a:pt x="712065" y="-9389"/>
                  <a:pt x="900031" y="0"/>
                </a:cubicBezTo>
                <a:cubicBezTo>
                  <a:pt x="1087997" y="9389"/>
                  <a:pt x="1177291" y="3685"/>
                  <a:pt x="1398509" y="0"/>
                </a:cubicBezTo>
                <a:cubicBezTo>
                  <a:pt x="1619727" y="-3685"/>
                  <a:pt x="1874008" y="-8897"/>
                  <a:pt x="2090841" y="0"/>
                </a:cubicBezTo>
                <a:cubicBezTo>
                  <a:pt x="2307674" y="8897"/>
                  <a:pt x="2573432" y="-313"/>
                  <a:pt x="2880099" y="0"/>
                </a:cubicBezTo>
                <a:cubicBezTo>
                  <a:pt x="3186766" y="313"/>
                  <a:pt x="3422577" y="10664"/>
                  <a:pt x="3766283" y="0"/>
                </a:cubicBezTo>
                <a:cubicBezTo>
                  <a:pt x="4109989" y="-10664"/>
                  <a:pt x="4342683" y="-32873"/>
                  <a:pt x="4652467" y="0"/>
                </a:cubicBezTo>
                <a:cubicBezTo>
                  <a:pt x="4962251" y="32873"/>
                  <a:pt x="5122120" y="29155"/>
                  <a:pt x="5247872" y="0"/>
                </a:cubicBezTo>
                <a:cubicBezTo>
                  <a:pt x="5373625" y="-29155"/>
                  <a:pt x="5749491" y="1706"/>
                  <a:pt x="6037130" y="0"/>
                </a:cubicBezTo>
                <a:cubicBezTo>
                  <a:pt x="6324769" y="-1706"/>
                  <a:pt x="6531407" y="1172"/>
                  <a:pt x="6729461" y="0"/>
                </a:cubicBezTo>
                <a:cubicBezTo>
                  <a:pt x="6927515" y="-1172"/>
                  <a:pt x="7096794" y="-1520"/>
                  <a:pt x="7324867" y="0"/>
                </a:cubicBezTo>
                <a:cubicBezTo>
                  <a:pt x="7552940" y="1520"/>
                  <a:pt x="7878827" y="-17110"/>
                  <a:pt x="8114124" y="0"/>
                </a:cubicBezTo>
                <a:cubicBezTo>
                  <a:pt x="8349421" y="17110"/>
                  <a:pt x="8334208" y="15114"/>
                  <a:pt x="8515677" y="0"/>
                </a:cubicBezTo>
                <a:cubicBezTo>
                  <a:pt x="8697146" y="-15114"/>
                  <a:pt x="9236164" y="22466"/>
                  <a:pt x="9692640" y="0"/>
                </a:cubicBezTo>
                <a:cubicBezTo>
                  <a:pt x="9692735" y="8251"/>
                  <a:pt x="9692514" y="12333"/>
                  <a:pt x="9692640" y="18288"/>
                </a:cubicBezTo>
                <a:cubicBezTo>
                  <a:pt x="9410102" y="47398"/>
                  <a:pt x="9172773" y="7109"/>
                  <a:pt x="9000309" y="18288"/>
                </a:cubicBezTo>
                <a:cubicBezTo>
                  <a:pt x="8827845" y="29467"/>
                  <a:pt x="8713608" y="28372"/>
                  <a:pt x="8501830" y="18288"/>
                </a:cubicBezTo>
                <a:cubicBezTo>
                  <a:pt x="8290052" y="8204"/>
                  <a:pt x="7893416" y="3561"/>
                  <a:pt x="7712572" y="18288"/>
                </a:cubicBezTo>
                <a:cubicBezTo>
                  <a:pt x="7531728" y="33015"/>
                  <a:pt x="7480716" y="17052"/>
                  <a:pt x="7311020" y="18288"/>
                </a:cubicBezTo>
                <a:cubicBezTo>
                  <a:pt x="7141324" y="19524"/>
                  <a:pt x="6962706" y="15975"/>
                  <a:pt x="6618688" y="18288"/>
                </a:cubicBezTo>
                <a:cubicBezTo>
                  <a:pt x="6274670" y="20601"/>
                  <a:pt x="6230664" y="-1692"/>
                  <a:pt x="6120210" y="18288"/>
                </a:cubicBezTo>
                <a:cubicBezTo>
                  <a:pt x="6009756" y="38268"/>
                  <a:pt x="5442516" y="28115"/>
                  <a:pt x="5234026" y="18288"/>
                </a:cubicBezTo>
                <a:cubicBezTo>
                  <a:pt x="5025536" y="8461"/>
                  <a:pt x="4953693" y="18182"/>
                  <a:pt x="4832473" y="18288"/>
                </a:cubicBezTo>
                <a:cubicBezTo>
                  <a:pt x="4711253" y="18394"/>
                  <a:pt x="4414565" y="-11251"/>
                  <a:pt x="4140142" y="18288"/>
                </a:cubicBezTo>
                <a:cubicBezTo>
                  <a:pt x="3865719" y="47827"/>
                  <a:pt x="3819081" y="16772"/>
                  <a:pt x="3738590" y="18288"/>
                </a:cubicBezTo>
                <a:cubicBezTo>
                  <a:pt x="3658099" y="19804"/>
                  <a:pt x="3427576" y="1385"/>
                  <a:pt x="3240111" y="18288"/>
                </a:cubicBezTo>
                <a:cubicBezTo>
                  <a:pt x="3052646" y="35191"/>
                  <a:pt x="2749652" y="-13914"/>
                  <a:pt x="2450853" y="18288"/>
                </a:cubicBezTo>
                <a:cubicBezTo>
                  <a:pt x="2152054" y="50490"/>
                  <a:pt x="1928331" y="61101"/>
                  <a:pt x="1564669" y="18288"/>
                </a:cubicBezTo>
                <a:cubicBezTo>
                  <a:pt x="1201007" y="-24525"/>
                  <a:pt x="1217828" y="-275"/>
                  <a:pt x="1066190" y="18288"/>
                </a:cubicBezTo>
                <a:cubicBezTo>
                  <a:pt x="914552" y="36851"/>
                  <a:pt x="418290" y="-14785"/>
                  <a:pt x="0" y="18288"/>
                </a:cubicBezTo>
                <a:cubicBezTo>
                  <a:pt x="641" y="14236"/>
                  <a:pt x="889" y="7550"/>
                  <a:pt x="0" y="0"/>
                </a:cubicBezTo>
                <a:close/>
              </a:path>
            </a:pathLst>
          </a:custGeom>
          <a:solidFill>
            <a:srgbClr val="FFFFFF">
              <a:alpha val="75000"/>
            </a:srgbClr>
          </a:solidFill>
          <a:ln w="44450" cap="rnd">
            <a:solidFill>
              <a:schemeClr val="bg1">
                <a:alpha val="75000"/>
              </a:schemeClr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1B93032E-91ED-35C3-1C0E-82ED807E75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004446"/>
            <a:ext cx="10515600" cy="4176897"/>
          </a:xfrm>
        </p:spPr>
        <p:txBody>
          <a:bodyPr>
            <a:normAutofit/>
          </a:bodyPr>
          <a:lstStyle/>
          <a:p>
            <a:pPr>
              <a:buFontTx/>
              <a:buChar char="-"/>
            </a:pPr>
            <a:r>
              <a:rPr lang="de-DE" sz="2200" dirty="0">
                <a:solidFill>
                  <a:schemeClr val="bg1"/>
                </a:solidFill>
              </a:rPr>
              <a:t>Kontrolliert spezifisches Online Verhalten lokaler User</a:t>
            </a:r>
          </a:p>
          <a:p>
            <a:pPr>
              <a:buFontTx/>
              <a:buChar char="-"/>
            </a:pPr>
            <a:endParaRPr lang="de-DE" sz="2200" dirty="0">
              <a:solidFill>
                <a:schemeClr val="bg1"/>
              </a:solidFill>
            </a:endParaRPr>
          </a:p>
          <a:p>
            <a:pPr>
              <a:buFontTx/>
              <a:buChar char="-"/>
            </a:pPr>
            <a:r>
              <a:rPr lang="de-DE" sz="2200" dirty="0">
                <a:solidFill>
                  <a:schemeClr val="bg1"/>
                </a:solidFill>
              </a:rPr>
              <a:t>HTTP POST blockieren</a:t>
            </a:r>
          </a:p>
          <a:p>
            <a:pPr>
              <a:buFontTx/>
              <a:buChar char="-"/>
            </a:pPr>
            <a:r>
              <a:rPr lang="de-DE" sz="2400" dirty="0">
                <a:solidFill>
                  <a:schemeClr val="bg1"/>
                </a:solidFill>
              </a:rPr>
              <a:t>Verhindert Login, Kommentare oder andere POST-Operationen</a:t>
            </a:r>
          </a:p>
          <a:p>
            <a:pPr>
              <a:buFontTx/>
              <a:buChar char="-"/>
            </a:pPr>
            <a:endParaRPr lang="de-DE" sz="2400" dirty="0">
              <a:solidFill>
                <a:schemeClr val="bg1"/>
              </a:solidFill>
            </a:endParaRPr>
          </a:p>
          <a:p>
            <a:pPr>
              <a:buFontTx/>
              <a:buChar char="-"/>
            </a:pPr>
            <a:r>
              <a:rPr lang="de-DE" sz="2400" dirty="0">
                <a:solidFill>
                  <a:schemeClr val="bg1"/>
                </a:solidFill>
              </a:rPr>
              <a:t>Dateitypen blockieren</a:t>
            </a:r>
          </a:p>
          <a:p>
            <a:pPr>
              <a:buFontTx/>
              <a:buChar char="-"/>
            </a:pPr>
            <a:r>
              <a:rPr lang="de-DE" sz="2400" dirty="0">
                <a:solidFill>
                  <a:schemeClr val="bg1"/>
                </a:solidFill>
              </a:rPr>
              <a:t>Verhindert Herunterladen bestimmter Dateien aus dem Internet</a:t>
            </a:r>
            <a:endParaRPr lang="de-DE" sz="2200" dirty="0">
              <a:solidFill>
                <a:schemeClr val="bg1"/>
              </a:solidFill>
            </a:endParaRP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961F63CD-BED5-A71C-BAF6-9850D7881F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FB693C-3D3E-4164-9FC0-E9F6868342D2}" type="slidenum">
              <a:rPr lang="de-BE" smtClean="0"/>
              <a:t>11</a:t>
            </a:fld>
            <a:endParaRPr lang="de-BE"/>
          </a:p>
        </p:txBody>
      </p:sp>
    </p:spTree>
    <p:extLst>
      <p:ext uri="{BB962C8B-B14F-4D97-AF65-F5344CB8AC3E}">
        <p14:creationId xmlns:p14="http://schemas.microsoft.com/office/powerpoint/2010/main" val="144253953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282EF0D-9862-21D5-EBB3-C790B9EDBD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9" name="Rectangle 3080">
            <a:extLst>
              <a:ext uri="{FF2B5EF4-FFF2-40B4-BE49-F238E27FC236}">
                <a16:creationId xmlns:a16="http://schemas.microsoft.com/office/drawing/2014/main" id="{CCDD7C09-8ED4-ADA9-FCCB-FE1F36CA94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076" name="Picture 4" descr="Rethinking Firewall and Proxy Management for Enterprise Agility">
            <a:extLst>
              <a:ext uri="{FF2B5EF4-FFF2-40B4-BE49-F238E27FC236}">
                <a16:creationId xmlns:a16="http://schemas.microsoft.com/office/drawing/2014/main" id="{F7B8CCB0-B9A2-7F5F-C193-C2BC8FE4F22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alphaModFix amt="4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027" y="0"/>
            <a:ext cx="12191979" cy="685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0987D004-25BB-C402-61E1-E31E05B9D0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de-DE" sz="5400" dirty="0">
                <a:solidFill>
                  <a:schemeClr val="bg1"/>
                </a:solidFill>
              </a:rPr>
              <a:t>Quellen</a:t>
            </a:r>
            <a:endParaRPr lang="de-BE" sz="5400" dirty="0">
              <a:solidFill>
                <a:schemeClr val="bg1"/>
              </a:solidFill>
            </a:endParaRPr>
          </a:p>
        </p:txBody>
      </p:sp>
      <p:sp>
        <p:nvSpPr>
          <p:cNvPr id="3090" name="sketchy line">
            <a:extLst>
              <a:ext uri="{FF2B5EF4-FFF2-40B4-BE49-F238E27FC236}">
                <a16:creationId xmlns:a16="http://schemas.microsoft.com/office/drawing/2014/main" id="{98296C0F-2B3A-D8D3-FEFC-3701FE1AAC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14399" y="1681544"/>
            <a:ext cx="9692640" cy="18288"/>
          </a:xfrm>
          <a:custGeom>
            <a:avLst/>
            <a:gdLst>
              <a:gd name="csX0" fmla="*/ 0 w 9692640"/>
              <a:gd name="csY0" fmla="*/ 0 h 18288"/>
              <a:gd name="csX1" fmla="*/ 401552 w 9692640"/>
              <a:gd name="csY1" fmla="*/ 0 h 18288"/>
              <a:gd name="csX2" fmla="*/ 996957 w 9692640"/>
              <a:gd name="csY2" fmla="*/ 0 h 18288"/>
              <a:gd name="csX3" fmla="*/ 1398509 w 9692640"/>
              <a:gd name="csY3" fmla="*/ 0 h 18288"/>
              <a:gd name="csX4" fmla="*/ 2090841 w 9692640"/>
              <a:gd name="csY4" fmla="*/ 0 h 18288"/>
              <a:gd name="csX5" fmla="*/ 2686246 w 9692640"/>
              <a:gd name="csY5" fmla="*/ 0 h 18288"/>
              <a:gd name="csX6" fmla="*/ 3475504 w 9692640"/>
              <a:gd name="csY6" fmla="*/ 0 h 18288"/>
              <a:gd name="csX7" fmla="*/ 4361688 w 9692640"/>
              <a:gd name="csY7" fmla="*/ 0 h 18288"/>
              <a:gd name="csX8" fmla="*/ 5054019 w 9692640"/>
              <a:gd name="csY8" fmla="*/ 0 h 18288"/>
              <a:gd name="csX9" fmla="*/ 5940204 w 9692640"/>
              <a:gd name="csY9" fmla="*/ 0 h 18288"/>
              <a:gd name="csX10" fmla="*/ 6632535 w 9692640"/>
              <a:gd name="csY10" fmla="*/ 0 h 18288"/>
              <a:gd name="csX11" fmla="*/ 7034087 w 9692640"/>
              <a:gd name="csY11" fmla="*/ 0 h 18288"/>
              <a:gd name="csX12" fmla="*/ 7532566 w 9692640"/>
              <a:gd name="csY12" fmla="*/ 0 h 18288"/>
              <a:gd name="csX13" fmla="*/ 8418750 w 9692640"/>
              <a:gd name="csY13" fmla="*/ 0 h 18288"/>
              <a:gd name="csX14" fmla="*/ 9692640 w 9692640"/>
              <a:gd name="csY14" fmla="*/ 0 h 18288"/>
              <a:gd name="csX15" fmla="*/ 9692640 w 9692640"/>
              <a:gd name="csY15" fmla="*/ 18288 h 18288"/>
              <a:gd name="csX16" fmla="*/ 9000309 w 9692640"/>
              <a:gd name="csY16" fmla="*/ 18288 h 18288"/>
              <a:gd name="csX17" fmla="*/ 8307977 w 9692640"/>
              <a:gd name="csY17" fmla="*/ 18288 h 18288"/>
              <a:gd name="csX18" fmla="*/ 7712572 w 9692640"/>
              <a:gd name="csY18" fmla="*/ 18288 h 18288"/>
              <a:gd name="csX19" fmla="*/ 7214093 w 9692640"/>
              <a:gd name="csY19" fmla="*/ 18288 h 18288"/>
              <a:gd name="csX20" fmla="*/ 6327909 w 9692640"/>
              <a:gd name="csY20" fmla="*/ 18288 h 18288"/>
              <a:gd name="csX21" fmla="*/ 5635578 w 9692640"/>
              <a:gd name="csY21" fmla="*/ 18288 h 18288"/>
              <a:gd name="csX22" fmla="*/ 4846320 w 9692640"/>
              <a:gd name="csY22" fmla="*/ 18288 h 18288"/>
              <a:gd name="csX23" fmla="*/ 4444768 w 9692640"/>
              <a:gd name="csY23" fmla="*/ 18288 h 18288"/>
              <a:gd name="csX24" fmla="*/ 3946289 w 9692640"/>
              <a:gd name="csY24" fmla="*/ 18288 h 18288"/>
              <a:gd name="csX25" fmla="*/ 3253958 w 9692640"/>
              <a:gd name="csY25" fmla="*/ 18288 h 18288"/>
              <a:gd name="csX26" fmla="*/ 2464700 w 9692640"/>
              <a:gd name="csY26" fmla="*/ 18288 h 18288"/>
              <a:gd name="csX27" fmla="*/ 2063148 w 9692640"/>
              <a:gd name="csY27" fmla="*/ 18288 h 18288"/>
              <a:gd name="csX28" fmla="*/ 1661595 w 9692640"/>
              <a:gd name="csY28" fmla="*/ 18288 h 18288"/>
              <a:gd name="csX29" fmla="*/ 969264 w 9692640"/>
              <a:gd name="csY29" fmla="*/ 18288 h 18288"/>
              <a:gd name="csX30" fmla="*/ 0 w 9692640"/>
              <a:gd name="csY30" fmla="*/ 18288 h 18288"/>
              <a:gd name="csX31" fmla="*/ 0 w 9692640"/>
              <a:gd name="csY3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</a:cxnLst>
            <a:rect l="l" t="t" r="r" b="b"/>
            <a:pathLst>
              <a:path w="9692640" h="18288" fill="none" extrusionOk="0">
                <a:moveTo>
                  <a:pt x="0" y="0"/>
                </a:moveTo>
                <a:cubicBezTo>
                  <a:pt x="142992" y="4732"/>
                  <a:pt x="265909" y="-3365"/>
                  <a:pt x="401552" y="0"/>
                </a:cubicBezTo>
                <a:cubicBezTo>
                  <a:pt x="537195" y="3365"/>
                  <a:pt x="738153" y="6482"/>
                  <a:pt x="996957" y="0"/>
                </a:cubicBezTo>
                <a:cubicBezTo>
                  <a:pt x="1255762" y="-6482"/>
                  <a:pt x="1280511" y="12509"/>
                  <a:pt x="1398509" y="0"/>
                </a:cubicBezTo>
                <a:cubicBezTo>
                  <a:pt x="1516507" y="-12509"/>
                  <a:pt x="1782573" y="-31523"/>
                  <a:pt x="2090841" y="0"/>
                </a:cubicBezTo>
                <a:cubicBezTo>
                  <a:pt x="2399109" y="31523"/>
                  <a:pt x="2488380" y="26286"/>
                  <a:pt x="2686246" y="0"/>
                </a:cubicBezTo>
                <a:cubicBezTo>
                  <a:pt x="2884112" y="-26286"/>
                  <a:pt x="3186024" y="-14734"/>
                  <a:pt x="3475504" y="0"/>
                </a:cubicBezTo>
                <a:cubicBezTo>
                  <a:pt x="3764984" y="14734"/>
                  <a:pt x="4053017" y="43292"/>
                  <a:pt x="4361688" y="0"/>
                </a:cubicBezTo>
                <a:cubicBezTo>
                  <a:pt x="4670359" y="-43292"/>
                  <a:pt x="4736164" y="-729"/>
                  <a:pt x="5054019" y="0"/>
                </a:cubicBezTo>
                <a:cubicBezTo>
                  <a:pt x="5371874" y="729"/>
                  <a:pt x="5543528" y="-22963"/>
                  <a:pt x="5940204" y="0"/>
                </a:cubicBezTo>
                <a:cubicBezTo>
                  <a:pt x="6336881" y="22963"/>
                  <a:pt x="6423838" y="6469"/>
                  <a:pt x="6632535" y="0"/>
                </a:cubicBezTo>
                <a:cubicBezTo>
                  <a:pt x="6841232" y="-6469"/>
                  <a:pt x="6852819" y="17036"/>
                  <a:pt x="7034087" y="0"/>
                </a:cubicBezTo>
                <a:cubicBezTo>
                  <a:pt x="7215355" y="-17036"/>
                  <a:pt x="7313136" y="11151"/>
                  <a:pt x="7532566" y="0"/>
                </a:cubicBezTo>
                <a:cubicBezTo>
                  <a:pt x="7751996" y="-11151"/>
                  <a:pt x="8015001" y="25614"/>
                  <a:pt x="8418750" y="0"/>
                </a:cubicBezTo>
                <a:cubicBezTo>
                  <a:pt x="8822499" y="-25614"/>
                  <a:pt x="9163239" y="48603"/>
                  <a:pt x="9692640" y="0"/>
                </a:cubicBezTo>
                <a:cubicBezTo>
                  <a:pt x="9691955" y="4437"/>
                  <a:pt x="9693170" y="10717"/>
                  <a:pt x="9692640" y="18288"/>
                </a:cubicBezTo>
                <a:cubicBezTo>
                  <a:pt x="9545125" y="42172"/>
                  <a:pt x="9164259" y="6706"/>
                  <a:pt x="9000309" y="18288"/>
                </a:cubicBezTo>
                <a:cubicBezTo>
                  <a:pt x="8836359" y="29870"/>
                  <a:pt x="8521035" y="-14108"/>
                  <a:pt x="8307977" y="18288"/>
                </a:cubicBezTo>
                <a:cubicBezTo>
                  <a:pt x="8094919" y="50684"/>
                  <a:pt x="7881757" y="11235"/>
                  <a:pt x="7712572" y="18288"/>
                </a:cubicBezTo>
                <a:cubicBezTo>
                  <a:pt x="7543387" y="25341"/>
                  <a:pt x="7358861" y="20625"/>
                  <a:pt x="7214093" y="18288"/>
                </a:cubicBezTo>
                <a:cubicBezTo>
                  <a:pt x="7069325" y="15951"/>
                  <a:pt x="6523705" y="52160"/>
                  <a:pt x="6327909" y="18288"/>
                </a:cubicBezTo>
                <a:cubicBezTo>
                  <a:pt x="6132113" y="-15584"/>
                  <a:pt x="5923847" y="21204"/>
                  <a:pt x="5635578" y="18288"/>
                </a:cubicBezTo>
                <a:cubicBezTo>
                  <a:pt x="5347309" y="15372"/>
                  <a:pt x="5114749" y="50642"/>
                  <a:pt x="4846320" y="18288"/>
                </a:cubicBezTo>
                <a:cubicBezTo>
                  <a:pt x="4577891" y="-14066"/>
                  <a:pt x="4576701" y="1487"/>
                  <a:pt x="4444768" y="18288"/>
                </a:cubicBezTo>
                <a:cubicBezTo>
                  <a:pt x="4312835" y="35089"/>
                  <a:pt x="4112575" y="15158"/>
                  <a:pt x="3946289" y="18288"/>
                </a:cubicBezTo>
                <a:cubicBezTo>
                  <a:pt x="3780003" y="21418"/>
                  <a:pt x="3396009" y="18797"/>
                  <a:pt x="3253958" y="18288"/>
                </a:cubicBezTo>
                <a:cubicBezTo>
                  <a:pt x="3111907" y="17779"/>
                  <a:pt x="2760272" y="57223"/>
                  <a:pt x="2464700" y="18288"/>
                </a:cubicBezTo>
                <a:cubicBezTo>
                  <a:pt x="2169128" y="-20647"/>
                  <a:pt x="2232262" y="7960"/>
                  <a:pt x="2063148" y="18288"/>
                </a:cubicBezTo>
                <a:cubicBezTo>
                  <a:pt x="1894034" y="28616"/>
                  <a:pt x="1799338" y="3019"/>
                  <a:pt x="1661595" y="18288"/>
                </a:cubicBezTo>
                <a:cubicBezTo>
                  <a:pt x="1523852" y="33557"/>
                  <a:pt x="1113928" y="-4352"/>
                  <a:pt x="969264" y="18288"/>
                </a:cubicBezTo>
                <a:cubicBezTo>
                  <a:pt x="824600" y="40928"/>
                  <a:pt x="356149" y="-3128"/>
                  <a:pt x="0" y="18288"/>
                </a:cubicBezTo>
                <a:cubicBezTo>
                  <a:pt x="-540" y="12521"/>
                  <a:pt x="894" y="7749"/>
                  <a:pt x="0" y="0"/>
                </a:cubicBezTo>
                <a:close/>
              </a:path>
              <a:path w="9692640" h="18288" stroke="0" extrusionOk="0">
                <a:moveTo>
                  <a:pt x="0" y="0"/>
                </a:moveTo>
                <a:cubicBezTo>
                  <a:pt x="162642" y="3864"/>
                  <a:pt x="346119" y="-18364"/>
                  <a:pt x="498479" y="0"/>
                </a:cubicBezTo>
                <a:cubicBezTo>
                  <a:pt x="650839" y="18364"/>
                  <a:pt x="712065" y="-9389"/>
                  <a:pt x="900031" y="0"/>
                </a:cubicBezTo>
                <a:cubicBezTo>
                  <a:pt x="1087997" y="9389"/>
                  <a:pt x="1177291" y="3685"/>
                  <a:pt x="1398509" y="0"/>
                </a:cubicBezTo>
                <a:cubicBezTo>
                  <a:pt x="1619727" y="-3685"/>
                  <a:pt x="1874008" y="-8897"/>
                  <a:pt x="2090841" y="0"/>
                </a:cubicBezTo>
                <a:cubicBezTo>
                  <a:pt x="2307674" y="8897"/>
                  <a:pt x="2573432" y="-313"/>
                  <a:pt x="2880099" y="0"/>
                </a:cubicBezTo>
                <a:cubicBezTo>
                  <a:pt x="3186766" y="313"/>
                  <a:pt x="3422577" y="10664"/>
                  <a:pt x="3766283" y="0"/>
                </a:cubicBezTo>
                <a:cubicBezTo>
                  <a:pt x="4109989" y="-10664"/>
                  <a:pt x="4342683" y="-32873"/>
                  <a:pt x="4652467" y="0"/>
                </a:cubicBezTo>
                <a:cubicBezTo>
                  <a:pt x="4962251" y="32873"/>
                  <a:pt x="5122120" y="29155"/>
                  <a:pt x="5247872" y="0"/>
                </a:cubicBezTo>
                <a:cubicBezTo>
                  <a:pt x="5373625" y="-29155"/>
                  <a:pt x="5749491" y="1706"/>
                  <a:pt x="6037130" y="0"/>
                </a:cubicBezTo>
                <a:cubicBezTo>
                  <a:pt x="6324769" y="-1706"/>
                  <a:pt x="6531407" y="1172"/>
                  <a:pt x="6729461" y="0"/>
                </a:cubicBezTo>
                <a:cubicBezTo>
                  <a:pt x="6927515" y="-1172"/>
                  <a:pt x="7096794" y="-1520"/>
                  <a:pt x="7324867" y="0"/>
                </a:cubicBezTo>
                <a:cubicBezTo>
                  <a:pt x="7552940" y="1520"/>
                  <a:pt x="7878827" y="-17110"/>
                  <a:pt x="8114124" y="0"/>
                </a:cubicBezTo>
                <a:cubicBezTo>
                  <a:pt x="8349421" y="17110"/>
                  <a:pt x="8334208" y="15114"/>
                  <a:pt x="8515677" y="0"/>
                </a:cubicBezTo>
                <a:cubicBezTo>
                  <a:pt x="8697146" y="-15114"/>
                  <a:pt x="9236164" y="22466"/>
                  <a:pt x="9692640" y="0"/>
                </a:cubicBezTo>
                <a:cubicBezTo>
                  <a:pt x="9692735" y="8251"/>
                  <a:pt x="9692514" y="12333"/>
                  <a:pt x="9692640" y="18288"/>
                </a:cubicBezTo>
                <a:cubicBezTo>
                  <a:pt x="9410102" y="47398"/>
                  <a:pt x="9172773" y="7109"/>
                  <a:pt x="9000309" y="18288"/>
                </a:cubicBezTo>
                <a:cubicBezTo>
                  <a:pt x="8827845" y="29467"/>
                  <a:pt x="8713608" y="28372"/>
                  <a:pt x="8501830" y="18288"/>
                </a:cubicBezTo>
                <a:cubicBezTo>
                  <a:pt x="8290052" y="8204"/>
                  <a:pt x="7893416" y="3561"/>
                  <a:pt x="7712572" y="18288"/>
                </a:cubicBezTo>
                <a:cubicBezTo>
                  <a:pt x="7531728" y="33015"/>
                  <a:pt x="7480716" y="17052"/>
                  <a:pt x="7311020" y="18288"/>
                </a:cubicBezTo>
                <a:cubicBezTo>
                  <a:pt x="7141324" y="19524"/>
                  <a:pt x="6962706" y="15975"/>
                  <a:pt x="6618688" y="18288"/>
                </a:cubicBezTo>
                <a:cubicBezTo>
                  <a:pt x="6274670" y="20601"/>
                  <a:pt x="6230664" y="-1692"/>
                  <a:pt x="6120210" y="18288"/>
                </a:cubicBezTo>
                <a:cubicBezTo>
                  <a:pt x="6009756" y="38268"/>
                  <a:pt x="5442516" y="28115"/>
                  <a:pt x="5234026" y="18288"/>
                </a:cubicBezTo>
                <a:cubicBezTo>
                  <a:pt x="5025536" y="8461"/>
                  <a:pt x="4953693" y="18182"/>
                  <a:pt x="4832473" y="18288"/>
                </a:cubicBezTo>
                <a:cubicBezTo>
                  <a:pt x="4711253" y="18394"/>
                  <a:pt x="4414565" y="-11251"/>
                  <a:pt x="4140142" y="18288"/>
                </a:cubicBezTo>
                <a:cubicBezTo>
                  <a:pt x="3865719" y="47827"/>
                  <a:pt x="3819081" y="16772"/>
                  <a:pt x="3738590" y="18288"/>
                </a:cubicBezTo>
                <a:cubicBezTo>
                  <a:pt x="3658099" y="19804"/>
                  <a:pt x="3427576" y="1385"/>
                  <a:pt x="3240111" y="18288"/>
                </a:cubicBezTo>
                <a:cubicBezTo>
                  <a:pt x="3052646" y="35191"/>
                  <a:pt x="2749652" y="-13914"/>
                  <a:pt x="2450853" y="18288"/>
                </a:cubicBezTo>
                <a:cubicBezTo>
                  <a:pt x="2152054" y="50490"/>
                  <a:pt x="1928331" y="61101"/>
                  <a:pt x="1564669" y="18288"/>
                </a:cubicBezTo>
                <a:cubicBezTo>
                  <a:pt x="1201007" y="-24525"/>
                  <a:pt x="1217828" y="-275"/>
                  <a:pt x="1066190" y="18288"/>
                </a:cubicBezTo>
                <a:cubicBezTo>
                  <a:pt x="914552" y="36851"/>
                  <a:pt x="418290" y="-14785"/>
                  <a:pt x="0" y="18288"/>
                </a:cubicBezTo>
                <a:cubicBezTo>
                  <a:pt x="641" y="14236"/>
                  <a:pt x="889" y="7550"/>
                  <a:pt x="0" y="0"/>
                </a:cubicBezTo>
                <a:close/>
              </a:path>
            </a:pathLst>
          </a:custGeom>
          <a:solidFill>
            <a:srgbClr val="FFFFFF">
              <a:alpha val="75000"/>
            </a:srgbClr>
          </a:solidFill>
          <a:ln w="44450" cap="rnd">
            <a:solidFill>
              <a:schemeClr val="bg1">
                <a:alpha val="75000"/>
              </a:schemeClr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B04EA70E-BD34-D929-6209-45148F2BBC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004446"/>
            <a:ext cx="10515600" cy="4176897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de-DE" sz="2400" dirty="0">
                <a:hlinkClick r:id="rId3"/>
              </a:rPr>
              <a:t>emulator.tp-link.com/706W_1.20-emulator/index.html</a:t>
            </a:r>
            <a:endParaRPr lang="de-DE" sz="2400" dirty="0"/>
          </a:p>
          <a:p>
            <a:pPr marL="0" indent="0">
              <a:buNone/>
            </a:pPr>
            <a:r>
              <a:rPr lang="de-DE" sz="2400" dirty="0">
                <a:hlinkClick r:id="rId4"/>
              </a:rPr>
              <a:t>ChatGPT</a:t>
            </a:r>
            <a:endParaRPr lang="de-DE" sz="2400" dirty="0"/>
          </a:p>
          <a:p>
            <a:pPr marL="0" indent="0">
              <a:buNone/>
            </a:pPr>
            <a:r>
              <a:rPr lang="de-DE" sz="2400" dirty="0">
                <a:hlinkClick r:id="rId5"/>
              </a:rPr>
              <a:t>ARP-Spoofing – Wikipedia</a:t>
            </a:r>
            <a:endParaRPr lang="de-DE" sz="2400" dirty="0"/>
          </a:p>
          <a:p>
            <a:pPr marL="0" indent="0">
              <a:buNone/>
            </a:pPr>
            <a:r>
              <a:rPr lang="de-DE" sz="2400" dirty="0">
                <a:hlinkClick r:id="rId6"/>
              </a:rPr>
              <a:t>TCP FIN, NULL, and </a:t>
            </a:r>
            <a:r>
              <a:rPr lang="de-DE" sz="2400" dirty="0" err="1">
                <a:hlinkClick r:id="rId6"/>
              </a:rPr>
              <a:t>Xmas</a:t>
            </a:r>
            <a:r>
              <a:rPr lang="de-DE" sz="2400" dirty="0">
                <a:hlinkClick r:id="rId6"/>
              </a:rPr>
              <a:t> Scans (-</a:t>
            </a:r>
            <a:r>
              <a:rPr lang="de-DE" sz="2400" dirty="0" err="1">
                <a:hlinkClick r:id="rId6"/>
              </a:rPr>
              <a:t>sF</a:t>
            </a:r>
            <a:r>
              <a:rPr lang="de-DE" sz="2400" dirty="0">
                <a:hlinkClick r:id="rId6"/>
              </a:rPr>
              <a:t>, -</a:t>
            </a:r>
            <a:r>
              <a:rPr lang="de-DE" sz="2400" dirty="0" err="1">
                <a:hlinkClick r:id="rId6"/>
              </a:rPr>
              <a:t>sN</a:t>
            </a:r>
            <a:r>
              <a:rPr lang="de-DE" sz="2400" dirty="0">
                <a:hlinkClick r:id="rId6"/>
              </a:rPr>
              <a:t>, -</a:t>
            </a:r>
            <a:r>
              <a:rPr lang="de-DE" sz="2400" dirty="0" err="1">
                <a:hlinkClick r:id="rId6"/>
              </a:rPr>
              <a:t>sX</a:t>
            </a:r>
            <a:r>
              <a:rPr lang="de-DE" sz="2400" dirty="0">
                <a:hlinkClick r:id="rId6"/>
              </a:rPr>
              <a:t>) | </a:t>
            </a:r>
            <a:r>
              <a:rPr lang="de-DE" sz="2400" dirty="0" err="1">
                <a:hlinkClick r:id="rId6"/>
              </a:rPr>
              <a:t>Nmap</a:t>
            </a:r>
            <a:r>
              <a:rPr lang="de-DE" sz="2400" dirty="0">
                <a:hlinkClick r:id="rId6"/>
              </a:rPr>
              <a:t> Network Scanning</a:t>
            </a:r>
            <a:endParaRPr lang="de-DE" sz="2400" dirty="0"/>
          </a:p>
          <a:p>
            <a:pPr marL="0" indent="0">
              <a:buNone/>
            </a:pPr>
            <a:r>
              <a:rPr lang="en-US" sz="2400" dirty="0">
                <a:hlinkClick r:id="rId7"/>
              </a:rPr>
              <a:t>Network Anomaly Detection: A Comprehensive Guide | </a:t>
            </a:r>
            <a:r>
              <a:rPr lang="en-US" sz="2400" dirty="0" err="1">
                <a:hlinkClick r:id="rId7"/>
              </a:rPr>
              <a:t>Kentik</a:t>
            </a:r>
            <a:endParaRPr lang="en-US" sz="2400" dirty="0"/>
          </a:p>
          <a:p>
            <a:pPr marL="0" indent="0">
              <a:buNone/>
            </a:pPr>
            <a:r>
              <a:rPr lang="de-DE" sz="2400" dirty="0" err="1">
                <a:hlinkClick r:id="rId8"/>
              </a:rPr>
              <a:t>WinNuke</a:t>
            </a:r>
            <a:r>
              <a:rPr lang="de-DE" sz="2400" dirty="0">
                <a:hlinkClick r:id="rId8"/>
              </a:rPr>
              <a:t> – Wikipedia</a:t>
            </a:r>
            <a:endParaRPr lang="de-DE" sz="2400" dirty="0"/>
          </a:p>
          <a:p>
            <a:pPr marL="0" indent="0">
              <a:buNone/>
            </a:pPr>
            <a:r>
              <a:rPr lang="en-US" sz="2400" dirty="0">
                <a:hlinkClick r:id="rId9"/>
              </a:rPr>
              <a:t>What Is a Network Access Control List (ACL)? | Fortinet</a:t>
            </a:r>
            <a:endParaRPr lang="en-US" sz="2400" dirty="0"/>
          </a:p>
          <a:p>
            <a:pPr marL="0" indent="0">
              <a:buNone/>
            </a:pPr>
            <a:r>
              <a:rPr lang="en-US" sz="2400" dirty="0">
                <a:hlinkClick r:id="rId10"/>
              </a:rPr>
              <a:t>What Is Access Control? - Network Cybersecurity Systems | Fortinet</a:t>
            </a:r>
            <a:endParaRPr lang="en-US" sz="2400" dirty="0"/>
          </a:p>
          <a:p>
            <a:pPr marL="0" indent="0">
              <a:buNone/>
            </a:pPr>
            <a:r>
              <a:rPr lang="de-DE" sz="2400" dirty="0">
                <a:hlinkClick r:id="rId11"/>
              </a:rPr>
              <a:t>IDS und IPS: Die Haupt-Unterschiede und Ähnlichkeiten | Okta</a:t>
            </a:r>
            <a:endParaRPr lang="de-DE" sz="2400" dirty="0"/>
          </a:p>
          <a:p>
            <a:pPr marL="0" indent="0">
              <a:buNone/>
            </a:pPr>
            <a:r>
              <a:rPr lang="de-DE" sz="2400" dirty="0">
                <a:hlinkClick r:id="rId12"/>
              </a:rPr>
              <a:t>ER706W-4G | </a:t>
            </a:r>
            <a:r>
              <a:rPr lang="de-DE" sz="2400" dirty="0" err="1">
                <a:hlinkClick r:id="rId12"/>
              </a:rPr>
              <a:t>Omada</a:t>
            </a:r>
            <a:r>
              <a:rPr lang="de-DE" sz="2400" dirty="0">
                <a:hlinkClick r:id="rId12"/>
              </a:rPr>
              <a:t> Network Support</a:t>
            </a:r>
            <a:endParaRPr lang="de-DE" sz="2400" dirty="0"/>
          </a:p>
          <a:p>
            <a:pPr marL="0" indent="0">
              <a:buNone/>
            </a:pPr>
            <a:endParaRPr lang="de-DE" sz="2400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de-DE" sz="2400" dirty="0">
                <a:solidFill>
                  <a:schemeClr val="bg1"/>
                </a:solidFill>
              </a:rPr>
              <a:t>Diese Präsentation wurde mithilfe von KI erstellt</a:t>
            </a:r>
          </a:p>
          <a:p>
            <a:pPr marL="0" indent="0">
              <a:buNone/>
            </a:pPr>
            <a:endParaRPr lang="de-DE" sz="2400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92FAEC2D-2AD5-4FBD-7032-C27EE8952E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FB693C-3D3E-4164-9FC0-E9F6868342D2}" type="slidenum">
              <a:rPr lang="de-BE" smtClean="0"/>
              <a:t>12</a:t>
            </a:fld>
            <a:endParaRPr lang="de-BE"/>
          </a:p>
        </p:txBody>
      </p:sp>
    </p:spTree>
    <p:extLst>
      <p:ext uri="{BB962C8B-B14F-4D97-AF65-F5344CB8AC3E}">
        <p14:creationId xmlns:p14="http://schemas.microsoft.com/office/powerpoint/2010/main" val="75434157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F5CF620-308F-A3C0-C1EB-03378846DC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9" name="Rectangle 3080">
            <a:extLst>
              <a:ext uri="{FF2B5EF4-FFF2-40B4-BE49-F238E27FC236}">
                <a16:creationId xmlns:a16="http://schemas.microsoft.com/office/drawing/2014/main" id="{8026DC4D-7623-CAC7-FD72-3490D61E8B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076" name="Picture 4" descr="Rethinking Firewall and Proxy Management for Enterprise Agility">
            <a:extLst>
              <a:ext uri="{FF2B5EF4-FFF2-40B4-BE49-F238E27FC236}">
                <a16:creationId xmlns:a16="http://schemas.microsoft.com/office/drawing/2014/main" id="{B17480FF-2562-9AB9-49C4-639A13995DA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alphaModFix amt="4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027" y="0"/>
            <a:ext cx="12191979" cy="685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737CFDD3-4E90-5F0C-E91F-49B4A46970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de-DE" sz="5400" dirty="0">
                <a:solidFill>
                  <a:schemeClr val="bg1"/>
                </a:solidFill>
              </a:rPr>
              <a:t>Danke fürs Zuhören</a:t>
            </a:r>
            <a:endParaRPr lang="de-BE" sz="5400" dirty="0">
              <a:solidFill>
                <a:schemeClr val="bg1"/>
              </a:solidFill>
            </a:endParaRPr>
          </a:p>
        </p:txBody>
      </p:sp>
      <p:sp>
        <p:nvSpPr>
          <p:cNvPr id="3090" name="sketchy line">
            <a:extLst>
              <a:ext uri="{FF2B5EF4-FFF2-40B4-BE49-F238E27FC236}">
                <a16:creationId xmlns:a16="http://schemas.microsoft.com/office/drawing/2014/main" id="{C9AB4C94-C14E-AAEB-23FC-0DAB581D6B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14399" y="1681544"/>
            <a:ext cx="9692640" cy="18288"/>
          </a:xfrm>
          <a:custGeom>
            <a:avLst/>
            <a:gdLst>
              <a:gd name="csX0" fmla="*/ 0 w 9692640"/>
              <a:gd name="csY0" fmla="*/ 0 h 18288"/>
              <a:gd name="csX1" fmla="*/ 401552 w 9692640"/>
              <a:gd name="csY1" fmla="*/ 0 h 18288"/>
              <a:gd name="csX2" fmla="*/ 996957 w 9692640"/>
              <a:gd name="csY2" fmla="*/ 0 h 18288"/>
              <a:gd name="csX3" fmla="*/ 1398509 w 9692640"/>
              <a:gd name="csY3" fmla="*/ 0 h 18288"/>
              <a:gd name="csX4" fmla="*/ 2090841 w 9692640"/>
              <a:gd name="csY4" fmla="*/ 0 h 18288"/>
              <a:gd name="csX5" fmla="*/ 2686246 w 9692640"/>
              <a:gd name="csY5" fmla="*/ 0 h 18288"/>
              <a:gd name="csX6" fmla="*/ 3475504 w 9692640"/>
              <a:gd name="csY6" fmla="*/ 0 h 18288"/>
              <a:gd name="csX7" fmla="*/ 4361688 w 9692640"/>
              <a:gd name="csY7" fmla="*/ 0 h 18288"/>
              <a:gd name="csX8" fmla="*/ 5054019 w 9692640"/>
              <a:gd name="csY8" fmla="*/ 0 h 18288"/>
              <a:gd name="csX9" fmla="*/ 5940204 w 9692640"/>
              <a:gd name="csY9" fmla="*/ 0 h 18288"/>
              <a:gd name="csX10" fmla="*/ 6632535 w 9692640"/>
              <a:gd name="csY10" fmla="*/ 0 h 18288"/>
              <a:gd name="csX11" fmla="*/ 7034087 w 9692640"/>
              <a:gd name="csY11" fmla="*/ 0 h 18288"/>
              <a:gd name="csX12" fmla="*/ 7532566 w 9692640"/>
              <a:gd name="csY12" fmla="*/ 0 h 18288"/>
              <a:gd name="csX13" fmla="*/ 8418750 w 9692640"/>
              <a:gd name="csY13" fmla="*/ 0 h 18288"/>
              <a:gd name="csX14" fmla="*/ 9692640 w 9692640"/>
              <a:gd name="csY14" fmla="*/ 0 h 18288"/>
              <a:gd name="csX15" fmla="*/ 9692640 w 9692640"/>
              <a:gd name="csY15" fmla="*/ 18288 h 18288"/>
              <a:gd name="csX16" fmla="*/ 9000309 w 9692640"/>
              <a:gd name="csY16" fmla="*/ 18288 h 18288"/>
              <a:gd name="csX17" fmla="*/ 8307977 w 9692640"/>
              <a:gd name="csY17" fmla="*/ 18288 h 18288"/>
              <a:gd name="csX18" fmla="*/ 7712572 w 9692640"/>
              <a:gd name="csY18" fmla="*/ 18288 h 18288"/>
              <a:gd name="csX19" fmla="*/ 7214093 w 9692640"/>
              <a:gd name="csY19" fmla="*/ 18288 h 18288"/>
              <a:gd name="csX20" fmla="*/ 6327909 w 9692640"/>
              <a:gd name="csY20" fmla="*/ 18288 h 18288"/>
              <a:gd name="csX21" fmla="*/ 5635578 w 9692640"/>
              <a:gd name="csY21" fmla="*/ 18288 h 18288"/>
              <a:gd name="csX22" fmla="*/ 4846320 w 9692640"/>
              <a:gd name="csY22" fmla="*/ 18288 h 18288"/>
              <a:gd name="csX23" fmla="*/ 4444768 w 9692640"/>
              <a:gd name="csY23" fmla="*/ 18288 h 18288"/>
              <a:gd name="csX24" fmla="*/ 3946289 w 9692640"/>
              <a:gd name="csY24" fmla="*/ 18288 h 18288"/>
              <a:gd name="csX25" fmla="*/ 3253958 w 9692640"/>
              <a:gd name="csY25" fmla="*/ 18288 h 18288"/>
              <a:gd name="csX26" fmla="*/ 2464700 w 9692640"/>
              <a:gd name="csY26" fmla="*/ 18288 h 18288"/>
              <a:gd name="csX27" fmla="*/ 2063148 w 9692640"/>
              <a:gd name="csY27" fmla="*/ 18288 h 18288"/>
              <a:gd name="csX28" fmla="*/ 1661595 w 9692640"/>
              <a:gd name="csY28" fmla="*/ 18288 h 18288"/>
              <a:gd name="csX29" fmla="*/ 969264 w 9692640"/>
              <a:gd name="csY29" fmla="*/ 18288 h 18288"/>
              <a:gd name="csX30" fmla="*/ 0 w 9692640"/>
              <a:gd name="csY30" fmla="*/ 18288 h 18288"/>
              <a:gd name="csX31" fmla="*/ 0 w 9692640"/>
              <a:gd name="csY3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</a:cxnLst>
            <a:rect l="l" t="t" r="r" b="b"/>
            <a:pathLst>
              <a:path w="9692640" h="18288" fill="none" extrusionOk="0">
                <a:moveTo>
                  <a:pt x="0" y="0"/>
                </a:moveTo>
                <a:cubicBezTo>
                  <a:pt x="142992" y="4732"/>
                  <a:pt x="265909" y="-3365"/>
                  <a:pt x="401552" y="0"/>
                </a:cubicBezTo>
                <a:cubicBezTo>
                  <a:pt x="537195" y="3365"/>
                  <a:pt x="738153" y="6482"/>
                  <a:pt x="996957" y="0"/>
                </a:cubicBezTo>
                <a:cubicBezTo>
                  <a:pt x="1255762" y="-6482"/>
                  <a:pt x="1280511" y="12509"/>
                  <a:pt x="1398509" y="0"/>
                </a:cubicBezTo>
                <a:cubicBezTo>
                  <a:pt x="1516507" y="-12509"/>
                  <a:pt x="1782573" y="-31523"/>
                  <a:pt x="2090841" y="0"/>
                </a:cubicBezTo>
                <a:cubicBezTo>
                  <a:pt x="2399109" y="31523"/>
                  <a:pt x="2488380" y="26286"/>
                  <a:pt x="2686246" y="0"/>
                </a:cubicBezTo>
                <a:cubicBezTo>
                  <a:pt x="2884112" y="-26286"/>
                  <a:pt x="3186024" y="-14734"/>
                  <a:pt x="3475504" y="0"/>
                </a:cubicBezTo>
                <a:cubicBezTo>
                  <a:pt x="3764984" y="14734"/>
                  <a:pt x="4053017" y="43292"/>
                  <a:pt x="4361688" y="0"/>
                </a:cubicBezTo>
                <a:cubicBezTo>
                  <a:pt x="4670359" y="-43292"/>
                  <a:pt x="4736164" y="-729"/>
                  <a:pt x="5054019" y="0"/>
                </a:cubicBezTo>
                <a:cubicBezTo>
                  <a:pt x="5371874" y="729"/>
                  <a:pt x="5543528" y="-22963"/>
                  <a:pt x="5940204" y="0"/>
                </a:cubicBezTo>
                <a:cubicBezTo>
                  <a:pt x="6336881" y="22963"/>
                  <a:pt x="6423838" y="6469"/>
                  <a:pt x="6632535" y="0"/>
                </a:cubicBezTo>
                <a:cubicBezTo>
                  <a:pt x="6841232" y="-6469"/>
                  <a:pt x="6852819" y="17036"/>
                  <a:pt x="7034087" y="0"/>
                </a:cubicBezTo>
                <a:cubicBezTo>
                  <a:pt x="7215355" y="-17036"/>
                  <a:pt x="7313136" y="11151"/>
                  <a:pt x="7532566" y="0"/>
                </a:cubicBezTo>
                <a:cubicBezTo>
                  <a:pt x="7751996" y="-11151"/>
                  <a:pt x="8015001" y="25614"/>
                  <a:pt x="8418750" y="0"/>
                </a:cubicBezTo>
                <a:cubicBezTo>
                  <a:pt x="8822499" y="-25614"/>
                  <a:pt x="9163239" y="48603"/>
                  <a:pt x="9692640" y="0"/>
                </a:cubicBezTo>
                <a:cubicBezTo>
                  <a:pt x="9691955" y="4437"/>
                  <a:pt x="9693170" y="10717"/>
                  <a:pt x="9692640" y="18288"/>
                </a:cubicBezTo>
                <a:cubicBezTo>
                  <a:pt x="9545125" y="42172"/>
                  <a:pt x="9164259" y="6706"/>
                  <a:pt x="9000309" y="18288"/>
                </a:cubicBezTo>
                <a:cubicBezTo>
                  <a:pt x="8836359" y="29870"/>
                  <a:pt x="8521035" y="-14108"/>
                  <a:pt x="8307977" y="18288"/>
                </a:cubicBezTo>
                <a:cubicBezTo>
                  <a:pt x="8094919" y="50684"/>
                  <a:pt x="7881757" y="11235"/>
                  <a:pt x="7712572" y="18288"/>
                </a:cubicBezTo>
                <a:cubicBezTo>
                  <a:pt x="7543387" y="25341"/>
                  <a:pt x="7358861" y="20625"/>
                  <a:pt x="7214093" y="18288"/>
                </a:cubicBezTo>
                <a:cubicBezTo>
                  <a:pt x="7069325" y="15951"/>
                  <a:pt x="6523705" y="52160"/>
                  <a:pt x="6327909" y="18288"/>
                </a:cubicBezTo>
                <a:cubicBezTo>
                  <a:pt x="6132113" y="-15584"/>
                  <a:pt x="5923847" y="21204"/>
                  <a:pt x="5635578" y="18288"/>
                </a:cubicBezTo>
                <a:cubicBezTo>
                  <a:pt x="5347309" y="15372"/>
                  <a:pt x="5114749" y="50642"/>
                  <a:pt x="4846320" y="18288"/>
                </a:cubicBezTo>
                <a:cubicBezTo>
                  <a:pt x="4577891" y="-14066"/>
                  <a:pt x="4576701" y="1487"/>
                  <a:pt x="4444768" y="18288"/>
                </a:cubicBezTo>
                <a:cubicBezTo>
                  <a:pt x="4312835" y="35089"/>
                  <a:pt x="4112575" y="15158"/>
                  <a:pt x="3946289" y="18288"/>
                </a:cubicBezTo>
                <a:cubicBezTo>
                  <a:pt x="3780003" y="21418"/>
                  <a:pt x="3396009" y="18797"/>
                  <a:pt x="3253958" y="18288"/>
                </a:cubicBezTo>
                <a:cubicBezTo>
                  <a:pt x="3111907" y="17779"/>
                  <a:pt x="2760272" y="57223"/>
                  <a:pt x="2464700" y="18288"/>
                </a:cubicBezTo>
                <a:cubicBezTo>
                  <a:pt x="2169128" y="-20647"/>
                  <a:pt x="2232262" y="7960"/>
                  <a:pt x="2063148" y="18288"/>
                </a:cubicBezTo>
                <a:cubicBezTo>
                  <a:pt x="1894034" y="28616"/>
                  <a:pt x="1799338" y="3019"/>
                  <a:pt x="1661595" y="18288"/>
                </a:cubicBezTo>
                <a:cubicBezTo>
                  <a:pt x="1523852" y="33557"/>
                  <a:pt x="1113928" y="-4352"/>
                  <a:pt x="969264" y="18288"/>
                </a:cubicBezTo>
                <a:cubicBezTo>
                  <a:pt x="824600" y="40928"/>
                  <a:pt x="356149" y="-3128"/>
                  <a:pt x="0" y="18288"/>
                </a:cubicBezTo>
                <a:cubicBezTo>
                  <a:pt x="-540" y="12521"/>
                  <a:pt x="894" y="7749"/>
                  <a:pt x="0" y="0"/>
                </a:cubicBezTo>
                <a:close/>
              </a:path>
              <a:path w="9692640" h="18288" stroke="0" extrusionOk="0">
                <a:moveTo>
                  <a:pt x="0" y="0"/>
                </a:moveTo>
                <a:cubicBezTo>
                  <a:pt x="162642" y="3864"/>
                  <a:pt x="346119" y="-18364"/>
                  <a:pt x="498479" y="0"/>
                </a:cubicBezTo>
                <a:cubicBezTo>
                  <a:pt x="650839" y="18364"/>
                  <a:pt x="712065" y="-9389"/>
                  <a:pt x="900031" y="0"/>
                </a:cubicBezTo>
                <a:cubicBezTo>
                  <a:pt x="1087997" y="9389"/>
                  <a:pt x="1177291" y="3685"/>
                  <a:pt x="1398509" y="0"/>
                </a:cubicBezTo>
                <a:cubicBezTo>
                  <a:pt x="1619727" y="-3685"/>
                  <a:pt x="1874008" y="-8897"/>
                  <a:pt x="2090841" y="0"/>
                </a:cubicBezTo>
                <a:cubicBezTo>
                  <a:pt x="2307674" y="8897"/>
                  <a:pt x="2573432" y="-313"/>
                  <a:pt x="2880099" y="0"/>
                </a:cubicBezTo>
                <a:cubicBezTo>
                  <a:pt x="3186766" y="313"/>
                  <a:pt x="3422577" y="10664"/>
                  <a:pt x="3766283" y="0"/>
                </a:cubicBezTo>
                <a:cubicBezTo>
                  <a:pt x="4109989" y="-10664"/>
                  <a:pt x="4342683" y="-32873"/>
                  <a:pt x="4652467" y="0"/>
                </a:cubicBezTo>
                <a:cubicBezTo>
                  <a:pt x="4962251" y="32873"/>
                  <a:pt x="5122120" y="29155"/>
                  <a:pt x="5247872" y="0"/>
                </a:cubicBezTo>
                <a:cubicBezTo>
                  <a:pt x="5373625" y="-29155"/>
                  <a:pt x="5749491" y="1706"/>
                  <a:pt x="6037130" y="0"/>
                </a:cubicBezTo>
                <a:cubicBezTo>
                  <a:pt x="6324769" y="-1706"/>
                  <a:pt x="6531407" y="1172"/>
                  <a:pt x="6729461" y="0"/>
                </a:cubicBezTo>
                <a:cubicBezTo>
                  <a:pt x="6927515" y="-1172"/>
                  <a:pt x="7096794" y="-1520"/>
                  <a:pt x="7324867" y="0"/>
                </a:cubicBezTo>
                <a:cubicBezTo>
                  <a:pt x="7552940" y="1520"/>
                  <a:pt x="7878827" y="-17110"/>
                  <a:pt x="8114124" y="0"/>
                </a:cubicBezTo>
                <a:cubicBezTo>
                  <a:pt x="8349421" y="17110"/>
                  <a:pt x="8334208" y="15114"/>
                  <a:pt x="8515677" y="0"/>
                </a:cubicBezTo>
                <a:cubicBezTo>
                  <a:pt x="8697146" y="-15114"/>
                  <a:pt x="9236164" y="22466"/>
                  <a:pt x="9692640" y="0"/>
                </a:cubicBezTo>
                <a:cubicBezTo>
                  <a:pt x="9692735" y="8251"/>
                  <a:pt x="9692514" y="12333"/>
                  <a:pt x="9692640" y="18288"/>
                </a:cubicBezTo>
                <a:cubicBezTo>
                  <a:pt x="9410102" y="47398"/>
                  <a:pt x="9172773" y="7109"/>
                  <a:pt x="9000309" y="18288"/>
                </a:cubicBezTo>
                <a:cubicBezTo>
                  <a:pt x="8827845" y="29467"/>
                  <a:pt x="8713608" y="28372"/>
                  <a:pt x="8501830" y="18288"/>
                </a:cubicBezTo>
                <a:cubicBezTo>
                  <a:pt x="8290052" y="8204"/>
                  <a:pt x="7893416" y="3561"/>
                  <a:pt x="7712572" y="18288"/>
                </a:cubicBezTo>
                <a:cubicBezTo>
                  <a:pt x="7531728" y="33015"/>
                  <a:pt x="7480716" y="17052"/>
                  <a:pt x="7311020" y="18288"/>
                </a:cubicBezTo>
                <a:cubicBezTo>
                  <a:pt x="7141324" y="19524"/>
                  <a:pt x="6962706" y="15975"/>
                  <a:pt x="6618688" y="18288"/>
                </a:cubicBezTo>
                <a:cubicBezTo>
                  <a:pt x="6274670" y="20601"/>
                  <a:pt x="6230664" y="-1692"/>
                  <a:pt x="6120210" y="18288"/>
                </a:cubicBezTo>
                <a:cubicBezTo>
                  <a:pt x="6009756" y="38268"/>
                  <a:pt x="5442516" y="28115"/>
                  <a:pt x="5234026" y="18288"/>
                </a:cubicBezTo>
                <a:cubicBezTo>
                  <a:pt x="5025536" y="8461"/>
                  <a:pt x="4953693" y="18182"/>
                  <a:pt x="4832473" y="18288"/>
                </a:cubicBezTo>
                <a:cubicBezTo>
                  <a:pt x="4711253" y="18394"/>
                  <a:pt x="4414565" y="-11251"/>
                  <a:pt x="4140142" y="18288"/>
                </a:cubicBezTo>
                <a:cubicBezTo>
                  <a:pt x="3865719" y="47827"/>
                  <a:pt x="3819081" y="16772"/>
                  <a:pt x="3738590" y="18288"/>
                </a:cubicBezTo>
                <a:cubicBezTo>
                  <a:pt x="3658099" y="19804"/>
                  <a:pt x="3427576" y="1385"/>
                  <a:pt x="3240111" y="18288"/>
                </a:cubicBezTo>
                <a:cubicBezTo>
                  <a:pt x="3052646" y="35191"/>
                  <a:pt x="2749652" y="-13914"/>
                  <a:pt x="2450853" y="18288"/>
                </a:cubicBezTo>
                <a:cubicBezTo>
                  <a:pt x="2152054" y="50490"/>
                  <a:pt x="1928331" y="61101"/>
                  <a:pt x="1564669" y="18288"/>
                </a:cubicBezTo>
                <a:cubicBezTo>
                  <a:pt x="1201007" y="-24525"/>
                  <a:pt x="1217828" y="-275"/>
                  <a:pt x="1066190" y="18288"/>
                </a:cubicBezTo>
                <a:cubicBezTo>
                  <a:pt x="914552" y="36851"/>
                  <a:pt x="418290" y="-14785"/>
                  <a:pt x="0" y="18288"/>
                </a:cubicBezTo>
                <a:cubicBezTo>
                  <a:pt x="641" y="14236"/>
                  <a:pt x="889" y="7550"/>
                  <a:pt x="0" y="0"/>
                </a:cubicBezTo>
                <a:close/>
              </a:path>
            </a:pathLst>
          </a:custGeom>
          <a:solidFill>
            <a:srgbClr val="FFFFFF">
              <a:alpha val="75000"/>
            </a:srgbClr>
          </a:solidFill>
          <a:ln w="44450" cap="rnd">
            <a:solidFill>
              <a:schemeClr val="bg1">
                <a:alpha val="75000"/>
              </a:schemeClr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C91546AD-05B4-2F6C-B692-3214836DDA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004446"/>
            <a:ext cx="10515600" cy="4176897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de-DE" sz="2400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86F11C30-2A93-B772-37D6-8EAC35C786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FB693C-3D3E-4164-9FC0-E9F6868342D2}" type="slidenum">
              <a:rPr lang="de-BE" smtClean="0"/>
              <a:t>13</a:t>
            </a:fld>
            <a:endParaRPr lang="de-BE"/>
          </a:p>
        </p:txBody>
      </p:sp>
    </p:spTree>
    <p:extLst>
      <p:ext uri="{BB962C8B-B14F-4D97-AF65-F5344CB8AC3E}">
        <p14:creationId xmlns:p14="http://schemas.microsoft.com/office/powerpoint/2010/main" val="251295829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995</Words>
  <Application>Microsoft Office PowerPoint</Application>
  <PresentationFormat>Breitbild</PresentationFormat>
  <Paragraphs>241</Paragraphs>
  <Slides>13</Slides>
  <Notes>3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13</vt:i4>
      </vt:variant>
    </vt:vector>
  </HeadingPairs>
  <TitlesOfParts>
    <vt:vector size="17" baseType="lpstr">
      <vt:lpstr>Aptos</vt:lpstr>
      <vt:lpstr>Aptos Display</vt:lpstr>
      <vt:lpstr>Arial</vt:lpstr>
      <vt:lpstr>Office</vt:lpstr>
      <vt:lpstr>TP-Link ER706W Firewall &amp; Behaviour Control</vt:lpstr>
      <vt:lpstr>Inhaltsverzeichnis</vt:lpstr>
      <vt:lpstr>Anti ARP Spoofing</vt:lpstr>
      <vt:lpstr>Attack Defense – Flood Defense</vt:lpstr>
      <vt:lpstr>Attack Defense – Packet Anomaly</vt:lpstr>
      <vt:lpstr>MAC Filtering</vt:lpstr>
      <vt:lpstr>Access Control List (ACL)</vt:lpstr>
      <vt:lpstr>Application Control</vt:lpstr>
      <vt:lpstr>IPS / IDS</vt:lpstr>
      <vt:lpstr>Web Filtering</vt:lpstr>
      <vt:lpstr>Web Security</vt:lpstr>
      <vt:lpstr>Quellen</vt:lpstr>
      <vt:lpstr>Danke fürs Zuhören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Niklas Quandel</dc:creator>
  <cp:lastModifiedBy>Niklas Quandel</cp:lastModifiedBy>
  <cp:revision>3</cp:revision>
  <dcterms:created xsi:type="dcterms:W3CDTF">2025-12-17T12:06:57Z</dcterms:created>
  <dcterms:modified xsi:type="dcterms:W3CDTF">2025-12-19T08:08:36Z</dcterms:modified>
</cp:coreProperties>
</file>