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de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leitung" id="{A84AFDAF-AEEB-49E1-8CE6-9138BA1230FD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B85DCD-1A4B-6D54-3006-CE4C61D6EF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B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5A968E4-FB37-30CD-9B61-223BCB29C9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B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C6B7112-C50F-108F-345E-708D299B2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B871C-5DD3-42C7-94DC-7EECA41E3E3B}" type="datetimeFigureOut">
              <a:rPr lang="de-BE" smtClean="0"/>
              <a:t>17.12.2025</a:t>
            </a:fld>
            <a:endParaRPr lang="de-B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E2D37BA-8E27-5F01-BC56-4CCA62DD8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B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B82E253-63C7-37D9-D4E9-5B374E2BF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‹Nr.›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3123106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857F98-FEF6-280C-DB14-EE71C7AA7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B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D74548-677A-6F8D-D4BA-E044F3AB3B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B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877881-F869-E435-0F90-EC36F2650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B871C-5DD3-42C7-94DC-7EECA41E3E3B}" type="datetimeFigureOut">
              <a:rPr lang="de-BE" smtClean="0"/>
              <a:t>17.12.2025</a:t>
            </a:fld>
            <a:endParaRPr lang="de-B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3D69347-B27F-1DE9-6CFB-21DFEABD6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B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BAD4AC8-298E-09F5-BFE8-97F8E216C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‹Nr.›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993566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086A34-3192-1380-C0B9-F15A6DE02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B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EB2AE84-AD97-14EA-3465-1322F90E9A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C3B8663-415D-36AD-8755-E2F8D1E01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B871C-5DD3-42C7-94DC-7EECA41E3E3B}" type="datetimeFigureOut">
              <a:rPr lang="de-BE" smtClean="0"/>
              <a:t>17.12.2025</a:t>
            </a:fld>
            <a:endParaRPr lang="de-B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8A7259-6D01-E009-5610-03A3D3A44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B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5E4AFB5-7928-5E4A-FBEE-B7C60C053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‹Nr.›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1240637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34EA74-ABB4-C8A9-9DA5-70770D955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B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905F5D6-4F48-B5C3-FA01-03DBEDD778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BE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DAC32C5-74DB-CF9C-994C-5A26D026D7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BE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4F47D11-FED1-E98E-9A88-B29207764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B871C-5DD3-42C7-94DC-7EECA41E3E3B}" type="datetimeFigureOut">
              <a:rPr lang="de-BE" smtClean="0"/>
              <a:t>17.12.2025</a:t>
            </a:fld>
            <a:endParaRPr lang="de-B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42533B1-8926-9971-4A3E-1C71AB266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B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EDC49DC-79AC-E053-716F-A2EC3ED12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‹Nr.›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797408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D1FB9F-441D-292E-44D5-BEBA42E01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B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395F800-61E0-F28F-940E-2D7CB8854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7B17BBB-A057-7C13-B2FD-BE3FDB2886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B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5404FA3-F87D-11EB-1D5A-339CF99BD3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3B40D72-62CA-4454-3569-A8B4CB7560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B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C09D450-CB4B-C15B-2EDE-592682E7E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B871C-5DD3-42C7-94DC-7EECA41E3E3B}" type="datetimeFigureOut">
              <a:rPr lang="de-BE" smtClean="0"/>
              <a:t>17.12.2025</a:t>
            </a:fld>
            <a:endParaRPr lang="de-B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E49426A-E1F6-EFDE-E252-888E68576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B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F0406EB-D41C-A050-FDCA-68D9F52A8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‹Nr.›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31882655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21A25F-9720-FBEF-F9EA-C2B4F0A65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B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ADC17F5-8AD4-A332-E587-410DE369B4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B871C-5DD3-42C7-94DC-7EECA41E3E3B}" type="datetimeFigureOut">
              <a:rPr lang="de-BE" smtClean="0"/>
              <a:t>17.12.2025</a:t>
            </a:fld>
            <a:endParaRPr lang="de-B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12C4A75-FE51-D774-6447-650975099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B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064E8DE-DD13-A5FA-9A06-F7422FA87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‹Nr.›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2763170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C2CD390-A780-03F1-8B77-FA5F207C3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B871C-5DD3-42C7-94DC-7EECA41E3E3B}" type="datetimeFigureOut">
              <a:rPr lang="de-BE" smtClean="0"/>
              <a:t>17.12.2025</a:t>
            </a:fld>
            <a:endParaRPr lang="de-B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887FEA6-80A3-3759-3703-71A0DEE52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B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3497F8F-5D98-F8FE-22A3-4EAAB69F9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‹Nr.›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2468890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2C7FAB-5C98-F25D-E76D-8D6E6EC35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B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4F48D3-1FF0-AA41-F34E-8EF6CC91D1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B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70977CA-D58F-1BD5-5721-06DB1A56ED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C9726B5-5B15-5C32-AAE6-A9F452628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B871C-5DD3-42C7-94DC-7EECA41E3E3B}" type="datetimeFigureOut">
              <a:rPr lang="de-BE" smtClean="0"/>
              <a:t>17.12.2025</a:t>
            </a:fld>
            <a:endParaRPr lang="de-B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64C8CC5-5BD7-FE39-DA8E-75B88948C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B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9B860F4-C4A4-CBD1-1254-554A4F4A0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‹Nr.›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29091614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70140F-A645-E95F-0690-C37C75AC9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B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27DDBC88-35F3-BAF1-AE80-68657FAB64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B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8253C07-9E12-B2C7-FF18-86D78C9040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D676D7A-3800-71E4-DB35-9D7090FDD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B871C-5DD3-42C7-94DC-7EECA41E3E3B}" type="datetimeFigureOut">
              <a:rPr lang="de-BE" smtClean="0"/>
              <a:t>17.12.2025</a:t>
            </a:fld>
            <a:endParaRPr lang="de-B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6793F0A-1F35-A7B3-43A1-78B7EECEAB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B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184A696-42EA-46AE-E487-950804035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‹Nr.›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1233330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0D97AD-B69F-1F78-1CDE-0B06FA87F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BE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DB94CDF-89F2-4487-239E-3C649EECE2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B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324AF8-911C-1E4C-4D3E-8BA6BF9E35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B871C-5DD3-42C7-94DC-7EECA41E3E3B}" type="datetimeFigureOut">
              <a:rPr lang="de-BE" smtClean="0"/>
              <a:t>17.12.2025</a:t>
            </a:fld>
            <a:endParaRPr lang="de-B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3DAC5D0-2994-89F7-4414-C1E8B1C97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B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C24D615-43CE-FDE6-1FFE-9B9834C77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‹Nr.›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4153194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4395855-CD3B-EA02-4B9B-92DA51FD71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BE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7E3E8B3-280B-78F5-ACF6-61DF0F833D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B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00BB0A5-E4A7-85B2-5F96-B0CC5B2C9E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B871C-5DD3-42C7-94DC-7EECA41E3E3B}" type="datetimeFigureOut">
              <a:rPr lang="de-BE" smtClean="0"/>
              <a:t>17.12.2025</a:t>
            </a:fld>
            <a:endParaRPr lang="de-B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3B2753C-26E4-78C4-D4BE-E90161177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B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DD59C98-19F9-891A-21F9-4C29FE0B1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B693C-3D3E-4164-9FC0-E9F6868342D2}" type="slidenum">
              <a:rPr lang="de-BE" smtClean="0"/>
              <a:t>‹Nr.›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1051984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F64D43A-C5DF-84F6-8148-30F7428A3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B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92BA1C8-2ED4-66FF-B1D4-4894D390C6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B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4186F14-568E-EAD1-EE5E-8F2FA3DB7B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1B871C-5DD3-42C7-94DC-7EECA41E3E3B}" type="datetimeFigureOut">
              <a:rPr lang="de-BE" smtClean="0"/>
              <a:t>17.12.2025</a:t>
            </a:fld>
            <a:endParaRPr lang="de-B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4AA29C-5364-F3D2-F196-CEE13E37B3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B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70EAE38-EC3B-5A69-D439-17ED0A9291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FB693C-3D3E-4164-9FC0-E9F6868342D2}" type="slidenum">
              <a:rPr lang="de-BE" smtClean="0"/>
              <a:t>‹Nr.›</a:t>
            </a:fld>
            <a:endParaRPr lang="de-BE"/>
          </a:p>
        </p:txBody>
      </p:sp>
    </p:spTree>
    <p:extLst>
      <p:ext uri="{BB962C8B-B14F-4D97-AF65-F5344CB8AC3E}">
        <p14:creationId xmlns:p14="http://schemas.microsoft.com/office/powerpoint/2010/main" val="3811557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de.wikipedia.org/wiki/WinNuke" TargetMode="External"/><Relationship Id="rId3" Type="http://schemas.openxmlformats.org/officeDocument/2006/relationships/hyperlink" Target="https://emulator.tp-link.com/706W_1.20-emulator/index.html" TargetMode="External"/><Relationship Id="rId7" Type="http://schemas.openxmlformats.org/officeDocument/2006/relationships/hyperlink" Target="https://www.kentik.com/kentipedia/network-anomaly-detection/" TargetMode="External"/><Relationship Id="rId12" Type="http://schemas.openxmlformats.org/officeDocument/2006/relationships/hyperlink" Target="https://support.omadanetworks.com/nl-be/product/er706w-4g/" TargetMode="External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nmap.org/book/scan-methods-null-fin-xmas-scan.html" TargetMode="External"/><Relationship Id="rId11" Type="http://schemas.openxmlformats.org/officeDocument/2006/relationships/hyperlink" Target="https://www.okta.com/de-de/identity-101/ids-vs-ips/" TargetMode="External"/><Relationship Id="rId5" Type="http://schemas.openxmlformats.org/officeDocument/2006/relationships/hyperlink" Target="https://de.wikipedia.org/wiki/ARP-Spoofing" TargetMode="External"/><Relationship Id="rId10" Type="http://schemas.openxmlformats.org/officeDocument/2006/relationships/hyperlink" Target="https://www.fortinet.com/resources/cyberglossary/access-control" TargetMode="External"/><Relationship Id="rId4" Type="http://schemas.openxmlformats.org/officeDocument/2006/relationships/hyperlink" Target="https://chatgpt.com/" TargetMode="External"/><Relationship Id="rId9" Type="http://schemas.openxmlformats.org/officeDocument/2006/relationships/hyperlink" Target="https://www.fortinet.com/resources/cyberglossary/network-access-control-list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22A397E7-BF60-45B2-84C7-B074B76C3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 descr="What Is a Firewall? Its Role in Network Security | CyberDB">
            <a:extLst>
              <a:ext uri="{FF2B5EF4-FFF2-40B4-BE49-F238E27FC236}">
                <a16:creationId xmlns:a16="http://schemas.microsoft.com/office/drawing/2014/main" id="{6D034E24-FBD9-2CD0-36D7-42783389C1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94" r="13543"/>
          <a:stretch>
            <a:fillRect/>
          </a:stretch>
        </p:blipFill>
        <p:spPr bwMode="auto">
          <a:xfrm>
            <a:off x="4283902" y="10"/>
            <a:ext cx="7908098" cy="6857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3" name="Rectangle 1032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1EEEE8-A371-C2E3-F351-5D201AD781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8663" y="1115219"/>
            <a:ext cx="5505449" cy="2387600"/>
          </a:xfrm>
        </p:spPr>
        <p:txBody>
          <a:bodyPr>
            <a:normAutofit fontScale="90000"/>
          </a:bodyPr>
          <a:lstStyle/>
          <a:p>
            <a:pPr algn="l"/>
            <a:r>
              <a:rPr lang="de-DE" dirty="0">
                <a:solidFill>
                  <a:schemeClr val="bg1"/>
                </a:solidFill>
              </a:rPr>
              <a:t>TP-Link ER706W</a:t>
            </a:r>
            <a:br>
              <a:rPr lang="de-DE" dirty="0">
                <a:solidFill>
                  <a:schemeClr val="bg1"/>
                </a:solidFill>
              </a:rPr>
            </a:br>
            <a:r>
              <a:rPr lang="de-DE" dirty="0">
                <a:solidFill>
                  <a:schemeClr val="bg1"/>
                </a:solidFill>
              </a:rPr>
              <a:t>Firewall &amp; </a:t>
            </a:r>
            <a:r>
              <a:rPr lang="de-DE" dirty="0" err="1">
                <a:solidFill>
                  <a:schemeClr val="bg1"/>
                </a:solidFill>
              </a:rPr>
              <a:t>Behaviour</a:t>
            </a:r>
            <a:r>
              <a:rPr lang="de-DE" dirty="0">
                <a:solidFill>
                  <a:schemeClr val="bg1"/>
                </a:solidFill>
              </a:rPr>
              <a:t> Control</a:t>
            </a:r>
            <a:endParaRPr lang="de-BE" sz="5000" dirty="0">
              <a:solidFill>
                <a:schemeClr val="bg1"/>
              </a:solidFill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D75A363-B97B-3782-95A3-CE258D2400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8663" y="3902075"/>
            <a:ext cx="5505449" cy="1655762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de-DE" sz="2000" dirty="0">
                <a:solidFill>
                  <a:schemeClr val="bg1"/>
                </a:solidFill>
              </a:rPr>
              <a:t>Eine Präsentation von</a:t>
            </a:r>
          </a:p>
          <a:p>
            <a:pPr algn="l"/>
            <a:endParaRPr lang="de-DE" sz="2000" dirty="0">
              <a:solidFill>
                <a:schemeClr val="bg1"/>
              </a:solidFill>
            </a:endParaRPr>
          </a:p>
          <a:p>
            <a:pPr algn="l"/>
            <a:r>
              <a:rPr lang="de-DE" sz="2000" dirty="0">
                <a:solidFill>
                  <a:schemeClr val="bg1"/>
                </a:solidFill>
              </a:rPr>
              <a:t>Eric Bayer</a:t>
            </a:r>
          </a:p>
          <a:p>
            <a:pPr algn="l"/>
            <a:r>
              <a:rPr lang="de-DE" sz="2000" dirty="0">
                <a:solidFill>
                  <a:schemeClr val="bg1"/>
                </a:solidFill>
              </a:rPr>
              <a:t>Niklas Quandel</a:t>
            </a:r>
          </a:p>
          <a:p>
            <a:pPr algn="l"/>
            <a:r>
              <a:rPr lang="de-DE" sz="2000" dirty="0">
                <a:solidFill>
                  <a:schemeClr val="bg1"/>
                </a:solidFill>
              </a:rPr>
              <a:t>Leander Tholen</a:t>
            </a:r>
            <a:endParaRPr lang="de-BE" sz="2000" dirty="0">
              <a:solidFill>
                <a:schemeClr val="bg1"/>
              </a:solidFill>
            </a:endParaRPr>
          </a:p>
        </p:txBody>
      </p:sp>
      <p:cxnSp>
        <p:nvCxnSpPr>
          <p:cNvPr id="1035" name="Straight Connector 1034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8585" y="3681408"/>
            <a:ext cx="1193482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21529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0" name="Rectangle 2059">
            <a:extLst>
              <a:ext uri="{FF2B5EF4-FFF2-40B4-BE49-F238E27FC236}">
                <a16:creationId xmlns:a16="http://schemas.microsoft.com/office/drawing/2014/main" id="{9228552E-C8B1-4A80-8448-0787CE0FC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Network Firewall Security: How You Can Make Full Use Of It">
            <a:extLst>
              <a:ext uri="{FF2B5EF4-FFF2-40B4-BE49-F238E27FC236}">
                <a16:creationId xmlns:a16="http://schemas.microsoft.com/office/drawing/2014/main" id="{E0514E7F-D72C-47AE-2A9E-9756A4286B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730"/>
          <a:stretch>
            <a:fillRect/>
          </a:stretch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ABFEE5A-5B03-36B6-C303-0548C214E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rgbClr val="FFFFFF"/>
                </a:solidFill>
              </a:rPr>
              <a:t>Inhaltsverzeichnis</a:t>
            </a:r>
            <a:endParaRPr lang="de-BE" dirty="0">
              <a:solidFill>
                <a:srgbClr val="FFFFFF"/>
              </a:solidFill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9F41CD0-2C80-6F56-A3A0-FACE32F5C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>
                <a:solidFill>
                  <a:srgbClr val="FFFFFF"/>
                </a:solidFill>
              </a:rPr>
              <a:t>	FIREWALL				BEHAVIOUR CONTROL</a:t>
            </a:r>
          </a:p>
          <a:p>
            <a:pPr marL="0" indent="0">
              <a:buNone/>
            </a:pPr>
            <a:endParaRPr lang="de-DE" dirty="0">
              <a:solidFill>
                <a:srgbClr val="FFFFFF"/>
              </a:solidFill>
            </a:endParaRPr>
          </a:p>
          <a:p>
            <a:pPr marL="0" indent="0">
              <a:buNone/>
            </a:pPr>
            <a:r>
              <a:rPr lang="de-DE" dirty="0">
                <a:solidFill>
                  <a:srgbClr val="FFFFFF"/>
                </a:solidFill>
              </a:rPr>
              <a:t>	- Anti ARP Spoofing		- Web </a:t>
            </a:r>
            <a:r>
              <a:rPr lang="de-DE" dirty="0" err="1">
                <a:solidFill>
                  <a:srgbClr val="FFFFFF"/>
                </a:solidFill>
              </a:rPr>
              <a:t>Filtering</a:t>
            </a:r>
            <a:endParaRPr lang="de-DE" dirty="0">
              <a:solidFill>
                <a:srgbClr val="FFFFFF"/>
              </a:solidFill>
            </a:endParaRPr>
          </a:p>
          <a:p>
            <a:pPr marL="0" indent="0">
              <a:buNone/>
            </a:pPr>
            <a:r>
              <a:rPr lang="de-DE" dirty="0">
                <a:solidFill>
                  <a:srgbClr val="FFFFFF"/>
                </a:solidFill>
              </a:rPr>
              <a:t>	- </a:t>
            </a:r>
            <a:r>
              <a:rPr lang="de-DE" dirty="0" err="1">
                <a:solidFill>
                  <a:srgbClr val="FFFFFF"/>
                </a:solidFill>
              </a:rPr>
              <a:t>Attack</a:t>
            </a:r>
            <a:r>
              <a:rPr lang="de-DE" dirty="0">
                <a:solidFill>
                  <a:srgbClr val="FFFFFF"/>
                </a:solidFill>
              </a:rPr>
              <a:t> Defense			- Web Security</a:t>
            </a:r>
          </a:p>
          <a:p>
            <a:pPr marL="0" indent="0">
              <a:buNone/>
            </a:pPr>
            <a:r>
              <a:rPr lang="de-DE" dirty="0">
                <a:solidFill>
                  <a:srgbClr val="FFFFFF"/>
                </a:solidFill>
              </a:rPr>
              <a:t>	- MAC </a:t>
            </a:r>
            <a:r>
              <a:rPr lang="de-DE" dirty="0" err="1">
                <a:solidFill>
                  <a:srgbClr val="FFFFFF"/>
                </a:solidFill>
              </a:rPr>
              <a:t>Filtering</a:t>
            </a:r>
            <a:endParaRPr lang="de-DE" dirty="0">
              <a:solidFill>
                <a:srgbClr val="FFFFFF"/>
              </a:solidFill>
            </a:endParaRPr>
          </a:p>
          <a:p>
            <a:pPr marL="0" indent="0">
              <a:buNone/>
            </a:pPr>
            <a:r>
              <a:rPr lang="de-DE" dirty="0">
                <a:solidFill>
                  <a:srgbClr val="FFFFFF"/>
                </a:solidFill>
              </a:rPr>
              <a:t>	- Access Control</a:t>
            </a:r>
          </a:p>
          <a:p>
            <a:pPr marL="0" indent="0">
              <a:buNone/>
            </a:pPr>
            <a:r>
              <a:rPr lang="de-DE" dirty="0">
                <a:solidFill>
                  <a:srgbClr val="FFFFFF"/>
                </a:solidFill>
              </a:rPr>
              <a:t>	- </a:t>
            </a:r>
            <a:r>
              <a:rPr lang="de-DE" dirty="0" err="1">
                <a:solidFill>
                  <a:srgbClr val="FFFFFF"/>
                </a:solidFill>
              </a:rPr>
              <a:t>Application</a:t>
            </a:r>
            <a:r>
              <a:rPr lang="de-DE" dirty="0">
                <a:solidFill>
                  <a:srgbClr val="FFFFFF"/>
                </a:solidFill>
              </a:rPr>
              <a:t> Control</a:t>
            </a:r>
          </a:p>
          <a:p>
            <a:pPr marL="0" indent="0">
              <a:buNone/>
            </a:pPr>
            <a:r>
              <a:rPr lang="de-DE" dirty="0">
                <a:solidFill>
                  <a:srgbClr val="FFFFFF"/>
                </a:solidFill>
              </a:rPr>
              <a:t>	- IPS / IDS</a:t>
            </a:r>
          </a:p>
        </p:txBody>
      </p:sp>
    </p:spTree>
    <p:extLst>
      <p:ext uri="{BB962C8B-B14F-4D97-AF65-F5344CB8AC3E}">
        <p14:creationId xmlns:p14="http://schemas.microsoft.com/office/powerpoint/2010/main" val="32969610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9" name="Rectangle 3080">
            <a:extLst>
              <a:ext uri="{FF2B5EF4-FFF2-40B4-BE49-F238E27FC236}">
                <a16:creationId xmlns:a16="http://schemas.microsoft.com/office/drawing/2014/main" id="{1A9F7B4E-B03D-4F64-BE33-00D074458D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 descr="Rethinking Firewall and Proxy Management for Enterprise Agility">
            <a:extLst>
              <a:ext uri="{FF2B5EF4-FFF2-40B4-BE49-F238E27FC236}">
                <a16:creationId xmlns:a16="http://schemas.microsoft.com/office/drawing/2014/main" id="{55B0E1BD-05EF-A53E-2A69-262E34B61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6C13991-49DA-30EA-8E6A-F0EE261F6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chemeClr val="bg1"/>
                </a:solidFill>
              </a:rPr>
              <a:t>Anti ARP Spoofing</a:t>
            </a:r>
            <a:endParaRPr lang="de-BE" sz="5400" dirty="0">
              <a:solidFill>
                <a:schemeClr val="bg1"/>
              </a:solidFill>
            </a:endParaRPr>
          </a:p>
        </p:txBody>
      </p:sp>
      <p:sp>
        <p:nvSpPr>
          <p:cNvPr id="3090" name="sketchy line">
            <a:extLst>
              <a:ext uri="{FF2B5EF4-FFF2-40B4-BE49-F238E27FC236}">
                <a16:creationId xmlns:a16="http://schemas.microsoft.com/office/drawing/2014/main" id="{7E2BE7F7-CA89-4002-ACCE-A478AEA24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sX0" fmla="*/ 0 w 9692640"/>
              <a:gd name="csY0" fmla="*/ 0 h 18288"/>
              <a:gd name="csX1" fmla="*/ 401552 w 9692640"/>
              <a:gd name="csY1" fmla="*/ 0 h 18288"/>
              <a:gd name="csX2" fmla="*/ 996957 w 9692640"/>
              <a:gd name="csY2" fmla="*/ 0 h 18288"/>
              <a:gd name="csX3" fmla="*/ 1398509 w 9692640"/>
              <a:gd name="csY3" fmla="*/ 0 h 18288"/>
              <a:gd name="csX4" fmla="*/ 2090841 w 9692640"/>
              <a:gd name="csY4" fmla="*/ 0 h 18288"/>
              <a:gd name="csX5" fmla="*/ 2686246 w 9692640"/>
              <a:gd name="csY5" fmla="*/ 0 h 18288"/>
              <a:gd name="csX6" fmla="*/ 3475504 w 9692640"/>
              <a:gd name="csY6" fmla="*/ 0 h 18288"/>
              <a:gd name="csX7" fmla="*/ 4361688 w 9692640"/>
              <a:gd name="csY7" fmla="*/ 0 h 18288"/>
              <a:gd name="csX8" fmla="*/ 5054019 w 9692640"/>
              <a:gd name="csY8" fmla="*/ 0 h 18288"/>
              <a:gd name="csX9" fmla="*/ 5940204 w 9692640"/>
              <a:gd name="csY9" fmla="*/ 0 h 18288"/>
              <a:gd name="csX10" fmla="*/ 6632535 w 9692640"/>
              <a:gd name="csY10" fmla="*/ 0 h 18288"/>
              <a:gd name="csX11" fmla="*/ 7034087 w 9692640"/>
              <a:gd name="csY11" fmla="*/ 0 h 18288"/>
              <a:gd name="csX12" fmla="*/ 7532566 w 9692640"/>
              <a:gd name="csY12" fmla="*/ 0 h 18288"/>
              <a:gd name="csX13" fmla="*/ 8418750 w 9692640"/>
              <a:gd name="csY13" fmla="*/ 0 h 18288"/>
              <a:gd name="csX14" fmla="*/ 9692640 w 9692640"/>
              <a:gd name="csY14" fmla="*/ 0 h 18288"/>
              <a:gd name="csX15" fmla="*/ 9692640 w 9692640"/>
              <a:gd name="csY15" fmla="*/ 18288 h 18288"/>
              <a:gd name="csX16" fmla="*/ 9000309 w 9692640"/>
              <a:gd name="csY16" fmla="*/ 18288 h 18288"/>
              <a:gd name="csX17" fmla="*/ 8307977 w 9692640"/>
              <a:gd name="csY17" fmla="*/ 18288 h 18288"/>
              <a:gd name="csX18" fmla="*/ 7712572 w 9692640"/>
              <a:gd name="csY18" fmla="*/ 18288 h 18288"/>
              <a:gd name="csX19" fmla="*/ 7214093 w 9692640"/>
              <a:gd name="csY19" fmla="*/ 18288 h 18288"/>
              <a:gd name="csX20" fmla="*/ 6327909 w 9692640"/>
              <a:gd name="csY20" fmla="*/ 18288 h 18288"/>
              <a:gd name="csX21" fmla="*/ 5635578 w 9692640"/>
              <a:gd name="csY21" fmla="*/ 18288 h 18288"/>
              <a:gd name="csX22" fmla="*/ 4846320 w 9692640"/>
              <a:gd name="csY22" fmla="*/ 18288 h 18288"/>
              <a:gd name="csX23" fmla="*/ 4444768 w 9692640"/>
              <a:gd name="csY23" fmla="*/ 18288 h 18288"/>
              <a:gd name="csX24" fmla="*/ 3946289 w 9692640"/>
              <a:gd name="csY24" fmla="*/ 18288 h 18288"/>
              <a:gd name="csX25" fmla="*/ 3253958 w 9692640"/>
              <a:gd name="csY25" fmla="*/ 18288 h 18288"/>
              <a:gd name="csX26" fmla="*/ 2464700 w 9692640"/>
              <a:gd name="csY26" fmla="*/ 18288 h 18288"/>
              <a:gd name="csX27" fmla="*/ 2063148 w 9692640"/>
              <a:gd name="csY27" fmla="*/ 18288 h 18288"/>
              <a:gd name="csX28" fmla="*/ 1661595 w 9692640"/>
              <a:gd name="csY28" fmla="*/ 18288 h 18288"/>
              <a:gd name="csX29" fmla="*/ 969264 w 9692640"/>
              <a:gd name="csY29" fmla="*/ 18288 h 18288"/>
              <a:gd name="csX30" fmla="*/ 0 w 9692640"/>
              <a:gd name="csY30" fmla="*/ 18288 h 18288"/>
              <a:gd name="csX31" fmla="*/ 0 w 9692640"/>
              <a:gd name="csY3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49F912-CF22-8115-3EA9-3F693BAD6E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r>
              <a:rPr lang="de-DE" sz="2200" dirty="0">
                <a:solidFill>
                  <a:schemeClr val="bg1"/>
                </a:solidFill>
              </a:rPr>
              <a:t>Basiert auf IP-MAC Binding</a:t>
            </a:r>
          </a:p>
          <a:p>
            <a:r>
              <a:rPr lang="de-DE" sz="2200" dirty="0" err="1">
                <a:solidFill>
                  <a:schemeClr val="bg1"/>
                </a:solidFill>
              </a:rPr>
              <a:t>Mapped</a:t>
            </a:r>
            <a:r>
              <a:rPr lang="de-DE" sz="2200" dirty="0">
                <a:solidFill>
                  <a:schemeClr val="bg1"/>
                </a:solidFill>
              </a:rPr>
              <a:t> IPs den entsprechenden MACs zu</a:t>
            </a:r>
          </a:p>
          <a:p>
            <a:r>
              <a:rPr lang="de-DE" sz="2200" dirty="0">
                <a:solidFill>
                  <a:schemeClr val="bg1"/>
                </a:solidFill>
              </a:rPr>
              <a:t>ARP Spoofing Angriffe versenden falsche Pakete</a:t>
            </a:r>
          </a:p>
          <a:p>
            <a:r>
              <a:rPr lang="de-DE" sz="2200" dirty="0">
                <a:solidFill>
                  <a:schemeClr val="bg1"/>
                </a:solidFill>
              </a:rPr>
              <a:t>Pakete werden fallen gelassen</a:t>
            </a:r>
          </a:p>
          <a:p>
            <a:r>
              <a:rPr lang="de-DE" sz="2200" dirty="0">
                <a:solidFill>
                  <a:schemeClr val="bg1"/>
                </a:solidFill>
              </a:rPr>
              <a:t>Beim Angriff werden GARP Pakete verschickt</a:t>
            </a:r>
          </a:p>
          <a:p>
            <a:r>
              <a:rPr lang="de-DE" sz="2200" dirty="0">
                <a:solidFill>
                  <a:schemeClr val="bg1"/>
                </a:solidFill>
              </a:rPr>
              <a:t>ARP Tabellen werden korrekt </a:t>
            </a:r>
            <a:r>
              <a:rPr lang="de-DE" sz="2200" dirty="0" err="1">
                <a:solidFill>
                  <a:schemeClr val="bg1"/>
                </a:solidFill>
              </a:rPr>
              <a:t>geupdated</a:t>
            </a:r>
            <a:endParaRPr lang="de-BE" sz="2200" dirty="0">
              <a:solidFill>
                <a:schemeClr val="bg1"/>
              </a:solidFill>
            </a:endParaRPr>
          </a:p>
        </p:txBody>
      </p:sp>
      <p:pic>
        <p:nvPicPr>
          <p:cNvPr id="5" name="Grafik 4" descr="Ein Bild, das Text, Screenshot, Schrift enthält.">
            <a:extLst>
              <a:ext uri="{FF2B5EF4-FFF2-40B4-BE49-F238E27FC236}">
                <a16:creationId xmlns:a16="http://schemas.microsoft.com/office/drawing/2014/main" id="{87DD9056-8B9B-AA49-6CD7-211A858E7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9373" y="2014340"/>
            <a:ext cx="4134427" cy="2829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5738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9D013A-D74A-F6BB-C17D-12CABAED1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9" name="Rectangle 3080">
            <a:extLst>
              <a:ext uri="{FF2B5EF4-FFF2-40B4-BE49-F238E27FC236}">
                <a16:creationId xmlns:a16="http://schemas.microsoft.com/office/drawing/2014/main" id="{B6F8E1A3-4D3D-4D92-0EB5-FDD5CA239D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 descr="Rethinking Firewall and Proxy Management for Enterprise Agility">
            <a:extLst>
              <a:ext uri="{FF2B5EF4-FFF2-40B4-BE49-F238E27FC236}">
                <a16:creationId xmlns:a16="http://schemas.microsoft.com/office/drawing/2014/main" id="{AF1C90EB-46EC-6F4E-1311-59A3EA540D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3F3B578-58A9-ADBD-F273-C22829093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 err="1">
                <a:solidFill>
                  <a:schemeClr val="bg1"/>
                </a:solidFill>
              </a:rPr>
              <a:t>Attack</a:t>
            </a:r>
            <a:r>
              <a:rPr lang="de-DE" sz="5400" dirty="0">
                <a:solidFill>
                  <a:schemeClr val="bg1"/>
                </a:solidFill>
              </a:rPr>
              <a:t> Defense – Flood Defense</a:t>
            </a:r>
            <a:endParaRPr lang="de-BE" sz="5400" dirty="0">
              <a:solidFill>
                <a:schemeClr val="bg1"/>
              </a:solidFill>
            </a:endParaRPr>
          </a:p>
        </p:txBody>
      </p:sp>
      <p:sp>
        <p:nvSpPr>
          <p:cNvPr id="3090" name="sketchy line">
            <a:extLst>
              <a:ext uri="{FF2B5EF4-FFF2-40B4-BE49-F238E27FC236}">
                <a16:creationId xmlns:a16="http://schemas.microsoft.com/office/drawing/2014/main" id="{012847C3-B8A3-6305-3436-177390951C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sX0" fmla="*/ 0 w 9692640"/>
              <a:gd name="csY0" fmla="*/ 0 h 18288"/>
              <a:gd name="csX1" fmla="*/ 401552 w 9692640"/>
              <a:gd name="csY1" fmla="*/ 0 h 18288"/>
              <a:gd name="csX2" fmla="*/ 996957 w 9692640"/>
              <a:gd name="csY2" fmla="*/ 0 h 18288"/>
              <a:gd name="csX3" fmla="*/ 1398509 w 9692640"/>
              <a:gd name="csY3" fmla="*/ 0 h 18288"/>
              <a:gd name="csX4" fmla="*/ 2090841 w 9692640"/>
              <a:gd name="csY4" fmla="*/ 0 h 18288"/>
              <a:gd name="csX5" fmla="*/ 2686246 w 9692640"/>
              <a:gd name="csY5" fmla="*/ 0 h 18288"/>
              <a:gd name="csX6" fmla="*/ 3475504 w 9692640"/>
              <a:gd name="csY6" fmla="*/ 0 h 18288"/>
              <a:gd name="csX7" fmla="*/ 4361688 w 9692640"/>
              <a:gd name="csY7" fmla="*/ 0 h 18288"/>
              <a:gd name="csX8" fmla="*/ 5054019 w 9692640"/>
              <a:gd name="csY8" fmla="*/ 0 h 18288"/>
              <a:gd name="csX9" fmla="*/ 5940204 w 9692640"/>
              <a:gd name="csY9" fmla="*/ 0 h 18288"/>
              <a:gd name="csX10" fmla="*/ 6632535 w 9692640"/>
              <a:gd name="csY10" fmla="*/ 0 h 18288"/>
              <a:gd name="csX11" fmla="*/ 7034087 w 9692640"/>
              <a:gd name="csY11" fmla="*/ 0 h 18288"/>
              <a:gd name="csX12" fmla="*/ 7532566 w 9692640"/>
              <a:gd name="csY12" fmla="*/ 0 h 18288"/>
              <a:gd name="csX13" fmla="*/ 8418750 w 9692640"/>
              <a:gd name="csY13" fmla="*/ 0 h 18288"/>
              <a:gd name="csX14" fmla="*/ 9692640 w 9692640"/>
              <a:gd name="csY14" fmla="*/ 0 h 18288"/>
              <a:gd name="csX15" fmla="*/ 9692640 w 9692640"/>
              <a:gd name="csY15" fmla="*/ 18288 h 18288"/>
              <a:gd name="csX16" fmla="*/ 9000309 w 9692640"/>
              <a:gd name="csY16" fmla="*/ 18288 h 18288"/>
              <a:gd name="csX17" fmla="*/ 8307977 w 9692640"/>
              <a:gd name="csY17" fmla="*/ 18288 h 18288"/>
              <a:gd name="csX18" fmla="*/ 7712572 w 9692640"/>
              <a:gd name="csY18" fmla="*/ 18288 h 18288"/>
              <a:gd name="csX19" fmla="*/ 7214093 w 9692640"/>
              <a:gd name="csY19" fmla="*/ 18288 h 18288"/>
              <a:gd name="csX20" fmla="*/ 6327909 w 9692640"/>
              <a:gd name="csY20" fmla="*/ 18288 h 18288"/>
              <a:gd name="csX21" fmla="*/ 5635578 w 9692640"/>
              <a:gd name="csY21" fmla="*/ 18288 h 18288"/>
              <a:gd name="csX22" fmla="*/ 4846320 w 9692640"/>
              <a:gd name="csY22" fmla="*/ 18288 h 18288"/>
              <a:gd name="csX23" fmla="*/ 4444768 w 9692640"/>
              <a:gd name="csY23" fmla="*/ 18288 h 18288"/>
              <a:gd name="csX24" fmla="*/ 3946289 w 9692640"/>
              <a:gd name="csY24" fmla="*/ 18288 h 18288"/>
              <a:gd name="csX25" fmla="*/ 3253958 w 9692640"/>
              <a:gd name="csY25" fmla="*/ 18288 h 18288"/>
              <a:gd name="csX26" fmla="*/ 2464700 w 9692640"/>
              <a:gd name="csY26" fmla="*/ 18288 h 18288"/>
              <a:gd name="csX27" fmla="*/ 2063148 w 9692640"/>
              <a:gd name="csY27" fmla="*/ 18288 h 18288"/>
              <a:gd name="csX28" fmla="*/ 1661595 w 9692640"/>
              <a:gd name="csY28" fmla="*/ 18288 h 18288"/>
              <a:gd name="csX29" fmla="*/ 969264 w 9692640"/>
              <a:gd name="csY29" fmla="*/ 18288 h 18288"/>
              <a:gd name="csX30" fmla="*/ 0 w 9692640"/>
              <a:gd name="csY30" fmla="*/ 18288 h 18288"/>
              <a:gd name="csX31" fmla="*/ 0 w 9692640"/>
              <a:gd name="csY3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6DD6D50-C5DF-39C2-B1DB-19791C28C3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endParaRPr lang="de-DE" sz="2200" dirty="0">
              <a:solidFill>
                <a:schemeClr val="bg1"/>
              </a:solidFill>
            </a:endParaRPr>
          </a:p>
          <a:p>
            <a:r>
              <a:rPr lang="de-DE" sz="2200" dirty="0">
                <a:solidFill>
                  <a:schemeClr val="bg1"/>
                </a:solidFill>
              </a:rPr>
              <a:t>Setzt Schwellenwerte für Paketlimits</a:t>
            </a:r>
          </a:p>
          <a:p>
            <a:r>
              <a:rPr lang="de-DE" sz="2200" dirty="0">
                <a:solidFill>
                  <a:schemeClr val="bg1"/>
                </a:solidFill>
              </a:rPr>
              <a:t>Pro Verbindung bzw. Quelle</a:t>
            </a:r>
          </a:p>
          <a:p>
            <a:r>
              <a:rPr lang="de-DE" sz="2200" dirty="0">
                <a:solidFill>
                  <a:schemeClr val="bg1"/>
                </a:solidFill>
              </a:rPr>
              <a:t>Einzelne Quelle = </a:t>
            </a:r>
            <a:r>
              <a:rPr lang="de-DE" sz="2200" dirty="0" err="1">
                <a:solidFill>
                  <a:schemeClr val="bg1"/>
                </a:solidFill>
              </a:rPr>
              <a:t>DoS</a:t>
            </a:r>
            <a:r>
              <a:rPr lang="de-DE" sz="2200" dirty="0">
                <a:solidFill>
                  <a:schemeClr val="bg1"/>
                </a:solidFill>
              </a:rPr>
              <a:t> (</a:t>
            </a:r>
            <a:r>
              <a:rPr lang="de-DE" sz="2200" dirty="0" err="1">
                <a:solidFill>
                  <a:schemeClr val="bg1"/>
                </a:solidFill>
              </a:rPr>
              <a:t>komp</a:t>
            </a:r>
            <a:r>
              <a:rPr lang="de-DE" sz="2200" dirty="0">
                <a:solidFill>
                  <a:schemeClr val="bg1"/>
                </a:solidFill>
              </a:rPr>
              <a:t>. Client)</a:t>
            </a:r>
          </a:p>
          <a:p>
            <a:r>
              <a:rPr lang="de-DE" sz="2200" dirty="0">
                <a:solidFill>
                  <a:schemeClr val="bg1"/>
                </a:solidFill>
              </a:rPr>
              <a:t>Mehrere Quellen = DDoS (z.B. </a:t>
            </a:r>
            <a:r>
              <a:rPr lang="de-DE" sz="2200" dirty="0" err="1">
                <a:solidFill>
                  <a:schemeClr val="bg1"/>
                </a:solidFill>
              </a:rPr>
              <a:t>Botnetzwerk</a:t>
            </a:r>
            <a:r>
              <a:rPr lang="de-DE" sz="2200" dirty="0">
                <a:solidFill>
                  <a:schemeClr val="bg1"/>
                </a:solidFill>
              </a:rPr>
              <a:t>)</a:t>
            </a:r>
          </a:p>
          <a:p>
            <a:r>
              <a:rPr lang="de-DE" sz="2200" dirty="0">
                <a:solidFill>
                  <a:schemeClr val="bg1"/>
                </a:solidFill>
              </a:rPr>
              <a:t>Verschiedene Protokolle bieten verschiedene Angriffsmöglichkeiten</a:t>
            </a:r>
          </a:p>
          <a:p>
            <a:r>
              <a:rPr lang="de-DE" sz="2200" dirty="0">
                <a:solidFill>
                  <a:schemeClr val="bg1"/>
                </a:solidFill>
              </a:rPr>
              <a:t>UDP „normaler“ als ICMP -&gt; höhere Schwellenwerte</a:t>
            </a:r>
          </a:p>
        </p:txBody>
      </p:sp>
      <p:pic>
        <p:nvPicPr>
          <p:cNvPr id="10" name="Grafik 9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CB19D65C-0031-4DA9-0A42-37C99E8D88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0688" y="1995302"/>
            <a:ext cx="4563112" cy="1952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3544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F77F65-7F5C-92C3-D96B-A2A44F06B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9" name="Rectangle 3080">
            <a:extLst>
              <a:ext uri="{FF2B5EF4-FFF2-40B4-BE49-F238E27FC236}">
                <a16:creationId xmlns:a16="http://schemas.microsoft.com/office/drawing/2014/main" id="{0FF6F32F-ACC6-D5A8-6549-20E2BA32CB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 descr="Rethinking Firewall and Proxy Management for Enterprise Agility">
            <a:extLst>
              <a:ext uri="{FF2B5EF4-FFF2-40B4-BE49-F238E27FC236}">
                <a16:creationId xmlns:a16="http://schemas.microsoft.com/office/drawing/2014/main" id="{3B32BD50-618E-82B9-6E71-89D1C8FE9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BC014A1-B0AA-B4E3-5C41-FDB12D1EC0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 err="1">
                <a:solidFill>
                  <a:schemeClr val="bg1"/>
                </a:solidFill>
              </a:rPr>
              <a:t>Attack</a:t>
            </a:r>
            <a:r>
              <a:rPr lang="de-DE" sz="5400" dirty="0">
                <a:solidFill>
                  <a:schemeClr val="bg1"/>
                </a:solidFill>
              </a:rPr>
              <a:t> Defense – Packet </a:t>
            </a:r>
            <a:r>
              <a:rPr lang="de-DE" sz="5400" dirty="0" err="1">
                <a:solidFill>
                  <a:schemeClr val="bg1"/>
                </a:solidFill>
              </a:rPr>
              <a:t>Anomaly</a:t>
            </a:r>
            <a:endParaRPr lang="de-BE" sz="5400" dirty="0">
              <a:solidFill>
                <a:schemeClr val="bg1"/>
              </a:solidFill>
            </a:endParaRPr>
          </a:p>
        </p:txBody>
      </p:sp>
      <p:sp>
        <p:nvSpPr>
          <p:cNvPr id="3090" name="sketchy line">
            <a:extLst>
              <a:ext uri="{FF2B5EF4-FFF2-40B4-BE49-F238E27FC236}">
                <a16:creationId xmlns:a16="http://schemas.microsoft.com/office/drawing/2014/main" id="{A257C652-1EB3-3CF1-80A2-0A8C59F6C8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sX0" fmla="*/ 0 w 9692640"/>
              <a:gd name="csY0" fmla="*/ 0 h 18288"/>
              <a:gd name="csX1" fmla="*/ 401552 w 9692640"/>
              <a:gd name="csY1" fmla="*/ 0 h 18288"/>
              <a:gd name="csX2" fmla="*/ 996957 w 9692640"/>
              <a:gd name="csY2" fmla="*/ 0 h 18288"/>
              <a:gd name="csX3" fmla="*/ 1398509 w 9692640"/>
              <a:gd name="csY3" fmla="*/ 0 h 18288"/>
              <a:gd name="csX4" fmla="*/ 2090841 w 9692640"/>
              <a:gd name="csY4" fmla="*/ 0 h 18288"/>
              <a:gd name="csX5" fmla="*/ 2686246 w 9692640"/>
              <a:gd name="csY5" fmla="*/ 0 h 18288"/>
              <a:gd name="csX6" fmla="*/ 3475504 w 9692640"/>
              <a:gd name="csY6" fmla="*/ 0 h 18288"/>
              <a:gd name="csX7" fmla="*/ 4361688 w 9692640"/>
              <a:gd name="csY7" fmla="*/ 0 h 18288"/>
              <a:gd name="csX8" fmla="*/ 5054019 w 9692640"/>
              <a:gd name="csY8" fmla="*/ 0 h 18288"/>
              <a:gd name="csX9" fmla="*/ 5940204 w 9692640"/>
              <a:gd name="csY9" fmla="*/ 0 h 18288"/>
              <a:gd name="csX10" fmla="*/ 6632535 w 9692640"/>
              <a:gd name="csY10" fmla="*/ 0 h 18288"/>
              <a:gd name="csX11" fmla="*/ 7034087 w 9692640"/>
              <a:gd name="csY11" fmla="*/ 0 h 18288"/>
              <a:gd name="csX12" fmla="*/ 7532566 w 9692640"/>
              <a:gd name="csY12" fmla="*/ 0 h 18288"/>
              <a:gd name="csX13" fmla="*/ 8418750 w 9692640"/>
              <a:gd name="csY13" fmla="*/ 0 h 18288"/>
              <a:gd name="csX14" fmla="*/ 9692640 w 9692640"/>
              <a:gd name="csY14" fmla="*/ 0 h 18288"/>
              <a:gd name="csX15" fmla="*/ 9692640 w 9692640"/>
              <a:gd name="csY15" fmla="*/ 18288 h 18288"/>
              <a:gd name="csX16" fmla="*/ 9000309 w 9692640"/>
              <a:gd name="csY16" fmla="*/ 18288 h 18288"/>
              <a:gd name="csX17" fmla="*/ 8307977 w 9692640"/>
              <a:gd name="csY17" fmla="*/ 18288 h 18288"/>
              <a:gd name="csX18" fmla="*/ 7712572 w 9692640"/>
              <a:gd name="csY18" fmla="*/ 18288 h 18288"/>
              <a:gd name="csX19" fmla="*/ 7214093 w 9692640"/>
              <a:gd name="csY19" fmla="*/ 18288 h 18288"/>
              <a:gd name="csX20" fmla="*/ 6327909 w 9692640"/>
              <a:gd name="csY20" fmla="*/ 18288 h 18288"/>
              <a:gd name="csX21" fmla="*/ 5635578 w 9692640"/>
              <a:gd name="csY21" fmla="*/ 18288 h 18288"/>
              <a:gd name="csX22" fmla="*/ 4846320 w 9692640"/>
              <a:gd name="csY22" fmla="*/ 18288 h 18288"/>
              <a:gd name="csX23" fmla="*/ 4444768 w 9692640"/>
              <a:gd name="csY23" fmla="*/ 18288 h 18288"/>
              <a:gd name="csX24" fmla="*/ 3946289 w 9692640"/>
              <a:gd name="csY24" fmla="*/ 18288 h 18288"/>
              <a:gd name="csX25" fmla="*/ 3253958 w 9692640"/>
              <a:gd name="csY25" fmla="*/ 18288 h 18288"/>
              <a:gd name="csX26" fmla="*/ 2464700 w 9692640"/>
              <a:gd name="csY26" fmla="*/ 18288 h 18288"/>
              <a:gd name="csX27" fmla="*/ 2063148 w 9692640"/>
              <a:gd name="csY27" fmla="*/ 18288 h 18288"/>
              <a:gd name="csX28" fmla="*/ 1661595 w 9692640"/>
              <a:gd name="csY28" fmla="*/ 18288 h 18288"/>
              <a:gd name="csX29" fmla="*/ 969264 w 9692640"/>
              <a:gd name="csY29" fmla="*/ 18288 h 18288"/>
              <a:gd name="csX30" fmla="*/ 0 w 9692640"/>
              <a:gd name="csY30" fmla="*/ 18288 h 18288"/>
              <a:gd name="csX31" fmla="*/ 0 w 9692640"/>
              <a:gd name="csY3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90674E7-5680-E986-BAD2-D9D7ECE4CE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200" dirty="0">
                <a:solidFill>
                  <a:schemeClr val="bg1"/>
                </a:solidFill>
              </a:rPr>
              <a:t>Blockiert TCP – Scans</a:t>
            </a:r>
          </a:p>
          <a:p>
            <a:pPr marL="0" indent="0">
              <a:buNone/>
            </a:pPr>
            <a:endParaRPr lang="de-DE" sz="2200" dirty="0">
              <a:solidFill>
                <a:schemeClr val="bg1"/>
              </a:solidFill>
            </a:endParaRP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Irreguläre Flags (Stealth FIN / </a:t>
            </a:r>
            <a:r>
              <a:rPr lang="de-DE" sz="2200" dirty="0" err="1">
                <a:solidFill>
                  <a:schemeClr val="bg1"/>
                </a:solidFill>
              </a:rPr>
              <a:t>Xmas</a:t>
            </a:r>
            <a:r>
              <a:rPr lang="de-DE" sz="2200" dirty="0">
                <a:solidFill>
                  <a:schemeClr val="bg1"/>
                </a:solidFill>
              </a:rPr>
              <a:t> / Null)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RST – Check auf TCP Responses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Ping </a:t>
            </a:r>
            <a:r>
              <a:rPr lang="de-DE" sz="2200" dirty="0" err="1">
                <a:solidFill>
                  <a:schemeClr val="bg1"/>
                </a:solidFill>
              </a:rPr>
              <a:t>of</a:t>
            </a:r>
            <a:r>
              <a:rPr lang="de-DE" sz="2200" dirty="0">
                <a:solidFill>
                  <a:schemeClr val="bg1"/>
                </a:solidFill>
              </a:rPr>
              <a:t> Death (riesiges ICMP-Paket)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Large Ping (ICMP-Paket einer bestimmten Größe)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Ping aus dem WAN</a:t>
            </a:r>
          </a:p>
          <a:p>
            <a:pPr>
              <a:buFontTx/>
              <a:buChar char="-"/>
            </a:pPr>
            <a:r>
              <a:rPr lang="de-DE" sz="2200" dirty="0" err="1">
                <a:solidFill>
                  <a:schemeClr val="bg1"/>
                </a:solidFill>
              </a:rPr>
              <a:t>WinNuke</a:t>
            </a:r>
            <a:r>
              <a:rPr lang="de-DE" sz="2200" dirty="0">
                <a:solidFill>
                  <a:schemeClr val="bg1"/>
                </a:solidFill>
              </a:rPr>
              <a:t> (0xFF Paket an Port 139 – </a:t>
            </a:r>
            <a:r>
              <a:rPr lang="de-DE" sz="2200" dirty="0" err="1">
                <a:solidFill>
                  <a:schemeClr val="bg1"/>
                </a:solidFill>
              </a:rPr>
              <a:t>pre</a:t>
            </a:r>
            <a:r>
              <a:rPr lang="de-DE" sz="2200" dirty="0">
                <a:solidFill>
                  <a:schemeClr val="bg1"/>
                </a:solidFill>
              </a:rPr>
              <a:t> 2000 OS)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Pakete mit bestimmten Bits und/oder Optionen)</a:t>
            </a:r>
          </a:p>
        </p:txBody>
      </p:sp>
      <p:pic>
        <p:nvPicPr>
          <p:cNvPr id="5" name="Grafik 4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4DC2089A-03BA-9790-ACDD-37D60F4F7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2002" y="2004446"/>
            <a:ext cx="3553321" cy="4176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1057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116DAE-F732-1A88-B29E-721E19EB6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9" name="Rectangle 3080">
            <a:extLst>
              <a:ext uri="{FF2B5EF4-FFF2-40B4-BE49-F238E27FC236}">
                <a16:creationId xmlns:a16="http://schemas.microsoft.com/office/drawing/2014/main" id="{3C2632C6-9BCC-442C-C9EF-B9D90EFBB8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 descr="Rethinking Firewall and Proxy Management for Enterprise Agility">
            <a:extLst>
              <a:ext uri="{FF2B5EF4-FFF2-40B4-BE49-F238E27FC236}">
                <a16:creationId xmlns:a16="http://schemas.microsoft.com/office/drawing/2014/main" id="{AB54D788-27E4-177D-52DF-E8DE375FA6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4159955-E5A9-65EC-E047-30E7FACC0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chemeClr val="bg1"/>
                </a:solidFill>
              </a:rPr>
              <a:t>MAC </a:t>
            </a:r>
            <a:r>
              <a:rPr lang="de-DE" sz="5400" dirty="0" err="1">
                <a:solidFill>
                  <a:schemeClr val="bg1"/>
                </a:solidFill>
              </a:rPr>
              <a:t>Filtering</a:t>
            </a:r>
            <a:endParaRPr lang="de-BE" sz="5400" dirty="0">
              <a:solidFill>
                <a:schemeClr val="bg1"/>
              </a:solidFill>
            </a:endParaRPr>
          </a:p>
        </p:txBody>
      </p:sp>
      <p:sp>
        <p:nvSpPr>
          <p:cNvPr id="3090" name="sketchy line">
            <a:extLst>
              <a:ext uri="{FF2B5EF4-FFF2-40B4-BE49-F238E27FC236}">
                <a16:creationId xmlns:a16="http://schemas.microsoft.com/office/drawing/2014/main" id="{63A56072-C3BE-4B63-7C1C-DF46DEFD4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sX0" fmla="*/ 0 w 9692640"/>
              <a:gd name="csY0" fmla="*/ 0 h 18288"/>
              <a:gd name="csX1" fmla="*/ 401552 w 9692640"/>
              <a:gd name="csY1" fmla="*/ 0 h 18288"/>
              <a:gd name="csX2" fmla="*/ 996957 w 9692640"/>
              <a:gd name="csY2" fmla="*/ 0 h 18288"/>
              <a:gd name="csX3" fmla="*/ 1398509 w 9692640"/>
              <a:gd name="csY3" fmla="*/ 0 h 18288"/>
              <a:gd name="csX4" fmla="*/ 2090841 w 9692640"/>
              <a:gd name="csY4" fmla="*/ 0 h 18288"/>
              <a:gd name="csX5" fmla="*/ 2686246 w 9692640"/>
              <a:gd name="csY5" fmla="*/ 0 h 18288"/>
              <a:gd name="csX6" fmla="*/ 3475504 w 9692640"/>
              <a:gd name="csY6" fmla="*/ 0 h 18288"/>
              <a:gd name="csX7" fmla="*/ 4361688 w 9692640"/>
              <a:gd name="csY7" fmla="*/ 0 h 18288"/>
              <a:gd name="csX8" fmla="*/ 5054019 w 9692640"/>
              <a:gd name="csY8" fmla="*/ 0 h 18288"/>
              <a:gd name="csX9" fmla="*/ 5940204 w 9692640"/>
              <a:gd name="csY9" fmla="*/ 0 h 18288"/>
              <a:gd name="csX10" fmla="*/ 6632535 w 9692640"/>
              <a:gd name="csY10" fmla="*/ 0 h 18288"/>
              <a:gd name="csX11" fmla="*/ 7034087 w 9692640"/>
              <a:gd name="csY11" fmla="*/ 0 h 18288"/>
              <a:gd name="csX12" fmla="*/ 7532566 w 9692640"/>
              <a:gd name="csY12" fmla="*/ 0 h 18288"/>
              <a:gd name="csX13" fmla="*/ 8418750 w 9692640"/>
              <a:gd name="csY13" fmla="*/ 0 h 18288"/>
              <a:gd name="csX14" fmla="*/ 9692640 w 9692640"/>
              <a:gd name="csY14" fmla="*/ 0 h 18288"/>
              <a:gd name="csX15" fmla="*/ 9692640 w 9692640"/>
              <a:gd name="csY15" fmla="*/ 18288 h 18288"/>
              <a:gd name="csX16" fmla="*/ 9000309 w 9692640"/>
              <a:gd name="csY16" fmla="*/ 18288 h 18288"/>
              <a:gd name="csX17" fmla="*/ 8307977 w 9692640"/>
              <a:gd name="csY17" fmla="*/ 18288 h 18288"/>
              <a:gd name="csX18" fmla="*/ 7712572 w 9692640"/>
              <a:gd name="csY18" fmla="*/ 18288 h 18288"/>
              <a:gd name="csX19" fmla="*/ 7214093 w 9692640"/>
              <a:gd name="csY19" fmla="*/ 18288 h 18288"/>
              <a:gd name="csX20" fmla="*/ 6327909 w 9692640"/>
              <a:gd name="csY20" fmla="*/ 18288 h 18288"/>
              <a:gd name="csX21" fmla="*/ 5635578 w 9692640"/>
              <a:gd name="csY21" fmla="*/ 18288 h 18288"/>
              <a:gd name="csX22" fmla="*/ 4846320 w 9692640"/>
              <a:gd name="csY22" fmla="*/ 18288 h 18288"/>
              <a:gd name="csX23" fmla="*/ 4444768 w 9692640"/>
              <a:gd name="csY23" fmla="*/ 18288 h 18288"/>
              <a:gd name="csX24" fmla="*/ 3946289 w 9692640"/>
              <a:gd name="csY24" fmla="*/ 18288 h 18288"/>
              <a:gd name="csX25" fmla="*/ 3253958 w 9692640"/>
              <a:gd name="csY25" fmla="*/ 18288 h 18288"/>
              <a:gd name="csX26" fmla="*/ 2464700 w 9692640"/>
              <a:gd name="csY26" fmla="*/ 18288 h 18288"/>
              <a:gd name="csX27" fmla="*/ 2063148 w 9692640"/>
              <a:gd name="csY27" fmla="*/ 18288 h 18288"/>
              <a:gd name="csX28" fmla="*/ 1661595 w 9692640"/>
              <a:gd name="csY28" fmla="*/ 18288 h 18288"/>
              <a:gd name="csX29" fmla="*/ 969264 w 9692640"/>
              <a:gd name="csY29" fmla="*/ 18288 h 18288"/>
              <a:gd name="csX30" fmla="*/ 0 w 9692640"/>
              <a:gd name="csY30" fmla="*/ 18288 h 18288"/>
              <a:gd name="csX31" fmla="*/ 0 w 9692640"/>
              <a:gd name="csY3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036777C-CFB2-E3B6-240E-4F93F37FA5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Steuert Netzzugang anhand von MAC Adressen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Funktioniert sowohl via Blacklist als auch Whitelist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Richtung kann bestimmt werden (LAN -&gt; WAN / WAN -&gt; LAN)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Kann leicht durch MAC Spoofing ausgehebelt werden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Hoher Pflegeaufwand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Ergänzt VLAN-Segmentierung für Gästezugriff</a:t>
            </a:r>
          </a:p>
          <a:p>
            <a:pPr marL="0" indent="0">
              <a:buNone/>
            </a:pPr>
            <a:endParaRPr lang="de-DE" sz="2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90990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5534EC-894D-7ABD-A40C-FE862D3E4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9" name="Rectangle 3080">
            <a:extLst>
              <a:ext uri="{FF2B5EF4-FFF2-40B4-BE49-F238E27FC236}">
                <a16:creationId xmlns:a16="http://schemas.microsoft.com/office/drawing/2014/main" id="{1CE90887-0931-86C9-7661-961B24D130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 descr="Rethinking Firewall and Proxy Management for Enterprise Agility">
            <a:extLst>
              <a:ext uri="{FF2B5EF4-FFF2-40B4-BE49-F238E27FC236}">
                <a16:creationId xmlns:a16="http://schemas.microsoft.com/office/drawing/2014/main" id="{48A84CBF-93CE-6800-12CD-DAECA55EA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7E47718-0742-FB46-2CA8-EC195BFE0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chemeClr val="bg1"/>
                </a:solidFill>
              </a:rPr>
              <a:t>Access Control List (ACL)</a:t>
            </a:r>
            <a:endParaRPr lang="de-BE" sz="5400" dirty="0">
              <a:solidFill>
                <a:schemeClr val="bg1"/>
              </a:solidFill>
            </a:endParaRPr>
          </a:p>
        </p:txBody>
      </p:sp>
      <p:sp>
        <p:nvSpPr>
          <p:cNvPr id="3090" name="sketchy line">
            <a:extLst>
              <a:ext uri="{FF2B5EF4-FFF2-40B4-BE49-F238E27FC236}">
                <a16:creationId xmlns:a16="http://schemas.microsoft.com/office/drawing/2014/main" id="{F306C6AB-9923-184A-194B-12B0650D27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sX0" fmla="*/ 0 w 9692640"/>
              <a:gd name="csY0" fmla="*/ 0 h 18288"/>
              <a:gd name="csX1" fmla="*/ 401552 w 9692640"/>
              <a:gd name="csY1" fmla="*/ 0 h 18288"/>
              <a:gd name="csX2" fmla="*/ 996957 w 9692640"/>
              <a:gd name="csY2" fmla="*/ 0 h 18288"/>
              <a:gd name="csX3" fmla="*/ 1398509 w 9692640"/>
              <a:gd name="csY3" fmla="*/ 0 h 18288"/>
              <a:gd name="csX4" fmla="*/ 2090841 w 9692640"/>
              <a:gd name="csY4" fmla="*/ 0 h 18288"/>
              <a:gd name="csX5" fmla="*/ 2686246 w 9692640"/>
              <a:gd name="csY5" fmla="*/ 0 h 18288"/>
              <a:gd name="csX6" fmla="*/ 3475504 w 9692640"/>
              <a:gd name="csY6" fmla="*/ 0 h 18288"/>
              <a:gd name="csX7" fmla="*/ 4361688 w 9692640"/>
              <a:gd name="csY7" fmla="*/ 0 h 18288"/>
              <a:gd name="csX8" fmla="*/ 5054019 w 9692640"/>
              <a:gd name="csY8" fmla="*/ 0 h 18288"/>
              <a:gd name="csX9" fmla="*/ 5940204 w 9692640"/>
              <a:gd name="csY9" fmla="*/ 0 h 18288"/>
              <a:gd name="csX10" fmla="*/ 6632535 w 9692640"/>
              <a:gd name="csY10" fmla="*/ 0 h 18288"/>
              <a:gd name="csX11" fmla="*/ 7034087 w 9692640"/>
              <a:gd name="csY11" fmla="*/ 0 h 18288"/>
              <a:gd name="csX12" fmla="*/ 7532566 w 9692640"/>
              <a:gd name="csY12" fmla="*/ 0 h 18288"/>
              <a:gd name="csX13" fmla="*/ 8418750 w 9692640"/>
              <a:gd name="csY13" fmla="*/ 0 h 18288"/>
              <a:gd name="csX14" fmla="*/ 9692640 w 9692640"/>
              <a:gd name="csY14" fmla="*/ 0 h 18288"/>
              <a:gd name="csX15" fmla="*/ 9692640 w 9692640"/>
              <a:gd name="csY15" fmla="*/ 18288 h 18288"/>
              <a:gd name="csX16" fmla="*/ 9000309 w 9692640"/>
              <a:gd name="csY16" fmla="*/ 18288 h 18288"/>
              <a:gd name="csX17" fmla="*/ 8307977 w 9692640"/>
              <a:gd name="csY17" fmla="*/ 18288 h 18288"/>
              <a:gd name="csX18" fmla="*/ 7712572 w 9692640"/>
              <a:gd name="csY18" fmla="*/ 18288 h 18288"/>
              <a:gd name="csX19" fmla="*/ 7214093 w 9692640"/>
              <a:gd name="csY19" fmla="*/ 18288 h 18288"/>
              <a:gd name="csX20" fmla="*/ 6327909 w 9692640"/>
              <a:gd name="csY20" fmla="*/ 18288 h 18288"/>
              <a:gd name="csX21" fmla="*/ 5635578 w 9692640"/>
              <a:gd name="csY21" fmla="*/ 18288 h 18288"/>
              <a:gd name="csX22" fmla="*/ 4846320 w 9692640"/>
              <a:gd name="csY22" fmla="*/ 18288 h 18288"/>
              <a:gd name="csX23" fmla="*/ 4444768 w 9692640"/>
              <a:gd name="csY23" fmla="*/ 18288 h 18288"/>
              <a:gd name="csX24" fmla="*/ 3946289 w 9692640"/>
              <a:gd name="csY24" fmla="*/ 18288 h 18288"/>
              <a:gd name="csX25" fmla="*/ 3253958 w 9692640"/>
              <a:gd name="csY25" fmla="*/ 18288 h 18288"/>
              <a:gd name="csX26" fmla="*/ 2464700 w 9692640"/>
              <a:gd name="csY26" fmla="*/ 18288 h 18288"/>
              <a:gd name="csX27" fmla="*/ 2063148 w 9692640"/>
              <a:gd name="csY27" fmla="*/ 18288 h 18288"/>
              <a:gd name="csX28" fmla="*/ 1661595 w 9692640"/>
              <a:gd name="csY28" fmla="*/ 18288 h 18288"/>
              <a:gd name="csX29" fmla="*/ 969264 w 9692640"/>
              <a:gd name="csY29" fmla="*/ 18288 h 18288"/>
              <a:gd name="csX30" fmla="*/ 0 w 9692640"/>
              <a:gd name="csY30" fmla="*/ 18288 h 18288"/>
              <a:gd name="csX31" fmla="*/ 0 w 9692640"/>
              <a:gd name="csY3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8A737E5-2638-19F1-3419-BB32949BC3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Operiert auf L3/L4 (IP / Protokoll / Port)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Regelt Datenverkehr zwischen Quellen und Zielen</a:t>
            </a:r>
          </a:p>
          <a:p>
            <a:pPr>
              <a:buFontTx/>
              <a:buChar char="-"/>
            </a:pPr>
            <a:r>
              <a:rPr lang="de-DE" sz="2200" dirty="0" err="1">
                <a:solidFill>
                  <a:schemeClr val="bg1"/>
                </a:solidFill>
              </a:rPr>
              <a:t>Allow</a:t>
            </a:r>
            <a:r>
              <a:rPr lang="de-DE" sz="2200" dirty="0">
                <a:solidFill>
                  <a:schemeClr val="bg1"/>
                </a:solidFill>
              </a:rPr>
              <a:t> / Deny Prinzip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Verschiedene Services (TCP / SSH etc.)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Eingehende / Ausgehende Verbindungen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Quelle oder Ziele -&gt; IPs / Subnetze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Zeitlich gesteuert</a:t>
            </a:r>
          </a:p>
          <a:p>
            <a:pPr>
              <a:buFontTx/>
              <a:buChar char="-"/>
            </a:pPr>
            <a:endParaRPr lang="de-DE" sz="2200" dirty="0">
              <a:solidFill>
                <a:schemeClr val="bg1"/>
              </a:solidFill>
            </a:endParaRPr>
          </a:p>
        </p:txBody>
      </p:sp>
      <p:pic>
        <p:nvPicPr>
          <p:cNvPr id="5" name="Grafik 4" descr="Ein Bild, das Text, Screenshot, Zahl, Schrift enthält.">
            <a:extLst>
              <a:ext uri="{FF2B5EF4-FFF2-40B4-BE49-F238E27FC236}">
                <a16:creationId xmlns:a16="http://schemas.microsoft.com/office/drawing/2014/main" id="{27FA6077-A489-154C-DE6C-AAE17A99B7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3334" y="2004446"/>
            <a:ext cx="4141990" cy="4176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75583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821931-9963-96E4-6BB1-F900259ED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9" name="Rectangle 3080">
            <a:extLst>
              <a:ext uri="{FF2B5EF4-FFF2-40B4-BE49-F238E27FC236}">
                <a16:creationId xmlns:a16="http://schemas.microsoft.com/office/drawing/2014/main" id="{228765F3-2C47-7F62-949B-5EB2F37670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 descr="Rethinking Firewall and Proxy Management for Enterprise Agility">
            <a:extLst>
              <a:ext uri="{FF2B5EF4-FFF2-40B4-BE49-F238E27FC236}">
                <a16:creationId xmlns:a16="http://schemas.microsoft.com/office/drawing/2014/main" id="{A659B95C-4F8B-7A53-B6F4-01F5F00150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8E36C96-8571-0CAE-6161-87C3D07ED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 err="1">
                <a:solidFill>
                  <a:schemeClr val="bg1"/>
                </a:solidFill>
              </a:rPr>
              <a:t>Application</a:t>
            </a:r>
            <a:r>
              <a:rPr lang="de-DE" sz="5400" dirty="0">
                <a:solidFill>
                  <a:schemeClr val="bg1"/>
                </a:solidFill>
              </a:rPr>
              <a:t> Control</a:t>
            </a:r>
            <a:endParaRPr lang="de-BE" sz="5400" dirty="0">
              <a:solidFill>
                <a:schemeClr val="bg1"/>
              </a:solidFill>
            </a:endParaRPr>
          </a:p>
        </p:txBody>
      </p:sp>
      <p:sp>
        <p:nvSpPr>
          <p:cNvPr id="3090" name="sketchy line">
            <a:extLst>
              <a:ext uri="{FF2B5EF4-FFF2-40B4-BE49-F238E27FC236}">
                <a16:creationId xmlns:a16="http://schemas.microsoft.com/office/drawing/2014/main" id="{46FE4F7E-6036-6541-A025-0DC796E872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sX0" fmla="*/ 0 w 9692640"/>
              <a:gd name="csY0" fmla="*/ 0 h 18288"/>
              <a:gd name="csX1" fmla="*/ 401552 w 9692640"/>
              <a:gd name="csY1" fmla="*/ 0 h 18288"/>
              <a:gd name="csX2" fmla="*/ 996957 w 9692640"/>
              <a:gd name="csY2" fmla="*/ 0 h 18288"/>
              <a:gd name="csX3" fmla="*/ 1398509 w 9692640"/>
              <a:gd name="csY3" fmla="*/ 0 h 18288"/>
              <a:gd name="csX4" fmla="*/ 2090841 w 9692640"/>
              <a:gd name="csY4" fmla="*/ 0 h 18288"/>
              <a:gd name="csX5" fmla="*/ 2686246 w 9692640"/>
              <a:gd name="csY5" fmla="*/ 0 h 18288"/>
              <a:gd name="csX6" fmla="*/ 3475504 w 9692640"/>
              <a:gd name="csY6" fmla="*/ 0 h 18288"/>
              <a:gd name="csX7" fmla="*/ 4361688 w 9692640"/>
              <a:gd name="csY7" fmla="*/ 0 h 18288"/>
              <a:gd name="csX8" fmla="*/ 5054019 w 9692640"/>
              <a:gd name="csY8" fmla="*/ 0 h 18288"/>
              <a:gd name="csX9" fmla="*/ 5940204 w 9692640"/>
              <a:gd name="csY9" fmla="*/ 0 h 18288"/>
              <a:gd name="csX10" fmla="*/ 6632535 w 9692640"/>
              <a:gd name="csY10" fmla="*/ 0 h 18288"/>
              <a:gd name="csX11" fmla="*/ 7034087 w 9692640"/>
              <a:gd name="csY11" fmla="*/ 0 h 18288"/>
              <a:gd name="csX12" fmla="*/ 7532566 w 9692640"/>
              <a:gd name="csY12" fmla="*/ 0 h 18288"/>
              <a:gd name="csX13" fmla="*/ 8418750 w 9692640"/>
              <a:gd name="csY13" fmla="*/ 0 h 18288"/>
              <a:gd name="csX14" fmla="*/ 9692640 w 9692640"/>
              <a:gd name="csY14" fmla="*/ 0 h 18288"/>
              <a:gd name="csX15" fmla="*/ 9692640 w 9692640"/>
              <a:gd name="csY15" fmla="*/ 18288 h 18288"/>
              <a:gd name="csX16" fmla="*/ 9000309 w 9692640"/>
              <a:gd name="csY16" fmla="*/ 18288 h 18288"/>
              <a:gd name="csX17" fmla="*/ 8307977 w 9692640"/>
              <a:gd name="csY17" fmla="*/ 18288 h 18288"/>
              <a:gd name="csX18" fmla="*/ 7712572 w 9692640"/>
              <a:gd name="csY18" fmla="*/ 18288 h 18288"/>
              <a:gd name="csX19" fmla="*/ 7214093 w 9692640"/>
              <a:gd name="csY19" fmla="*/ 18288 h 18288"/>
              <a:gd name="csX20" fmla="*/ 6327909 w 9692640"/>
              <a:gd name="csY20" fmla="*/ 18288 h 18288"/>
              <a:gd name="csX21" fmla="*/ 5635578 w 9692640"/>
              <a:gd name="csY21" fmla="*/ 18288 h 18288"/>
              <a:gd name="csX22" fmla="*/ 4846320 w 9692640"/>
              <a:gd name="csY22" fmla="*/ 18288 h 18288"/>
              <a:gd name="csX23" fmla="*/ 4444768 w 9692640"/>
              <a:gd name="csY23" fmla="*/ 18288 h 18288"/>
              <a:gd name="csX24" fmla="*/ 3946289 w 9692640"/>
              <a:gd name="csY24" fmla="*/ 18288 h 18288"/>
              <a:gd name="csX25" fmla="*/ 3253958 w 9692640"/>
              <a:gd name="csY25" fmla="*/ 18288 h 18288"/>
              <a:gd name="csX26" fmla="*/ 2464700 w 9692640"/>
              <a:gd name="csY26" fmla="*/ 18288 h 18288"/>
              <a:gd name="csX27" fmla="*/ 2063148 w 9692640"/>
              <a:gd name="csY27" fmla="*/ 18288 h 18288"/>
              <a:gd name="csX28" fmla="*/ 1661595 w 9692640"/>
              <a:gd name="csY28" fmla="*/ 18288 h 18288"/>
              <a:gd name="csX29" fmla="*/ 969264 w 9692640"/>
              <a:gd name="csY29" fmla="*/ 18288 h 18288"/>
              <a:gd name="csX30" fmla="*/ 0 w 9692640"/>
              <a:gd name="csY30" fmla="*/ 18288 h 18288"/>
              <a:gd name="csX31" fmla="*/ 0 w 9692640"/>
              <a:gd name="csY3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6B88E23-7A5C-A7BE-19D9-1F40337902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Operiert bis Layer 7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Blockiert Applikationen nach Vorgaben</a:t>
            </a:r>
          </a:p>
          <a:p>
            <a:pPr marL="0" indent="0">
              <a:buNone/>
            </a:pPr>
            <a:r>
              <a:rPr lang="de-DE" sz="2200" dirty="0">
                <a:solidFill>
                  <a:schemeClr val="bg1"/>
                </a:solidFill>
              </a:rPr>
              <a:t>	- Name</a:t>
            </a:r>
          </a:p>
          <a:p>
            <a:pPr marL="0" indent="0">
              <a:buNone/>
            </a:pPr>
            <a:r>
              <a:rPr lang="de-DE" sz="2200" dirty="0">
                <a:solidFill>
                  <a:schemeClr val="bg1"/>
                </a:solidFill>
              </a:rPr>
              <a:t>	- Kategorie (z.B. </a:t>
            </a:r>
            <a:r>
              <a:rPr lang="de-DE" sz="2200" dirty="0" err="1">
                <a:solidFill>
                  <a:schemeClr val="bg1"/>
                </a:solidFill>
              </a:rPr>
              <a:t>Social</a:t>
            </a:r>
            <a:r>
              <a:rPr lang="de-DE" sz="2200" dirty="0">
                <a:solidFill>
                  <a:schemeClr val="bg1"/>
                </a:solidFill>
              </a:rPr>
              <a:t> Media, Gaming, Torrent)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Enthält Deep Packet </a:t>
            </a:r>
            <a:r>
              <a:rPr lang="de-DE" sz="2200" dirty="0" err="1">
                <a:solidFill>
                  <a:schemeClr val="bg1"/>
                </a:solidFill>
              </a:rPr>
              <a:t>Inspection</a:t>
            </a:r>
            <a:endParaRPr lang="de-DE" sz="2200" dirty="0">
              <a:solidFill>
                <a:schemeClr val="bg1"/>
              </a:solidFill>
            </a:endParaRP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Applikationen nutzen </a:t>
            </a:r>
            <a:r>
              <a:rPr lang="de-DE" sz="2200" dirty="0" err="1">
                <a:solidFill>
                  <a:schemeClr val="bg1"/>
                </a:solidFill>
              </a:rPr>
              <a:t>u.A.</a:t>
            </a:r>
            <a:r>
              <a:rPr lang="de-DE" sz="2200" dirty="0">
                <a:solidFill>
                  <a:schemeClr val="bg1"/>
                </a:solidFill>
              </a:rPr>
              <a:t> </a:t>
            </a:r>
            <a:r>
              <a:rPr lang="de-DE" sz="2200" dirty="0" err="1">
                <a:solidFill>
                  <a:schemeClr val="bg1"/>
                </a:solidFill>
              </a:rPr>
              <a:t>dyn</a:t>
            </a:r>
            <a:r>
              <a:rPr lang="de-DE" sz="2200" dirty="0">
                <a:solidFill>
                  <a:schemeClr val="bg1"/>
                </a:solidFill>
              </a:rPr>
              <a:t>. Ports oder tunneln Traffic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Hohe CPU-Last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Kritische Infrastruktur</a:t>
            </a:r>
          </a:p>
          <a:p>
            <a:pPr>
              <a:buFontTx/>
              <a:buChar char="-"/>
            </a:pPr>
            <a:endParaRPr lang="de-DE" sz="2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95219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382704-9B43-A45D-5A15-B87DB0E63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9" name="Rectangle 3080">
            <a:extLst>
              <a:ext uri="{FF2B5EF4-FFF2-40B4-BE49-F238E27FC236}">
                <a16:creationId xmlns:a16="http://schemas.microsoft.com/office/drawing/2014/main" id="{75F18639-2ACF-FC34-2D74-657EDE898C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 descr="Rethinking Firewall and Proxy Management for Enterprise Agility">
            <a:extLst>
              <a:ext uri="{FF2B5EF4-FFF2-40B4-BE49-F238E27FC236}">
                <a16:creationId xmlns:a16="http://schemas.microsoft.com/office/drawing/2014/main" id="{F7C8C869-E4B9-A9DB-49FF-3AEA796AF2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6B8E6E9-065C-710D-8FBE-147CCFFA2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chemeClr val="bg1"/>
                </a:solidFill>
              </a:rPr>
              <a:t>IPS / IDS</a:t>
            </a:r>
            <a:endParaRPr lang="de-BE" sz="5400" dirty="0">
              <a:solidFill>
                <a:schemeClr val="bg1"/>
              </a:solidFill>
            </a:endParaRPr>
          </a:p>
        </p:txBody>
      </p:sp>
      <p:sp>
        <p:nvSpPr>
          <p:cNvPr id="3090" name="sketchy line">
            <a:extLst>
              <a:ext uri="{FF2B5EF4-FFF2-40B4-BE49-F238E27FC236}">
                <a16:creationId xmlns:a16="http://schemas.microsoft.com/office/drawing/2014/main" id="{9951CCF1-D2F6-7BE1-C021-BF818C5881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sX0" fmla="*/ 0 w 9692640"/>
              <a:gd name="csY0" fmla="*/ 0 h 18288"/>
              <a:gd name="csX1" fmla="*/ 401552 w 9692640"/>
              <a:gd name="csY1" fmla="*/ 0 h 18288"/>
              <a:gd name="csX2" fmla="*/ 996957 w 9692640"/>
              <a:gd name="csY2" fmla="*/ 0 h 18288"/>
              <a:gd name="csX3" fmla="*/ 1398509 w 9692640"/>
              <a:gd name="csY3" fmla="*/ 0 h 18288"/>
              <a:gd name="csX4" fmla="*/ 2090841 w 9692640"/>
              <a:gd name="csY4" fmla="*/ 0 h 18288"/>
              <a:gd name="csX5" fmla="*/ 2686246 w 9692640"/>
              <a:gd name="csY5" fmla="*/ 0 h 18288"/>
              <a:gd name="csX6" fmla="*/ 3475504 w 9692640"/>
              <a:gd name="csY6" fmla="*/ 0 h 18288"/>
              <a:gd name="csX7" fmla="*/ 4361688 w 9692640"/>
              <a:gd name="csY7" fmla="*/ 0 h 18288"/>
              <a:gd name="csX8" fmla="*/ 5054019 w 9692640"/>
              <a:gd name="csY8" fmla="*/ 0 h 18288"/>
              <a:gd name="csX9" fmla="*/ 5940204 w 9692640"/>
              <a:gd name="csY9" fmla="*/ 0 h 18288"/>
              <a:gd name="csX10" fmla="*/ 6632535 w 9692640"/>
              <a:gd name="csY10" fmla="*/ 0 h 18288"/>
              <a:gd name="csX11" fmla="*/ 7034087 w 9692640"/>
              <a:gd name="csY11" fmla="*/ 0 h 18288"/>
              <a:gd name="csX12" fmla="*/ 7532566 w 9692640"/>
              <a:gd name="csY12" fmla="*/ 0 h 18288"/>
              <a:gd name="csX13" fmla="*/ 8418750 w 9692640"/>
              <a:gd name="csY13" fmla="*/ 0 h 18288"/>
              <a:gd name="csX14" fmla="*/ 9692640 w 9692640"/>
              <a:gd name="csY14" fmla="*/ 0 h 18288"/>
              <a:gd name="csX15" fmla="*/ 9692640 w 9692640"/>
              <a:gd name="csY15" fmla="*/ 18288 h 18288"/>
              <a:gd name="csX16" fmla="*/ 9000309 w 9692640"/>
              <a:gd name="csY16" fmla="*/ 18288 h 18288"/>
              <a:gd name="csX17" fmla="*/ 8307977 w 9692640"/>
              <a:gd name="csY17" fmla="*/ 18288 h 18288"/>
              <a:gd name="csX18" fmla="*/ 7712572 w 9692640"/>
              <a:gd name="csY18" fmla="*/ 18288 h 18288"/>
              <a:gd name="csX19" fmla="*/ 7214093 w 9692640"/>
              <a:gd name="csY19" fmla="*/ 18288 h 18288"/>
              <a:gd name="csX20" fmla="*/ 6327909 w 9692640"/>
              <a:gd name="csY20" fmla="*/ 18288 h 18288"/>
              <a:gd name="csX21" fmla="*/ 5635578 w 9692640"/>
              <a:gd name="csY21" fmla="*/ 18288 h 18288"/>
              <a:gd name="csX22" fmla="*/ 4846320 w 9692640"/>
              <a:gd name="csY22" fmla="*/ 18288 h 18288"/>
              <a:gd name="csX23" fmla="*/ 4444768 w 9692640"/>
              <a:gd name="csY23" fmla="*/ 18288 h 18288"/>
              <a:gd name="csX24" fmla="*/ 3946289 w 9692640"/>
              <a:gd name="csY24" fmla="*/ 18288 h 18288"/>
              <a:gd name="csX25" fmla="*/ 3253958 w 9692640"/>
              <a:gd name="csY25" fmla="*/ 18288 h 18288"/>
              <a:gd name="csX26" fmla="*/ 2464700 w 9692640"/>
              <a:gd name="csY26" fmla="*/ 18288 h 18288"/>
              <a:gd name="csX27" fmla="*/ 2063148 w 9692640"/>
              <a:gd name="csY27" fmla="*/ 18288 h 18288"/>
              <a:gd name="csX28" fmla="*/ 1661595 w 9692640"/>
              <a:gd name="csY28" fmla="*/ 18288 h 18288"/>
              <a:gd name="csX29" fmla="*/ 969264 w 9692640"/>
              <a:gd name="csY29" fmla="*/ 18288 h 18288"/>
              <a:gd name="csX30" fmla="*/ 0 w 9692640"/>
              <a:gd name="csY30" fmla="*/ 18288 h 18288"/>
              <a:gd name="csX31" fmla="*/ 0 w 9692640"/>
              <a:gd name="csY3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B39B34-CD9C-8574-9B13-EDE40F0017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200" dirty="0">
                <a:solidFill>
                  <a:schemeClr val="bg1"/>
                </a:solidFill>
              </a:rPr>
              <a:t> - erkennt und blockiert verdächtigen Traffic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Basieren auf Signaturen und Anomalien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Gezielte Filterung -&gt;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IDS warnt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IPS blockiert</a:t>
            </a:r>
          </a:p>
          <a:p>
            <a:pPr>
              <a:buFontTx/>
              <a:buChar char="-"/>
            </a:pPr>
            <a:r>
              <a:rPr lang="de-DE" sz="2200" dirty="0" err="1">
                <a:solidFill>
                  <a:schemeClr val="bg1"/>
                </a:solidFill>
              </a:rPr>
              <a:t>Logging</a:t>
            </a:r>
            <a:r>
              <a:rPr lang="de-DE" sz="2200" dirty="0">
                <a:solidFill>
                  <a:schemeClr val="bg1"/>
                </a:solidFill>
              </a:rPr>
              <a:t> zum Nachvollziehen von Vorfällen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IPS kann zu effektiv sein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IDS + </a:t>
            </a:r>
            <a:r>
              <a:rPr lang="de-DE" sz="2200" dirty="0" err="1">
                <a:solidFill>
                  <a:schemeClr val="bg1"/>
                </a:solidFill>
              </a:rPr>
              <a:t>Logging</a:t>
            </a:r>
            <a:r>
              <a:rPr lang="de-DE" sz="2200" dirty="0">
                <a:solidFill>
                  <a:schemeClr val="bg1"/>
                </a:solidFill>
              </a:rPr>
              <a:t> -&gt; gezielte Regeln + Whitelist</a:t>
            </a: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Im </a:t>
            </a:r>
            <a:r>
              <a:rPr lang="de-DE" sz="2200" dirty="0" err="1">
                <a:solidFill>
                  <a:schemeClr val="bg1"/>
                </a:solidFill>
              </a:rPr>
              <a:t>Threat</a:t>
            </a:r>
            <a:r>
              <a:rPr lang="de-DE" sz="2200" dirty="0">
                <a:solidFill>
                  <a:schemeClr val="bg1"/>
                </a:solidFill>
              </a:rPr>
              <a:t> Management und Block List verwaltet</a:t>
            </a:r>
          </a:p>
        </p:txBody>
      </p:sp>
      <p:pic>
        <p:nvPicPr>
          <p:cNvPr id="5" name="Grafik 4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4FE578F8-F2C2-0FA3-E7EF-220FFF02B8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9832" y="2055803"/>
            <a:ext cx="3725491" cy="4125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55434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2374E2-F6A8-B5DB-10D6-D5D22F88F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9" name="Rectangle 3080">
            <a:extLst>
              <a:ext uri="{FF2B5EF4-FFF2-40B4-BE49-F238E27FC236}">
                <a16:creationId xmlns:a16="http://schemas.microsoft.com/office/drawing/2014/main" id="{EE434327-8541-D979-75F4-8400DF339A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 descr="Rethinking Firewall and Proxy Management for Enterprise Agility">
            <a:extLst>
              <a:ext uri="{FF2B5EF4-FFF2-40B4-BE49-F238E27FC236}">
                <a16:creationId xmlns:a16="http://schemas.microsoft.com/office/drawing/2014/main" id="{70EA9772-268F-6377-A12D-6B39AD062E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A9ACFD3-1FB8-4887-5DF8-3C16DD398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chemeClr val="bg1"/>
                </a:solidFill>
              </a:rPr>
              <a:t>Web </a:t>
            </a:r>
            <a:r>
              <a:rPr lang="de-DE" sz="5400" dirty="0" err="1">
                <a:solidFill>
                  <a:schemeClr val="bg1"/>
                </a:solidFill>
              </a:rPr>
              <a:t>Filtering</a:t>
            </a:r>
            <a:endParaRPr lang="de-BE" sz="5400" dirty="0">
              <a:solidFill>
                <a:schemeClr val="bg1"/>
              </a:solidFill>
            </a:endParaRPr>
          </a:p>
        </p:txBody>
      </p:sp>
      <p:sp>
        <p:nvSpPr>
          <p:cNvPr id="3090" name="sketchy line">
            <a:extLst>
              <a:ext uri="{FF2B5EF4-FFF2-40B4-BE49-F238E27FC236}">
                <a16:creationId xmlns:a16="http://schemas.microsoft.com/office/drawing/2014/main" id="{B0FC77EE-E7A9-D4DE-1AAF-D5B7A3ACFA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sX0" fmla="*/ 0 w 9692640"/>
              <a:gd name="csY0" fmla="*/ 0 h 18288"/>
              <a:gd name="csX1" fmla="*/ 401552 w 9692640"/>
              <a:gd name="csY1" fmla="*/ 0 h 18288"/>
              <a:gd name="csX2" fmla="*/ 996957 w 9692640"/>
              <a:gd name="csY2" fmla="*/ 0 h 18288"/>
              <a:gd name="csX3" fmla="*/ 1398509 w 9692640"/>
              <a:gd name="csY3" fmla="*/ 0 h 18288"/>
              <a:gd name="csX4" fmla="*/ 2090841 w 9692640"/>
              <a:gd name="csY4" fmla="*/ 0 h 18288"/>
              <a:gd name="csX5" fmla="*/ 2686246 w 9692640"/>
              <a:gd name="csY5" fmla="*/ 0 h 18288"/>
              <a:gd name="csX6" fmla="*/ 3475504 w 9692640"/>
              <a:gd name="csY6" fmla="*/ 0 h 18288"/>
              <a:gd name="csX7" fmla="*/ 4361688 w 9692640"/>
              <a:gd name="csY7" fmla="*/ 0 h 18288"/>
              <a:gd name="csX8" fmla="*/ 5054019 w 9692640"/>
              <a:gd name="csY8" fmla="*/ 0 h 18288"/>
              <a:gd name="csX9" fmla="*/ 5940204 w 9692640"/>
              <a:gd name="csY9" fmla="*/ 0 h 18288"/>
              <a:gd name="csX10" fmla="*/ 6632535 w 9692640"/>
              <a:gd name="csY10" fmla="*/ 0 h 18288"/>
              <a:gd name="csX11" fmla="*/ 7034087 w 9692640"/>
              <a:gd name="csY11" fmla="*/ 0 h 18288"/>
              <a:gd name="csX12" fmla="*/ 7532566 w 9692640"/>
              <a:gd name="csY12" fmla="*/ 0 h 18288"/>
              <a:gd name="csX13" fmla="*/ 8418750 w 9692640"/>
              <a:gd name="csY13" fmla="*/ 0 h 18288"/>
              <a:gd name="csX14" fmla="*/ 9692640 w 9692640"/>
              <a:gd name="csY14" fmla="*/ 0 h 18288"/>
              <a:gd name="csX15" fmla="*/ 9692640 w 9692640"/>
              <a:gd name="csY15" fmla="*/ 18288 h 18288"/>
              <a:gd name="csX16" fmla="*/ 9000309 w 9692640"/>
              <a:gd name="csY16" fmla="*/ 18288 h 18288"/>
              <a:gd name="csX17" fmla="*/ 8307977 w 9692640"/>
              <a:gd name="csY17" fmla="*/ 18288 h 18288"/>
              <a:gd name="csX18" fmla="*/ 7712572 w 9692640"/>
              <a:gd name="csY18" fmla="*/ 18288 h 18288"/>
              <a:gd name="csX19" fmla="*/ 7214093 w 9692640"/>
              <a:gd name="csY19" fmla="*/ 18288 h 18288"/>
              <a:gd name="csX20" fmla="*/ 6327909 w 9692640"/>
              <a:gd name="csY20" fmla="*/ 18288 h 18288"/>
              <a:gd name="csX21" fmla="*/ 5635578 w 9692640"/>
              <a:gd name="csY21" fmla="*/ 18288 h 18288"/>
              <a:gd name="csX22" fmla="*/ 4846320 w 9692640"/>
              <a:gd name="csY22" fmla="*/ 18288 h 18288"/>
              <a:gd name="csX23" fmla="*/ 4444768 w 9692640"/>
              <a:gd name="csY23" fmla="*/ 18288 h 18288"/>
              <a:gd name="csX24" fmla="*/ 3946289 w 9692640"/>
              <a:gd name="csY24" fmla="*/ 18288 h 18288"/>
              <a:gd name="csX25" fmla="*/ 3253958 w 9692640"/>
              <a:gd name="csY25" fmla="*/ 18288 h 18288"/>
              <a:gd name="csX26" fmla="*/ 2464700 w 9692640"/>
              <a:gd name="csY26" fmla="*/ 18288 h 18288"/>
              <a:gd name="csX27" fmla="*/ 2063148 w 9692640"/>
              <a:gd name="csY27" fmla="*/ 18288 h 18288"/>
              <a:gd name="csX28" fmla="*/ 1661595 w 9692640"/>
              <a:gd name="csY28" fmla="*/ 18288 h 18288"/>
              <a:gd name="csX29" fmla="*/ 969264 w 9692640"/>
              <a:gd name="csY29" fmla="*/ 18288 h 18288"/>
              <a:gd name="csX30" fmla="*/ 0 w 9692640"/>
              <a:gd name="csY30" fmla="*/ 18288 h 18288"/>
              <a:gd name="csX31" fmla="*/ 0 w 9692640"/>
              <a:gd name="csY3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91B39D-B58F-C8B1-5273-5386F4BF91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Unterteilung in Gruppen von Geräten / Kategorien / URLs</a:t>
            </a:r>
          </a:p>
          <a:p>
            <a:pPr>
              <a:buFontTx/>
              <a:buChar char="-"/>
            </a:pPr>
            <a:endParaRPr lang="de-DE" sz="2200" dirty="0">
              <a:solidFill>
                <a:schemeClr val="bg1"/>
              </a:solidFill>
            </a:endParaRP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Geräte bzw. Benutzergruppen ( Admins / Mitarbeiter / Gäste)</a:t>
            </a:r>
          </a:p>
          <a:p>
            <a:pPr>
              <a:buFontTx/>
              <a:buChar char="-"/>
            </a:pPr>
            <a:endParaRPr lang="de-DE" sz="2200" dirty="0">
              <a:solidFill>
                <a:schemeClr val="bg1"/>
              </a:solidFill>
            </a:endParaRP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Kategorien wie z.B. </a:t>
            </a:r>
            <a:r>
              <a:rPr lang="de-DE" sz="2200" dirty="0" err="1">
                <a:solidFill>
                  <a:schemeClr val="bg1"/>
                </a:solidFill>
              </a:rPr>
              <a:t>Social</a:t>
            </a:r>
            <a:r>
              <a:rPr lang="de-DE" sz="2200" dirty="0">
                <a:solidFill>
                  <a:schemeClr val="bg1"/>
                </a:solidFill>
              </a:rPr>
              <a:t> Media , Pornographie etc.</a:t>
            </a:r>
          </a:p>
          <a:p>
            <a:pPr>
              <a:buFontTx/>
              <a:buChar char="-"/>
            </a:pPr>
            <a:r>
              <a:rPr lang="de-DE" sz="2200" dirty="0" err="1">
                <a:solidFill>
                  <a:schemeClr val="bg1"/>
                </a:solidFill>
              </a:rPr>
              <a:t>Regelset</a:t>
            </a:r>
            <a:r>
              <a:rPr lang="de-DE" sz="2200" dirty="0">
                <a:solidFill>
                  <a:schemeClr val="bg1"/>
                </a:solidFill>
              </a:rPr>
              <a:t> -&gt; </a:t>
            </a:r>
            <a:r>
              <a:rPr lang="de-DE" sz="2200" dirty="0" err="1">
                <a:solidFill>
                  <a:schemeClr val="bg1"/>
                </a:solidFill>
              </a:rPr>
              <a:t>Allow</a:t>
            </a:r>
            <a:r>
              <a:rPr lang="de-DE" sz="2200" dirty="0">
                <a:solidFill>
                  <a:schemeClr val="bg1"/>
                </a:solidFill>
              </a:rPr>
              <a:t> / Deny / Warn und Zeitbasiert </a:t>
            </a:r>
          </a:p>
          <a:p>
            <a:pPr>
              <a:buFontTx/>
              <a:buChar char="-"/>
            </a:pPr>
            <a:endParaRPr lang="de-DE" sz="2200" dirty="0">
              <a:solidFill>
                <a:schemeClr val="bg1"/>
              </a:solidFill>
            </a:endParaRP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URL </a:t>
            </a:r>
            <a:r>
              <a:rPr lang="de-DE" sz="2200" dirty="0" err="1">
                <a:solidFill>
                  <a:schemeClr val="bg1"/>
                </a:solidFill>
              </a:rPr>
              <a:t>Filtering</a:t>
            </a:r>
            <a:r>
              <a:rPr lang="de-DE" sz="2200" dirty="0">
                <a:solidFill>
                  <a:schemeClr val="bg1"/>
                </a:solidFill>
              </a:rPr>
              <a:t> spez. URLs bzw. Domains</a:t>
            </a:r>
          </a:p>
          <a:p>
            <a:pPr>
              <a:buFontTx/>
              <a:buChar char="-"/>
            </a:pPr>
            <a:endParaRPr lang="de-DE" sz="2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25708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912C0F-D09E-75BF-6082-A6E51145E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9" name="Rectangle 3080">
            <a:extLst>
              <a:ext uri="{FF2B5EF4-FFF2-40B4-BE49-F238E27FC236}">
                <a16:creationId xmlns:a16="http://schemas.microsoft.com/office/drawing/2014/main" id="{841E9628-1666-E214-BB72-685C86E5F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 descr="Rethinking Firewall and Proxy Management for Enterprise Agility">
            <a:extLst>
              <a:ext uri="{FF2B5EF4-FFF2-40B4-BE49-F238E27FC236}">
                <a16:creationId xmlns:a16="http://schemas.microsoft.com/office/drawing/2014/main" id="{4946EEF7-71D8-C981-1118-DD3CCB0AC4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36FABE19-CA30-805C-426D-B13EF671F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chemeClr val="bg1"/>
                </a:solidFill>
              </a:rPr>
              <a:t>Web Security</a:t>
            </a:r>
            <a:endParaRPr lang="de-BE" sz="5400" dirty="0">
              <a:solidFill>
                <a:schemeClr val="bg1"/>
              </a:solidFill>
            </a:endParaRPr>
          </a:p>
        </p:txBody>
      </p:sp>
      <p:sp>
        <p:nvSpPr>
          <p:cNvPr id="3090" name="sketchy line">
            <a:extLst>
              <a:ext uri="{FF2B5EF4-FFF2-40B4-BE49-F238E27FC236}">
                <a16:creationId xmlns:a16="http://schemas.microsoft.com/office/drawing/2014/main" id="{588E3C6F-9451-8C7B-682F-FF79B0F4AB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sX0" fmla="*/ 0 w 9692640"/>
              <a:gd name="csY0" fmla="*/ 0 h 18288"/>
              <a:gd name="csX1" fmla="*/ 401552 w 9692640"/>
              <a:gd name="csY1" fmla="*/ 0 h 18288"/>
              <a:gd name="csX2" fmla="*/ 996957 w 9692640"/>
              <a:gd name="csY2" fmla="*/ 0 h 18288"/>
              <a:gd name="csX3" fmla="*/ 1398509 w 9692640"/>
              <a:gd name="csY3" fmla="*/ 0 h 18288"/>
              <a:gd name="csX4" fmla="*/ 2090841 w 9692640"/>
              <a:gd name="csY4" fmla="*/ 0 h 18288"/>
              <a:gd name="csX5" fmla="*/ 2686246 w 9692640"/>
              <a:gd name="csY5" fmla="*/ 0 h 18288"/>
              <a:gd name="csX6" fmla="*/ 3475504 w 9692640"/>
              <a:gd name="csY6" fmla="*/ 0 h 18288"/>
              <a:gd name="csX7" fmla="*/ 4361688 w 9692640"/>
              <a:gd name="csY7" fmla="*/ 0 h 18288"/>
              <a:gd name="csX8" fmla="*/ 5054019 w 9692640"/>
              <a:gd name="csY8" fmla="*/ 0 h 18288"/>
              <a:gd name="csX9" fmla="*/ 5940204 w 9692640"/>
              <a:gd name="csY9" fmla="*/ 0 h 18288"/>
              <a:gd name="csX10" fmla="*/ 6632535 w 9692640"/>
              <a:gd name="csY10" fmla="*/ 0 h 18288"/>
              <a:gd name="csX11" fmla="*/ 7034087 w 9692640"/>
              <a:gd name="csY11" fmla="*/ 0 h 18288"/>
              <a:gd name="csX12" fmla="*/ 7532566 w 9692640"/>
              <a:gd name="csY12" fmla="*/ 0 h 18288"/>
              <a:gd name="csX13" fmla="*/ 8418750 w 9692640"/>
              <a:gd name="csY13" fmla="*/ 0 h 18288"/>
              <a:gd name="csX14" fmla="*/ 9692640 w 9692640"/>
              <a:gd name="csY14" fmla="*/ 0 h 18288"/>
              <a:gd name="csX15" fmla="*/ 9692640 w 9692640"/>
              <a:gd name="csY15" fmla="*/ 18288 h 18288"/>
              <a:gd name="csX16" fmla="*/ 9000309 w 9692640"/>
              <a:gd name="csY16" fmla="*/ 18288 h 18288"/>
              <a:gd name="csX17" fmla="*/ 8307977 w 9692640"/>
              <a:gd name="csY17" fmla="*/ 18288 h 18288"/>
              <a:gd name="csX18" fmla="*/ 7712572 w 9692640"/>
              <a:gd name="csY18" fmla="*/ 18288 h 18288"/>
              <a:gd name="csX19" fmla="*/ 7214093 w 9692640"/>
              <a:gd name="csY19" fmla="*/ 18288 h 18288"/>
              <a:gd name="csX20" fmla="*/ 6327909 w 9692640"/>
              <a:gd name="csY20" fmla="*/ 18288 h 18288"/>
              <a:gd name="csX21" fmla="*/ 5635578 w 9692640"/>
              <a:gd name="csY21" fmla="*/ 18288 h 18288"/>
              <a:gd name="csX22" fmla="*/ 4846320 w 9692640"/>
              <a:gd name="csY22" fmla="*/ 18288 h 18288"/>
              <a:gd name="csX23" fmla="*/ 4444768 w 9692640"/>
              <a:gd name="csY23" fmla="*/ 18288 h 18288"/>
              <a:gd name="csX24" fmla="*/ 3946289 w 9692640"/>
              <a:gd name="csY24" fmla="*/ 18288 h 18288"/>
              <a:gd name="csX25" fmla="*/ 3253958 w 9692640"/>
              <a:gd name="csY25" fmla="*/ 18288 h 18288"/>
              <a:gd name="csX26" fmla="*/ 2464700 w 9692640"/>
              <a:gd name="csY26" fmla="*/ 18288 h 18288"/>
              <a:gd name="csX27" fmla="*/ 2063148 w 9692640"/>
              <a:gd name="csY27" fmla="*/ 18288 h 18288"/>
              <a:gd name="csX28" fmla="*/ 1661595 w 9692640"/>
              <a:gd name="csY28" fmla="*/ 18288 h 18288"/>
              <a:gd name="csX29" fmla="*/ 969264 w 9692640"/>
              <a:gd name="csY29" fmla="*/ 18288 h 18288"/>
              <a:gd name="csX30" fmla="*/ 0 w 9692640"/>
              <a:gd name="csY30" fmla="*/ 18288 h 18288"/>
              <a:gd name="csX31" fmla="*/ 0 w 9692640"/>
              <a:gd name="csY3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B93032E-91ED-35C3-1C0E-82ED807E75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Kontrolliert spezifisches Online Verhalten lokaler User</a:t>
            </a:r>
          </a:p>
          <a:p>
            <a:pPr>
              <a:buFontTx/>
              <a:buChar char="-"/>
            </a:pPr>
            <a:endParaRPr lang="de-DE" sz="2200" dirty="0">
              <a:solidFill>
                <a:schemeClr val="bg1"/>
              </a:solidFill>
            </a:endParaRPr>
          </a:p>
          <a:p>
            <a:pPr>
              <a:buFontTx/>
              <a:buChar char="-"/>
            </a:pPr>
            <a:r>
              <a:rPr lang="de-DE" sz="2200" dirty="0">
                <a:solidFill>
                  <a:schemeClr val="bg1"/>
                </a:solidFill>
              </a:rPr>
              <a:t>HTTP POST blockieren</a:t>
            </a:r>
          </a:p>
          <a:p>
            <a:pPr>
              <a:buFontTx/>
              <a:buChar char="-"/>
            </a:pPr>
            <a:r>
              <a:rPr lang="de-DE" sz="2400" dirty="0">
                <a:solidFill>
                  <a:schemeClr val="bg1"/>
                </a:solidFill>
              </a:rPr>
              <a:t>Verhindert Login, Kommentare oder andere POST-Operationen</a:t>
            </a:r>
          </a:p>
          <a:p>
            <a:pPr>
              <a:buFontTx/>
              <a:buChar char="-"/>
            </a:pPr>
            <a:endParaRPr lang="de-DE" sz="2400" dirty="0">
              <a:solidFill>
                <a:schemeClr val="bg1"/>
              </a:solidFill>
            </a:endParaRPr>
          </a:p>
          <a:p>
            <a:pPr>
              <a:buFontTx/>
              <a:buChar char="-"/>
            </a:pPr>
            <a:r>
              <a:rPr lang="de-DE" sz="2400" dirty="0">
                <a:solidFill>
                  <a:schemeClr val="bg1"/>
                </a:solidFill>
              </a:rPr>
              <a:t>Dateitypen blockieren</a:t>
            </a:r>
          </a:p>
          <a:p>
            <a:pPr>
              <a:buFontTx/>
              <a:buChar char="-"/>
            </a:pPr>
            <a:r>
              <a:rPr lang="de-DE" sz="2400" dirty="0">
                <a:solidFill>
                  <a:schemeClr val="bg1"/>
                </a:solidFill>
              </a:rPr>
              <a:t>Verhindert Herunterladen bestimmter Dateien aus dem Internet</a:t>
            </a:r>
            <a:endParaRPr lang="de-DE" sz="2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25395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82EF0D-9862-21D5-EBB3-C790B9EDB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9" name="Rectangle 3080">
            <a:extLst>
              <a:ext uri="{FF2B5EF4-FFF2-40B4-BE49-F238E27FC236}">
                <a16:creationId xmlns:a16="http://schemas.microsoft.com/office/drawing/2014/main" id="{CCDD7C09-8ED4-ADA9-FCCB-FE1F36CA9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 descr="Rethinking Firewall and Proxy Management for Enterprise Agility">
            <a:extLst>
              <a:ext uri="{FF2B5EF4-FFF2-40B4-BE49-F238E27FC236}">
                <a16:creationId xmlns:a16="http://schemas.microsoft.com/office/drawing/2014/main" id="{F7B8CCB0-B9A2-7F5F-C193-C2BC8FE4F2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027" y="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0987D004-25BB-C402-61E1-E31E05B9D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 dirty="0">
                <a:solidFill>
                  <a:schemeClr val="bg1"/>
                </a:solidFill>
              </a:rPr>
              <a:t>Quellen</a:t>
            </a:r>
            <a:endParaRPr lang="de-BE" sz="5400" dirty="0">
              <a:solidFill>
                <a:schemeClr val="bg1"/>
              </a:solidFill>
            </a:endParaRPr>
          </a:p>
        </p:txBody>
      </p:sp>
      <p:sp>
        <p:nvSpPr>
          <p:cNvPr id="3090" name="sketchy line">
            <a:extLst>
              <a:ext uri="{FF2B5EF4-FFF2-40B4-BE49-F238E27FC236}">
                <a16:creationId xmlns:a16="http://schemas.microsoft.com/office/drawing/2014/main" id="{98296C0F-2B3A-D8D3-FEFC-3701FE1AA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sX0" fmla="*/ 0 w 9692640"/>
              <a:gd name="csY0" fmla="*/ 0 h 18288"/>
              <a:gd name="csX1" fmla="*/ 401552 w 9692640"/>
              <a:gd name="csY1" fmla="*/ 0 h 18288"/>
              <a:gd name="csX2" fmla="*/ 996957 w 9692640"/>
              <a:gd name="csY2" fmla="*/ 0 h 18288"/>
              <a:gd name="csX3" fmla="*/ 1398509 w 9692640"/>
              <a:gd name="csY3" fmla="*/ 0 h 18288"/>
              <a:gd name="csX4" fmla="*/ 2090841 w 9692640"/>
              <a:gd name="csY4" fmla="*/ 0 h 18288"/>
              <a:gd name="csX5" fmla="*/ 2686246 w 9692640"/>
              <a:gd name="csY5" fmla="*/ 0 h 18288"/>
              <a:gd name="csX6" fmla="*/ 3475504 w 9692640"/>
              <a:gd name="csY6" fmla="*/ 0 h 18288"/>
              <a:gd name="csX7" fmla="*/ 4361688 w 9692640"/>
              <a:gd name="csY7" fmla="*/ 0 h 18288"/>
              <a:gd name="csX8" fmla="*/ 5054019 w 9692640"/>
              <a:gd name="csY8" fmla="*/ 0 h 18288"/>
              <a:gd name="csX9" fmla="*/ 5940204 w 9692640"/>
              <a:gd name="csY9" fmla="*/ 0 h 18288"/>
              <a:gd name="csX10" fmla="*/ 6632535 w 9692640"/>
              <a:gd name="csY10" fmla="*/ 0 h 18288"/>
              <a:gd name="csX11" fmla="*/ 7034087 w 9692640"/>
              <a:gd name="csY11" fmla="*/ 0 h 18288"/>
              <a:gd name="csX12" fmla="*/ 7532566 w 9692640"/>
              <a:gd name="csY12" fmla="*/ 0 h 18288"/>
              <a:gd name="csX13" fmla="*/ 8418750 w 9692640"/>
              <a:gd name="csY13" fmla="*/ 0 h 18288"/>
              <a:gd name="csX14" fmla="*/ 9692640 w 9692640"/>
              <a:gd name="csY14" fmla="*/ 0 h 18288"/>
              <a:gd name="csX15" fmla="*/ 9692640 w 9692640"/>
              <a:gd name="csY15" fmla="*/ 18288 h 18288"/>
              <a:gd name="csX16" fmla="*/ 9000309 w 9692640"/>
              <a:gd name="csY16" fmla="*/ 18288 h 18288"/>
              <a:gd name="csX17" fmla="*/ 8307977 w 9692640"/>
              <a:gd name="csY17" fmla="*/ 18288 h 18288"/>
              <a:gd name="csX18" fmla="*/ 7712572 w 9692640"/>
              <a:gd name="csY18" fmla="*/ 18288 h 18288"/>
              <a:gd name="csX19" fmla="*/ 7214093 w 9692640"/>
              <a:gd name="csY19" fmla="*/ 18288 h 18288"/>
              <a:gd name="csX20" fmla="*/ 6327909 w 9692640"/>
              <a:gd name="csY20" fmla="*/ 18288 h 18288"/>
              <a:gd name="csX21" fmla="*/ 5635578 w 9692640"/>
              <a:gd name="csY21" fmla="*/ 18288 h 18288"/>
              <a:gd name="csX22" fmla="*/ 4846320 w 9692640"/>
              <a:gd name="csY22" fmla="*/ 18288 h 18288"/>
              <a:gd name="csX23" fmla="*/ 4444768 w 9692640"/>
              <a:gd name="csY23" fmla="*/ 18288 h 18288"/>
              <a:gd name="csX24" fmla="*/ 3946289 w 9692640"/>
              <a:gd name="csY24" fmla="*/ 18288 h 18288"/>
              <a:gd name="csX25" fmla="*/ 3253958 w 9692640"/>
              <a:gd name="csY25" fmla="*/ 18288 h 18288"/>
              <a:gd name="csX26" fmla="*/ 2464700 w 9692640"/>
              <a:gd name="csY26" fmla="*/ 18288 h 18288"/>
              <a:gd name="csX27" fmla="*/ 2063148 w 9692640"/>
              <a:gd name="csY27" fmla="*/ 18288 h 18288"/>
              <a:gd name="csX28" fmla="*/ 1661595 w 9692640"/>
              <a:gd name="csY28" fmla="*/ 18288 h 18288"/>
              <a:gd name="csX29" fmla="*/ 969264 w 9692640"/>
              <a:gd name="csY29" fmla="*/ 18288 h 18288"/>
              <a:gd name="csX30" fmla="*/ 0 w 9692640"/>
              <a:gd name="csY30" fmla="*/ 18288 h 18288"/>
              <a:gd name="csX31" fmla="*/ 0 w 9692640"/>
              <a:gd name="csY3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04EA70E-BD34-D929-6209-45148F2BBC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400" dirty="0">
                <a:hlinkClick r:id="rId3"/>
              </a:rPr>
              <a:t>emulator.tp-link.com/706W_1.20-emulator/index.html</a:t>
            </a:r>
            <a:endParaRPr lang="de-DE" sz="2400" dirty="0"/>
          </a:p>
          <a:p>
            <a:pPr marL="0" indent="0">
              <a:buNone/>
            </a:pPr>
            <a:r>
              <a:rPr lang="de-DE" sz="2400" dirty="0">
                <a:hlinkClick r:id="rId4"/>
              </a:rPr>
              <a:t>ChatGPT</a:t>
            </a:r>
            <a:endParaRPr lang="de-DE" sz="2400" dirty="0"/>
          </a:p>
          <a:p>
            <a:pPr marL="0" indent="0">
              <a:buNone/>
            </a:pPr>
            <a:r>
              <a:rPr lang="de-DE" sz="2400" dirty="0">
                <a:hlinkClick r:id="rId5"/>
              </a:rPr>
              <a:t>ARP-Spoofing – Wikipedia</a:t>
            </a:r>
            <a:endParaRPr lang="de-DE" sz="2400" dirty="0"/>
          </a:p>
          <a:p>
            <a:pPr marL="0" indent="0">
              <a:buNone/>
            </a:pPr>
            <a:r>
              <a:rPr lang="de-DE" sz="2400" dirty="0">
                <a:hlinkClick r:id="rId6"/>
              </a:rPr>
              <a:t>TCP FIN, NULL, and </a:t>
            </a:r>
            <a:r>
              <a:rPr lang="de-DE" sz="2400" dirty="0" err="1">
                <a:hlinkClick r:id="rId6"/>
              </a:rPr>
              <a:t>Xmas</a:t>
            </a:r>
            <a:r>
              <a:rPr lang="de-DE" sz="2400" dirty="0">
                <a:hlinkClick r:id="rId6"/>
              </a:rPr>
              <a:t> Scans (-</a:t>
            </a:r>
            <a:r>
              <a:rPr lang="de-DE" sz="2400" dirty="0" err="1">
                <a:hlinkClick r:id="rId6"/>
              </a:rPr>
              <a:t>sF</a:t>
            </a:r>
            <a:r>
              <a:rPr lang="de-DE" sz="2400" dirty="0">
                <a:hlinkClick r:id="rId6"/>
              </a:rPr>
              <a:t>, -</a:t>
            </a:r>
            <a:r>
              <a:rPr lang="de-DE" sz="2400" dirty="0" err="1">
                <a:hlinkClick r:id="rId6"/>
              </a:rPr>
              <a:t>sN</a:t>
            </a:r>
            <a:r>
              <a:rPr lang="de-DE" sz="2400" dirty="0">
                <a:hlinkClick r:id="rId6"/>
              </a:rPr>
              <a:t>, -</a:t>
            </a:r>
            <a:r>
              <a:rPr lang="de-DE" sz="2400" dirty="0" err="1">
                <a:hlinkClick r:id="rId6"/>
              </a:rPr>
              <a:t>sX</a:t>
            </a:r>
            <a:r>
              <a:rPr lang="de-DE" sz="2400" dirty="0">
                <a:hlinkClick r:id="rId6"/>
              </a:rPr>
              <a:t>) | </a:t>
            </a:r>
            <a:r>
              <a:rPr lang="de-DE" sz="2400" dirty="0" err="1">
                <a:hlinkClick r:id="rId6"/>
              </a:rPr>
              <a:t>Nmap</a:t>
            </a:r>
            <a:r>
              <a:rPr lang="de-DE" sz="2400" dirty="0">
                <a:hlinkClick r:id="rId6"/>
              </a:rPr>
              <a:t> Network Scanning</a:t>
            </a:r>
            <a:endParaRPr lang="de-DE" sz="2400" dirty="0"/>
          </a:p>
          <a:p>
            <a:pPr marL="0" indent="0">
              <a:buNone/>
            </a:pPr>
            <a:r>
              <a:rPr lang="en-US" sz="2400" dirty="0">
                <a:hlinkClick r:id="rId7"/>
              </a:rPr>
              <a:t>Network Anomaly Detection: A Comprehensive Guide | </a:t>
            </a:r>
            <a:r>
              <a:rPr lang="en-US" sz="2400" dirty="0" err="1">
                <a:hlinkClick r:id="rId7"/>
              </a:rPr>
              <a:t>Kentik</a:t>
            </a:r>
            <a:endParaRPr lang="en-US" sz="2400" dirty="0"/>
          </a:p>
          <a:p>
            <a:pPr marL="0" indent="0">
              <a:buNone/>
            </a:pPr>
            <a:r>
              <a:rPr lang="de-DE" sz="2400" dirty="0" err="1">
                <a:hlinkClick r:id="rId8"/>
              </a:rPr>
              <a:t>WinNuke</a:t>
            </a:r>
            <a:r>
              <a:rPr lang="de-DE" sz="2400" dirty="0">
                <a:hlinkClick r:id="rId8"/>
              </a:rPr>
              <a:t> – Wikipedia</a:t>
            </a:r>
            <a:endParaRPr lang="de-DE" sz="2400" dirty="0"/>
          </a:p>
          <a:p>
            <a:pPr marL="0" indent="0">
              <a:buNone/>
            </a:pPr>
            <a:r>
              <a:rPr lang="en-US" sz="2400" dirty="0">
                <a:hlinkClick r:id="rId9"/>
              </a:rPr>
              <a:t>What Is a Network Access Control List (ACL)? | Fortinet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hlinkClick r:id="rId10"/>
              </a:rPr>
              <a:t>What Is Access Control? - Network Cybersecurity Systems | Fortinet</a:t>
            </a:r>
            <a:endParaRPr lang="en-US" sz="2400" dirty="0"/>
          </a:p>
          <a:p>
            <a:pPr marL="0" indent="0">
              <a:buNone/>
            </a:pPr>
            <a:r>
              <a:rPr lang="de-DE" sz="2400" dirty="0">
                <a:hlinkClick r:id="rId11"/>
              </a:rPr>
              <a:t>IDS und IPS: Die Haupt-Unterschiede und Ähnlichkeiten | Okta</a:t>
            </a:r>
            <a:endParaRPr lang="de-DE" sz="2400" dirty="0"/>
          </a:p>
          <a:p>
            <a:pPr marL="0" indent="0">
              <a:buNone/>
            </a:pPr>
            <a:r>
              <a:rPr lang="de-DE" sz="2400" dirty="0">
                <a:hlinkClick r:id="rId12"/>
              </a:rPr>
              <a:t>ER706W-4G | </a:t>
            </a:r>
            <a:r>
              <a:rPr lang="de-DE" sz="2400" dirty="0" err="1">
                <a:hlinkClick r:id="rId12"/>
              </a:rPr>
              <a:t>Omada</a:t>
            </a:r>
            <a:r>
              <a:rPr lang="de-DE" sz="2400" dirty="0">
                <a:hlinkClick r:id="rId12"/>
              </a:rPr>
              <a:t> Network Support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7543415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5CF620-308F-A3C0-C1EB-03378846D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9" name="Rectangle 3080">
            <a:extLst>
              <a:ext uri="{FF2B5EF4-FFF2-40B4-BE49-F238E27FC236}">
                <a16:creationId xmlns:a16="http://schemas.microsoft.com/office/drawing/2014/main" id="{8026DC4D-7623-CAC7-FD72-3490D61E8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6" name="Picture 4" descr="Rethinking Firewall and Proxy Management for Enterprise Agility">
            <a:extLst>
              <a:ext uri="{FF2B5EF4-FFF2-40B4-BE49-F238E27FC236}">
                <a16:creationId xmlns:a16="http://schemas.microsoft.com/office/drawing/2014/main" id="{B17480FF-2562-9AB9-49C4-639A13995D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027" y="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37CFDD3-4E90-5F0C-E91F-49B4A46970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de-DE" sz="5400" dirty="0">
                <a:solidFill>
                  <a:schemeClr val="bg1"/>
                </a:solidFill>
              </a:rPr>
              <a:t>Danke fürs Zuhören</a:t>
            </a:r>
            <a:endParaRPr lang="de-BE" sz="5400" dirty="0">
              <a:solidFill>
                <a:schemeClr val="bg1"/>
              </a:solidFill>
            </a:endParaRPr>
          </a:p>
        </p:txBody>
      </p:sp>
      <p:sp>
        <p:nvSpPr>
          <p:cNvPr id="3090" name="sketchy line">
            <a:extLst>
              <a:ext uri="{FF2B5EF4-FFF2-40B4-BE49-F238E27FC236}">
                <a16:creationId xmlns:a16="http://schemas.microsoft.com/office/drawing/2014/main" id="{C9AB4C94-C14E-AAEB-23FC-0DAB581D6B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sX0" fmla="*/ 0 w 9692640"/>
              <a:gd name="csY0" fmla="*/ 0 h 18288"/>
              <a:gd name="csX1" fmla="*/ 401552 w 9692640"/>
              <a:gd name="csY1" fmla="*/ 0 h 18288"/>
              <a:gd name="csX2" fmla="*/ 996957 w 9692640"/>
              <a:gd name="csY2" fmla="*/ 0 h 18288"/>
              <a:gd name="csX3" fmla="*/ 1398509 w 9692640"/>
              <a:gd name="csY3" fmla="*/ 0 h 18288"/>
              <a:gd name="csX4" fmla="*/ 2090841 w 9692640"/>
              <a:gd name="csY4" fmla="*/ 0 h 18288"/>
              <a:gd name="csX5" fmla="*/ 2686246 w 9692640"/>
              <a:gd name="csY5" fmla="*/ 0 h 18288"/>
              <a:gd name="csX6" fmla="*/ 3475504 w 9692640"/>
              <a:gd name="csY6" fmla="*/ 0 h 18288"/>
              <a:gd name="csX7" fmla="*/ 4361688 w 9692640"/>
              <a:gd name="csY7" fmla="*/ 0 h 18288"/>
              <a:gd name="csX8" fmla="*/ 5054019 w 9692640"/>
              <a:gd name="csY8" fmla="*/ 0 h 18288"/>
              <a:gd name="csX9" fmla="*/ 5940204 w 9692640"/>
              <a:gd name="csY9" fmla="*/ 0 h 18288"/>
              <a:gd name="csX10" fmla="*/ 6632535 w 9692640"/>
              <a:gd name="csY10" fmla="*/ 0 h 18288"/>
              <a:gd name="csX11" fmla="*/ 7034087 w 9692640"/>
              <a:gd name="csY11" fmla="*/ 0 h 18288"/>
              <a:gd name="csX12" fmla="*/ 7532566 w 9692640"/>
              <a:gd name="csY12" fmla="*/ 0 h 18288"/>
              <a:gd name="csX13" fmla="*/ 8418750 w 9692640"/>
              <a:gd name="csY13" fmla="*/ 0 h 18288"/>
              <a:gd name="csX14" fmla="*/ 9692640 w 9692640"/>
              <a:gd name="csY14" fmla="*/ 0 h 18288"/>
              <a:gd name="csX15" fmla="*/ 9692640 w 9692640"/>
              <a:gd name="csY15" fmla="*/ 18288 h 18288"/>
              <a:gd name="csX16" fmla="*/ 9000309 w 9692640"/>
              <a:gd name="csY16" fmla="*/ 18288 h 18288"/>
              <a:gd name="csX17" fmla="*/ 8307977 w 9692640"/>
              <a:gd name="csY17" fmla="*/ 18288 h 18288"/>
              <a:gd name="csX18" fmla="*/ 7712572 w 9692640"/>
              <a:gd name="csY18" fmla="*/ 18288 h 18288"/>
              <a:gd name="csX19" fmla="*/ 7214093 w 9692640"/>
              <a:gd name="csY19" fmla="*/ 18288 h 18288"/>
              <a:gd name="csX20" fmla="*/ 6327909 w 9692640"/>
              <a:gd name="csY20" fmla="*/ 18288 h 18288"/>
              <a:gd name="csX21" fmla="*/ 5635578 w 9692640"/>
              <a:gd name="csY21" fmla="*/ 18288 h 18288"/>
              <a:gd name="csX22" fmla="*/ 4846320 w 9692640"/>
              <a:gd name="csY22" fmla="*/ 18288 h 18288"/>
              <a:gd name="csX23" fmla="*/ 4444768 w 9692640"/>
              <a:gd name="csY23" fmla="*/ 18288 h 18288"/>
              <a:gd name="csX24" fmla="*/ 3946289 w 9692640"/>
              <a:gd name="csY24" fmla="*/ 18288 h 18288"/>
              <a:gd name="csX25" fmla="*/ 3253958 w 9692640"/>
              <a:gd name="csY25" fmla="*/ 18288 h 18288"/>
              <a:gd name="csX26" fmla="*/ 2464700 w 9692640"/>
              <a:gd name="csY26" fmla="*/ 18288 h 18288"/>
              <a:gd name="csX27" fmla="*/ 2063148 w 9692640"/>
              <a:gd name="csY27" fmla="*/ 18288 h 18288"/>
              <a:gd name="csX28" fmla="*/ 1661595 w 9692640"/>
              <a:gd name="csY28" fmla="*/ 18288 h 18288"/>
              <a:gd name="csX29" fmla="*/ 969264 w 9692640"/>
              <a:gd name="csY29" fmla="*/ 18288 h 18288"/>
              <a:gd name="csX30" fmla="*/ 0 w 9692640"/>
              <a:gd name="csY30" fmla="*/ 18288 h 18288"/>
              <a:gd name="csX31" fmla="*/ 0 w 9692640"/>
              <a:gd name="csY3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1546AD-05B4-2F6C-B692-3214836DDA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25129582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564</Words>
  <Application>Microsoft Office PowerPoint</Application>
  <PresentationFormat>Breitbild</PresentationFormat>
  <Paragraphs>103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</vt:lpstr>
      <vt:lpstr>TP-Link ER706W Firewall &amp; Behaviour Control</vt:lpstr>
      <vt:lpstr>Inhaltsverzeichnis</vt:lpstr>
      <vt:lpstr>Anti ARP Spoofing</vt:lpstr>
      <vt:lpstr>Attack Defense – Flood Defense</vt:lpstr>
      <vt:lpstr>Attack Defense – Packet Anomaly</vt:lpstr>
      <vt:lpstr>MAC Filtering</vt:lpstr>
      <vt:lpstr>Access Control List (ACL)</vt:lpstr>
      <vt:lpstr>Application Control</vt:lpstr>
      <vt:lpstr>IPS / IDS</vt:lpstr>
      <vt:lpstr>Web Filtering</vt:lpstr>
      <vt:lpstr>Web Security</vt:lpstr>
      <vt:lpstr>Quellen</vt:lpstr>
      <vt:lpstr>Danke fürs Zuhören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Niklas Quandel</dc:creator>
  <cp:lastModifiedBy>Niklas Quandel</cp:lastModifiedBy>
  <cp:revision>1</cp:revision>
  <dcterms:created xsi:type="dcterms:W3CDTF">2025-12-17T12:06:57Z</dcterms:created>
  <dcterms:modified xsi:type="dcterms:W3CDTF">2025-12-17T14:43:58Z</dcterms:modified>
</cp:coreProperties>
</file>