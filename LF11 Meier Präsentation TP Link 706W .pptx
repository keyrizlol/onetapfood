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de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inleitung" id="{A84AFDAF-AEEB-49E1-8CE6-9138BA1230F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1F4FA1-5C69-441B-8A36-BF0FB235F183}" type="datetimeFigureOut">
              <a:rPr lang="de-DE" smtClean="0"/>
              <a:t>19.12.2025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5AA0E-08E2-43C7-9EF5-A07953E573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5404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B85DCD-1A4B-6D54-3006-CE4C61D6EF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5A968E4-FB37-30CD-9B61-223BCB29C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6B7112-C50F-108F-345E-708D299B2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92A1A3-4852-4D71-900D-BC10135B0117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2D37BA-8E27-5F01-BC56-4CCA62DD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B82E253-63C7-37D9-D4E9-5B374E2BF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1231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857F98-FEF6-280C-DB14-EE71C7AA7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D74548-677A-6F8D-D4BA-E044F3AB3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877881-F869-E435-0F90-EC36F265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C57F0-7D4B-471B-863C-9C026E014428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3D69347-B27F-1DE9-6CFB-21DFEABD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AD4AC8-298E-09F5-BFE8-97F8E216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9935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086A34-3192-1380-C0B9-F15A6DE02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EB2AE84-AD97-14EA-3465-1322F90E9A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3B8663-415D-36AD-8755-E2F8D1E01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9D422-70FB-4C93-B616-58B29C03488F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8A7259-6D01-E009-5610-03A3D3A44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E4AFB5-7928-5E4A-FBEE-B7C60C053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240637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4EA74-ABB4-C8A9-9DA5-70770D955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05F5D6-4F48-B5C3-FA01-03DBEDD778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DAC32C5-74DB-CF9C-994C-5A26D026D7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4F47D11-FED1-E98E-9A88-B292077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DF3E7-188A-408E-92BF-989D8425197C}" type="datetime1">
              <a:rPr lang="LID4096" smtClean="0"/>
              <a:t>12/19/2025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42533B1-8926-9971-4A3E-1C71AB266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DC49DC-79AC-E053-716F-A2EC3ED12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797408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D1FB9F-441D-292E-44D5-BEBA42E01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95F800-61E0-F28F-940E-2D7CB8854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7B17BBB-A057-7C13-B2FD-BE3FDB288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5404FA3-F87D-11EB-1D5A-339CF99BD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3B40D72-62CA-4454-3569-A8B4CB7560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09D450-CB4B-C15B-2EDE-592682E7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7EDB1-3804-4CD4-96F9-0CCB778BB164}" type="datetime1">
              <a:rPr lang="LID4096" smtClean="0"/>
              <a:t>12/19/2025</a:t>
            </a:fld>
            <a:endParaRPr lang="de-B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49426A-E1F6-EFDE-E252-888E68576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F0406EB-D41C-A050-FDCA-68D9F52A8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188265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21A25F-9720-FBEF-F9EA-C2B4F0A65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ADC17F5-8AD4-A332-E587-410DE369B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C9B47-FF2E-414C-BD33-BF429459CEC5}" type="datetime1">
              <a:rPr lang="LID4096" smtClean="0"/>
              <a:t>12/19/2025</a:t>
            </a:fld>
            <a:endParaRPr lang="de-B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2C4A75-FE51-D774-6447-650975099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064E8DE-DD13-A5FA-9A06-F7422FA87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763170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C2CD390-A780-03F1-8B77-FA5F207C3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CEDDB4-B43F-4726-984C-653A4967818D}" type="datetime1">
              <a:rPr lang="LID4096" smtClean="0"/>
              <a:t>12/19/2025</a:t>
            </a:fld>
            <a:endParaRPr lang="de-B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887FEA6-80A3-3759-3703-71A0DEE52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497F8F-5D98-F8FE-22A3-4EAAB69F9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468890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C7FAB-5C98-F25D-E76D-8D6E6EC35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4F48D3-1FF0-AA41-F34E-8EF6CC91D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0977CA-D58F-1BD5-5721-06DB1A56E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C9726B5-5B15-5C32-AAE6-A9F45262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E0E79-AB09-453A-BDE9-66902B4D26A9}" type="datetime1">
              <a:rPr lang="LID4096" smtClean="0"/>
              <a:t>12/19/2025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64C8CC5-5BD7-FE39-DA8E-75B88948C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B860F4-C4A4-CBD1-1254-554A4F4A0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2909161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70140F-A645-E95F-0690-C37C75AC91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7DDBC88-35F3-BAF1-AE80-68657FAB64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B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8253C07-9E12-B2C7-FF18-86D78C9040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D676D7A-3800-71E4-DB35-9D7090FDD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989BF-AAE3-4648-9A84-8F1B447ED668}" type="datetime1">
              <a:rPr lang="LID4096" smtClean="0"/>
              <a:t>12/19/2025</a:t>
            </a:fld>
            <a:endParaRPr lang="de-B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6793F0A-1F35-A7B3-43A1-78B7EECEA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84A696-42EA-46AE-E487-950804035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23333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D97AD-B69F-1F78-1CDE-0B06FA87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DB94CDF-89F2-4487-239E-3C649EECE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324AF8-911C-1E4C-4D3E-8BA6BF9E3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00E31-0287-4FD6-AD66-EBEE2D169F84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DAC5D0-2994-89F7-4414-C1E8B1C97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C24D615-43CE-FDE6-1FFE-9B9834C77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4153194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4395855-CD3B-EA02-4B9B-92DA51FD7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E3E8B3-280B-78F5-ACF6-61DF0F833D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0BB0A5-E4A7-85B2-5F96-B0CC5B2C9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3347-312D-4ADE-AE9F-A82E9B4AF341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3B2753C-26E4-78C4-D4BE-E90161177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D59C98-19F9-891A-21F9-4C29FE0B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105198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F64D43A-C5DF-84F6-8148-30F7428A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B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BA1C8-2ED4-66FF-B1D4-4894D390C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B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86F14-568E-EAD1-EE5E-8F2FA3DB7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7F2E93-0B2F-4A33-909D-978FDACD854A}" type="datetime1">
              <a:rPr lang="LID4096" smtClean="0"/>
              <a:t>12/19/2025</a:t>
            </a:fld>
            <a:endParaRPr lang="de-B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44AA29C-5364-F3D2-F196-CEE13E37B3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B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70EAE38-EC3B-5A69-D439-17ED0A9291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FB693C-3D3E-4164-9FC0-E9F6868342D2}" type="slidenum">
              <a:rPr lang="de-BE" smtClean="0"/>
              <a:t>‹Nr.›</a:t>
            </a:fld>
            <a:endParaRPr lang="de-BE"/>
          </a:p>
        </p:txBody>
      </p:sp>
    </p:spTree>
    <p:extLst>
      <p:ext uri="{BB962C8B-B14F-4D97-AF65-F5344CB8AC3E}">
        <p14:creationId xmlns:p14="http://schemas.microsoft.com/office/powerpoint/2010/main" val="381155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de.wikipedia.org/wiki/WinNuke" TargetMode="External"/><Relationship Id="rId3" Type="http://schemas.openxmlformats.org/officeDocument/2006/relationships/hyperlink" Target="https://emulator.tp-link.com/706W_1.20-emulator/index.html" TargetMode="External"/><Relationship Id="rId7" Type="http://schemas.openxmlformats.org/officeDocument/2006/relationships/hyperlink" Target="https://www.kentik.com/kentipedia/network-anomaly-detection/" TargetMode="External"/><Relationship Id="rId12" Type="http://schemas.openxmlformats.org/officeDocument/2006/relationships/hyperlink" Target="https://support.omadanetworks.com/nl-be/product/er706w-4g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map.org/book/scan-methods-null-fin-xmas-scan.html" TargetMode="External"/><Relationship Id="rId11" Type="http://schemas.openxmlformats.org/officeDocument/2006/relationships/hyperlink" Target="https://www.okta.com/de-de/identity-101/ids-vs-ips/" TargetMode="External"/><Relationship Id="rId5" Type="http://schemas.openxmlformats.org/officeDocument/2006/relationships/hyperlink" Target="https://de.wikipedia.org/wiki/ARP-Spoofing" TargetMode="External"/><Relationship Id="rId10" Type="http://schemas.openxmlformats.org/officeDocument/2006/relationships/hyperlink" Target="https://www.fortinet.com/resources/cyberglossary/access-control" TargetMode="External"/><Relationship Id="rId4" Type="http://schemas.openxmlformats.org/officeDocument/2006/relationships/hyperlink" Target="https://chatgpt.com/" TargetMode="External"/><Relationship Id="rId9" Type="http://schemas.openxmlformats.org/officeDocument/2006/relationships/hyperlink" Target="https://www.fortinet.com/resources/cyberglossary/network-access-control-list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What Is a Firewall? Its Role in Network Security | CyberDB">
            <a:extLst>
              <a:ext uri="{FF2B5EF4-FFF2-40B4-BE49-F238E27FC236}">
                <a16:creationId xmlns:a16="http://schemas.microsoft.com/office/drawing/2014/main" id="{6D034E24-FBD9-2CD0-36D7-42783389C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94" r="13543"/>
          <a:stretch>
            <a:fillRect/>
          </a:stretch>
        </p:blipFill>
        <p:spPr bwMode="auto">
          <a:xfrm>
            <a:off x="4283902" y="10"/>
            <a:ext cx="7908098" cy="685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1EEEE8-A371-C2E3-F351-5D201AD781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 fontScale="90000"/>
          </a:bodyPr>
          <a:lstStyle/>
          <a:p>
            <a:pPr algn="l"/>
            <a:r>
              <a:rPr lang="de-DE" dirty="0">
                <a:solidFill>
                  <a:schemeClr val="bg1"/>
                </a:solidFill>
              </a:rPr>
              <a:t>TP-Link ER706W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Firewall &amp; </a:t>
            </a:r>
            <a:r>
              <a:rPr lang="de-DE" dirty="0" err="1">
                <a:solidFill>
                  <a:schemeClr val="bg1"/>
                </a:solidFill>
              </a:rPr>
              <a:t>Behaviour</a:t>
            </a:r>
            <a:r>
              <a:rPr lang="de-DE" dirty="0">
                <a:solidFill>
                  <a:schemeClr val="bg1"/>
                </a:solidFill>
              </a:rPr>
              <a:t> Control</a:t>
            </a:r>
            <a:endParaRPr lang="de-BE" sz="5000" dirty="0">
              <a:solidFill>
                <a:schemeClr val="bg1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D75A363-B97B-3782-95A3-CE258D240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5505449" cy="16557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de-DE" sz="2000" dirty="0">
                <a:solidFill>
                  <a:schemeClr val="bg1"/>
                </a:solidFill>
              </a:rPr>
              <a:t>Eine Präsentation von</a:t>
            </a:r>
          </a:p>
          <a:p>
            <a:pPr algn="l"/>
            <a:endParaRPr lang="de-DE" sz="2000" dirty="0">
              <a:solidFill>
                <a:schemeClr val="bg1"/>
              </a:solidFill>
            </a:endParaRP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Eric Bayer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Niklas Quandel</a:t>
            </a:r>
          </a:p>
          <a:p>
            <a:pPr algn="l"/>
            <a:r>
              <a:rPr lang="de-DE" sz="2000" dirty="0">
                <a:solidFill>
                  <a:schemeClr val="bg1"/>
                </a:solidFill>
              </a:rPr>
              <a:t>Leander Tholen</a:t>
            </a:r>
            <a:endParaRPr lang="de-BE" sz="2000" dirty="0">
              <a:solidFill>
                <a:schemeClr val="bg1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9481CC-7F1D-5546-EDCD-239B11C90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DBCE2-418B-4D32-B6B6-FF37670E6BE0}" type="slidenum">
              <a:rPr lang="de-BE" sz="2000" smtClean="0"/>
              <a:t>1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3002152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Rectangle 205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Network Firewall Security: How You Can Make Full Use Of It">
            <a:extLst>
              <a:ext uri="{FF2B5EF4-FFF2-40B4-BE49-F238E27FC236}">
                <a16:creationId xmlns:a16="http://schemas.microsoft.com/office/drawing/2014/main" id="{E0514E7F-D72C-47AE-2A9E-9756A428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0"/>
          <a:stretch>
            <a:fillRect/>
          </a:stretch>
        </p:blipFill>
        <p:spPr bwMode="auto">
          <a:xfrm>
            <a:off x="0" y="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ABFEE5A-5B03-36B6-C303-0548C214E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rgbClr val="FFFFFF"/>
                </a:solidFill>
              </a:rPr>
              <a:t>Inhaltsverzeichnis</a:t>
            </a:r>
            <a:endParaRPr lang="de-BE" dirty="0">
              <a:solidFill>
                <a:srgbClr val="FFFF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9F41CD0-2C80-6F56-A3A0-FACE32F5C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FIREWALL				BEHAVIOUR CONTROL</a:t>
            </a:r>
          </a:p>
          <a:p>
            <a:pPr marL="0" indent="0">
              <a:buNone/>
            </a:pP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Anti ARP Spoofing		- Web </a:t>
            </a:r>
            <a:r>
              <a:rPr lang="de-DE" dirty="0" err="1">
                <a:solidFill>
                  <a:srgbClr val="FFFFFF"/>
                </a:solidFill>
              </a:rPr>
              <a:t>Filtering</a:t>
            </a: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</a:t>
            </a:r>
            <a:r>
              <a:rPr lang="de-DE" dirty="0" err="1">
                <a:solidFill>
                  <a:srgbClr val="FFFFFF"/>
                </a:solidFill>
              </a:rPr>
              <a:t>Attack</a:t>
            </a:r>
            <a:r>
              <a:rPr lang="de-DE" dirty="0">
                <a:solidFill>
                  <a:srgbClr val="FFFFFF"/>
                </a:solidFill>
              </a:rPr>
              <a:t> Defense			- Web Security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MAC </a:t>
            </a:r>
            <a:r>
              <a:rPr lang="de-DE" dirty="0" err="1">
                <a:solidFill>
                  <a:srgbClr val="FFFFFF"/>
                </a:solidFill>
              </a:rPr>
              <a:t>Filtering</a:t>
            </a:r>
            <a:endParaRPr lang="de-DE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Access Control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</a:t>
            </a:r>
            <a:r>
              <a:rPr lang="de-DE" dirty="0" err="1">
                <a:solidFill>
                  <a:srgbClr val="FFFFFF"/>
                </a:solidFill>
              </a:rPr>
              <a:t>Application</a:t>
            </a:r>
            <a:r>
              <a:rPr lang="de-DE" dirty="0">
                <a:solidFill>
                  <a:srgbClr val="FFFFFF"/>
                </a:solidFill>
              </a:rPr>
              <a:t> Control</a:t>
            </a:r>
          </a:p>
          <a:p>
            <a:pPr marL="0" indent="0">
              <a:buNone/>
            </a:pPr>
            <a:r>
              <a:rPr lang="de-DE" dirty="0">
                <a:solidFill>
                  <a:srgbClr val="FFFFFF"/>
                </a:solidFill>
              </a:rPr>
              <a:t>	- IPS / IDS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B783B9-CD21-C9EC-3763-77768484F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2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3296961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1A9F7B4E-B03D-4F64-BE33-00D074458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55B0E1BD-05EF-A53E-2A69-262E34B61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6C13991-49DA-30EA-8E6A-F0EE261F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Anti ARP Spoofing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7E2BE7F7-CA89-4002-ACCE-A478AEA24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49F912-CF22-8115-3EA9-3F693BAD6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r>
              <a:rPr lang="de-DE" sz="2200" dirty="0">
                <a:solidFill>
                  <a:schemeClr val="bg1"/>
                </a:solidFill>
              </a:rPr>
              <a:t>Basiert auf IP-MAC Binding</a:t>
            </a:r>
          </a:p>
          <a:p>
            <a:r>
              <a:rPr lang="de-DE" sz="2200" dirty="0" err="1">
                <a:solidFill>
                  <a:schemeClr val="bg1"/>
                </a:solidFill>
              </a:rPr>
              <a:t>Mapped</a:t>
            </a:r>
            <a:r>
              <a:rPr lang="de-DE" sz="2200" dirty="0">
                <a:solidFill>
                  <a:schemeClr val="bg1"/>
                </a:solidFill>
              </a:rPr>
              <a:t> IPs den entsprechenden MACs zu</a:t>
            </a:r>
          </a:p>
          <a:p>
            <a:r>
              <a:rPr lang="de-DE" sz="2200" dirty="0">
                <a:solidFill>
                  <a:schemeClr val="bg1"/>
                </a:solidFill>
              </a:rPr>
              <a:t>ARP Spoofing Angriffe versenden falsche Pakete</a:t>
            </a:r>
          </a:p>
          <a:p>
            <a:r>
              <a:rPr lang="de-DE" sz="2200" dirty="0">
                <a:solidFill>
                  <a:schemeClr val="bg1"/>
                </a:solidFill>
              </a:rPr>
              <a:t>Pakete werden fallen gelassen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Beim Angriff werden GARP Pakete verschickt</a:t>
            </a:r>
          </a:p>
          <a:p>
            <a:r>
              <a:rPr lang="de-DE" sz="2200" dirty="0">
                <a:solidFill>
                  <a:schemeClr val="bg1"/>
                </a:solidFill>
              </a:rPr>
              <a:t>ARP Tabellen werden korrekt </a:t>
            </a:r>
            <a:r>
              <a:rPr lang="de-DE" sz="2200" dirty="0" err="1">
                <a:solidFill>
                  <a:schemeClr val="bg1"/>
                </a:solidFill>
              </a:rPr>
              <a:t>geupdated</a:t>
            </a:r>
            <a:endParaRPr lang="de-BE" sz="2200" dirty="0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reenshot, Schrift enthält.">
            <a:extLst>
              <a:ext uri="{FF2B5EF4-FFF2-40B4-BE49-F238E27FC236}">
                <a16:creationId xmlns:a16="http://schemas.microsoft.com/office/drawing/2014/main" id="{87DD9056-8B9B-AA49-6CD7-211A858E7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373" y="2014340"/>
            <a:ext cx="4134427" cy="282932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627D822-6100-9352-7B7D-01713AD7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3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2726573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9D013A-D74A-F6BB-C17D-12CABAED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B6F8E1A3-4D3D-4D92-0EB5-FDD5CA239D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F1C90EB-46EC-6F4E-1311-59A3EA540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3F3B578-58A9-ADBD-F273-C22829093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Attack</a:t>
            </a:r>
            <a:r>
              <a:rPr lang="de-DE" sz="5400" dirty="0">
                <a:solidFill>
                  <a:schemeClr val="bg1"/>
                </a:solidFill>
              </a:rPr>
              <a:t> Defense – Flood Defense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012847C3-B8A3-6305-3436-177390951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6DD6D50-C5DF-39C2-B1DB-19791C28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endParaRPr lang="de-DE" sz="2200" dirty="0">
              <a:solidFill>
                <a:schemeClr val="bg1"/>
              </a:solidFill>
            </a:endParaRPr>
          </a:p>
          <a:p>
            <a:r>
              <a:rPr lang="de-DE" sz="2200" dirty="0">
                <a:solidFill>
                  <a:schemeClr val="bg1"/>
                </a:solidFill>
              </a:rPr>
              <a:t>Setzt Schwellenwerte für Paketlimits</a:t>
            </a:r>
          </a:p>
          <a:p>
            <a:r>
              <a:rPr lang="de-DE" sz="2200" dirty="0">
                <a:solidFill>
                  <a:schemeClr val="bg1"/>
                </a:solidFill>
              </a:rPr>
              <a:t>Pro Verbindung bzw. Quelle</a:t>
            </a:r>
          </a:p>
          <a:p>
            <a:r>
              <a:rPr lang="de-DE" sz="2200" dirty="0">
                <a:solidFill>
                  <a:schemeClr val="bg1"/>
                </a:solidFill>
              </a:rPr>
              <a:t>Einzelne Quelle = </a:t>
            </a:r>
            <a:r>
              <a:rPr lang="de-DE" sz="2200" dirty="0" err="1">
                <a:solidFill>
                  <a:schemeClr val="bg1"/>
                </a:solidFill>
              </a:rPr>
              <a:t>DoS</a:t>
            </a:r>
            <a:r>
              <a:rPr lang="de-DE" sz="2200" dirty="0">
                <a:solidFill>
                  <a:schemeClr val="bg1"/>
                </a:solidFill>
              </a:rPr>
              <a:t> (</a:t>
            </a:r>
            <a:r>
              <a:rPr lang="de-DE" sz="2200" dirty="0" err="1">
                <a:solidFill>
                  <a:schemeClr val="bg1"/>
                </a:solidFill>
              </a:rPr>
              <a:t>komp</a:t>
            </a:r>
            <a:r>
              <a:rPr lang="de-DE" sz="2200" dirty="0">
                <a:solidFill>
                  <a:schemeClr val="bg1"/>
                </a:solidFill>
              </a:rPr>
              <a:t>. Client)</a:t>
            </a:r>
          </a:p>
          <a:p>
            <a:r>
              <a:rPr lang="de-DE" sz="2200" dirty="0">
                <a:solidFill>
                  <a:schemeClr val="bg1"/>
                </a:solidFill>
              </a:rPr>
              <a:t>Mehrere Quellen = DDoS (z.B. </a:t>
            </a:r>
            <a:r>
              <a:rPr lang="de-DE" sz="2200" dirty="0" err="1">
                <a:solidFill>
                  <a:schemeClr val="bg1"/>
                </a:solidFill>
              </a:rPr>
              <a:t>Botnetzwerk</a:t>
            </a:r>
            <a:r>
              <a:rPr lang="de-DE" sz="2200" dirty="0">
                <a:solidFill>
                  <a:schemeClr val="bg1"/>
                </a:solidFill>
              </a:rPr>
              <a:t>)</a:t>
            </a:r>
          </a:p>
          <a:p>
            <a:r>
              <a:rPr lang="de-DE" sz="2200" dirty="0">
                <a:solidFill>
                  <a:schemeClr val="bg1"/>
                </a:solidFill>
              </a:rPr>
              <a:t>Verschiedene Protokolle bieten verschiedene Angriffsmöglichkeiten</a:t>
            </a:r>
          </a:p>
          <a:p>
            <a:r>
              <a:rPr lang="de-DE" sz="2200" dirty="0">
                <a:solidFill>
                  <a:schemeClr val="bg1"/>
                </a:solidFill>
              </a:rPr>
              <a:t>UDP „normaler“ als ICMP -&gt; höhere Schwellenwerte</a:t>
            </a:r>
          </a:p>
        </p:txBody>
      </p:sp>
      <p:pic>
        <p:nvPicPr>
          <p:cNvPr id="10" name="Grafik 9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CB19D65C-0031-4DA9-0A42-37C99E8D8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0688" y="1995302"/>
            <a:ext cx="4563112" cy="195289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BCD91BC-CC49-99F7-6530-3CDD656C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4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3559354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F77F65-7F5C-92C3-D96B-A2A44F06B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0FF6F32F-ACC6-D5A8-6549-20E2BA32CB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3B32BD50-618E-82B9-6E71-89D1C8FE9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C014A1-B0AA-B4E3-5C41-FDB12D1EC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Attack</a:t>
            </a:r>
            <a:r>
              <a:rPr lang="de-DE" sz="5400" dirty="0">
                <a:solidFill>
                  <a:schemeClr val="bg1"/>
                </a:solidFill>
              </a:rPr>
              <a:t> Defense – Packet </a:t>
            </a:r>
            <a:r>
              <a:rPr lang="de-DE" sz="5400" dirty="0" err="1">
                <a:solidFill>
                  <a:schemeClr val="bg1"/>
                </a:solidFill>
              </a:rPr>
              <a:t>Anomaly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A257C652-1EB3-3CF1-80A2-0A8C59F6C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0674E7-5680-E986-BAD2-D9D7ECE4C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Blockiert TCP – Scans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Irreguläre Flags (Stealth FIN / </a:t>
            </a:r>
            <a:r>
              <a:rPr lang="de-DE" sz="2200" dirty="0" err="1">
                <a:solidFill>
                  <a:schemeClr val="bg1"/>
                </a:solidFill>
              </a:rPr>
              <a:t>Xmas</a:t>
            </a:r>
            <a:r>
              <a:rPr lang="de-DE" sz="2200" dirty="0">
                <a:solidFill>
                  <a:schemeClr val="bg1"/>
                </a:solidFill>
              </a:rPr>
              <a:t> / Null)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RST – Check auf TCP Responses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Ping </a:t>
            </a:r>
            <a:r>
              <a:rPr lang="de-DE" sz="2200" dirty="0" err="1">
                <a:solidFill>
                  <a:schemeClr val="bg1"/>
                </a:solidFill>
              </a:rPr>
              <a:t>of</a:t>
            </a:r>
            <a:r>
              <a:rPr lang="de-DE" sz="2200" dirty="0">
                <a:solidFill>
                  <a:schemeClr val="bg1"/>
                </a:solidFill>
              </a:rPr>
              <a:t> Death (riesiges ICMP-Paket)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Large Ping (ICMP-Paket einer bestimmten Größe)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Ping aus dem WAN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WinNuke</a:t>
            </a:r>
            <a:r>
              <a:rPr lang="de-DE" sz="2200" dirty="0">
                <a:solidFill>
                  <a:schemeClr val="bg1"/>
                </a:solidFill>
              </a:rPr>
              <a:t> (0xFF Paket an Port 139 – </a:t>
            </a:r>
            <a:r>
              <a:rPr lang="de-DE" sz="2200" dirty="0" err="1">
                <a:solidFill>
                  <a:schemeClr val="bg1"/>
                </a:solidFill>
              </a:rPr>
              <a:t>pre</a:t>
            </a:r>
            <a:r>
              <a:rPr lang="de-DE" sz="2200" dirty="0">
                <a:solidFill>
                  <a:schemeClr val="bg1"/>
                </a:solidFill>
              </a:rPr>
              <a:t> 2000 OS)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Pakete mit bestimmten Bits und/oder Optionen)</a:t>
            </a:r>
          </a:p>
        </p:txBody>
      </p:sp>
      <p:pic>
        <p:nvPicPr>
          <p:cNvPr id="5" name="Grafik 4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4DC2089A-03BA-9790-ACDD-37D60F4F7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002" y="2004446"/>
            <a:ext cx="3553321" cy="417689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B8287E-57CB-1E51-D3D7-424ED18E9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5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2821057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116DAE-F732-1A88-B29E-721E19EB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3C2632C6-9BCC-442C-C9EF-B9D90EFBB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B54D788-27E4-177D-52DF-E8DE375FA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4159955-E5A9-65EC-E047-30E7FACC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MAC </a:t>
            </a:r>
            <a:r>
              <a:rPr lang="de-DE" sz="5400" dirty="0" err="1">
                <a:solidFill>
                  <a:schemeClr val="bg1"/>
                </a:solidFill>
              </a:rPr>
              <a:t>Filtering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63A56072-C3BE-4B63-7C1C-DF46DEFD4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36777C-CFB2-E3B6-240E-4F93F37FA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Steuert Netzzugang anhand von MAC Adressen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Funktioniert sowohl via Blacklist als auch Whitelist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Richtung kann bestimmt werden (LAN -&gt; WAN / WAN -&gt; LAN)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Kann leicht durch MAC Spoofing ausgehebelt werden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Hoher Pflegeaufwand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Ergänzt VLAN-Segmentierung für Gästezugriff</a:t>
            </a:r>
          </a:p>
          <a:p>
            <a:pPr marL="0" indent="0">
              <a:buNone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B24FBB8-2918-6681-CAE7-585BC9D18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6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919099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534EC-894D-7ABD-A40C-FE862D3E4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1CE90887-0931-86C9-7661-961B24D13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48A84CBF-93CE-6800-12CD-DAECA55EA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7E47718-0742-FB46-2CA8-EC195BFE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Access Control List (ACL)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F306C6AB-9923-184A-194B-12B0650D2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A737E5-2638-19F1-3419-BB32949BC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Operiert auf L3/L4 (IP / Protokoll / Port)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Regelt Datenverkehr zwischen Quellen und Zielen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Allow</a:t>
            </a:r>
            <a:r>
              <a:rPr lang="de-DE" sz="2200" dirty="0">
                <a:solidFill>
                  <a:schemeClr val="bg1"/>
                </a:solidFill>
              </a:rPr>
              <a:t> / Deny Prinzip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Verschiedene Services (TCP / SSH etc.)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Eingehende / Ausgehende Verbindungen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Quelle oder Ziele -&gt; IPs / Subnetze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Zeitlich gesteuert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pic>
        <p:nvPicPr>
          <p:cNvPr id="5" name="Grafik 4" descr="Ein Bild, das Text, Screenshot, Zahl, Schrift enthält.">
            <a:extLst>
              <a:ext uri="{FF2B5EF4-FFF2-40B4-BE49-F238E27FC236}">
                <a16:creationId xmlns:a16="http://schemas.microsoft.com/office/drawing/2014/main" id="{27FA6077-A489-154C-DE6C-AAE17A99B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3334" y="2004446"/>
            <a:ext cx="4141990" cy="4176897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006AE3C-38B2-E699-03C9-94D27FBAA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7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477558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821931-9963-96E4-6BB1-F900259ED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228765F3-2C47-7F62-949B-5EB2F376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A659B95C-4F8B-7A53-B6F4-01F5F0015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8E36C96-8571-0CAE-6161-87C3D07ED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 err="1">
                <a:solidFill>
                  <a:schemeClr val="bg1"/>
                </a:solidFill>
              </a:rPr>
              <a:t>Application</a:t>
            </a:r>
            <a:r>
              <a:rPr lang="de-DE" sz="5400" dirty="0">
                <a:solidFill>
                  <a:schemeClr val="bg1"/>
                </a:solidFill>
              </a:rPr>
              <a:t> Control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46FE4F7E-6036-6541-A025-0DC796E87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B88E23-7A5C-A7BE-19D9-1F4033790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Operiert bis Layer 7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Blockiert Applikationen nach Vorgaben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	- Name</a:t>
            </a:r>
          </a:p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	- Kategorie (z.B. </a:t>
            </a:r>
            <a:r>
              <a:rPr lang="de-DE" sz="2200" dirty="0" err="1">
                <a:solidFill>
                  <a:schemeClr val="bg1"/>
                </a:solidFill>
              </a:rPr>
              <a:t>Social</a:t>
            </a:r>
            <a:r>
              <a:rPr lang="de-DE" sz="2200" dirty="0">
                <a:solidFill>
                  <a:schemeClr val="bg1"/>
                </a:solidFill>
              </a:rPr>
              <a:t> Media, Gaming, Torrent)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Enthält Deep Packet </a:t>
            </a:r>
            <a:r>
              <a:rPr lang="de-DE" sz="2200" dirty="0" err="1">
                <a:solidFill>
                  <a:schemeClr val="bg1"/>
                </a:solidFill>
              </a:rPr>
              <a:t>Inspection</a:t>
            </a: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Applikationen nutzen </a:t>
            </a:r>
            <a:r>
              <a:rPr lang="de-DE" sz="2200" dirty="0" err="1">
                <a:solidFill>
                  <a:schemeClr val="bg1"/>
                </a:solidFill>
              </a:rPr>
              <a:t>u.A.</a:t>
            </a:r>
            <a:r>
              <a:rPr lang="de-DE" sz="2200" dirty="0">
                <a:solidFill>
                  <a:schemeClr val="bg1"/>
                </a:solidFill>
              </a:rPr>
              <a:t> </a:t>
            </a:r>
            <a:r>
              <a:rPr lang="de-DE" sz="2200" dirty="0" err="1">
                <a:solidFill>
                  <a:schemeClr val="bg1"/>
                </a:solidFill>
              </a:rPr>
              <a:t>dyn</a:t>
            </a:r>
            <a:r>
              <a:rPr lang="de-DE" sz="2200" dirty="0">
                <a:solidFill>
                  <a:schemeClr val="bg1"/>
                </a:solidFill>
              </a:rPr>
              <a:t>. Ports oder tunneln Traffic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Hohe CPU-Last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Kritische Infrastruktur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291A81-98AF-61B7-2E00-0030BA59D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8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130952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82704-9B43-A45D-5A15-B87DB0E63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75F18639-2ACF-FC34-2D74-657EDE898C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F7C8C869-E4B9-A9DB-49FF-3AEA796AF2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6B8E6E9-065C-710D-8FBE-147CCFFA2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IPS / IDS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9951CCF1-D2F6-7BE1-C021-BF818C588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B39B34-CD9C-8574-9B13-EDE40F001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>
                <a:solidFill>
                  <a:schemeClr val="bg1"/>
                </a:solidFill>
              </a:rPr>
              <a:t> - erkennt und blockiert verdächtigen Traffic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Basieren auf Signaturen und Anomalien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Gezielte Filterung -&gt;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IDS warnt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IPS blockiert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Logging</a:t>
            </a:r>
            <a:r>
              <a:rPr lang="de-DE" sz="2200" dirty="0">
                <a:solidFill>
                  <a:schemeClr val="bg1"/>
                </a:solidFill>
              </a:rPr>
              <a:t> zum Nachvollziehen von Vorfällen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IPS kann zu effektiv sein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IDS + </a:t>
            </a:r>
            <a:r>
              <a:rPr lang="de-DE" sz="2200" dirty="0" err="1">
                <a:solidFill>
                  <a:schemeClr val="bg1"/>
                </a:solidFill>
              </a:rPr>
              <a:t>Logging</a:t>
            </a:r>
            <a:r>
              <a:rPr lang="de-DE" sz="2200" dirty="0">
                <a:solidFill>
                  <a:schemeClr val="bg1"/>
                </a:solidFill>
              </a:rPr>
              <a:t> -&gt; gezielte Regeln + Whitelist</a:t>
            </a: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Im </a:t>
            </a:r>
            <a:r>
              <a:rPr lang="de-DE" sz="2200" dirty="0" err="1">
                <a:solidFill>
                  <a:schemeClr val="bg1"/>
                </a:solidFill>
              </a:rPr>
              <a:t>Threat</a:t>
            </a:r>
            <a:r>
              <a:rPr lang="de-DE" sz="2200" dirty="0">
                <a:solidFill>
                  <a:schemeClr val="bg1"/>
                </a:solidFill>
              </a:rPr>
              <a:t> Management und Block List verwaltet</a:t>
            </a:r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4FE578F8-F2C2-0FA3-E7EF-220FFF02B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832" y="2055803"/>
            <a:ext cx="3725491" cy="4125540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55877D4-AED0-5BC9-67B5-129D6710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9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238554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374E2-F6A8-B5DB-10D6-D5D22F88F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EE434327-8541-D979-75F4-8400DF339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70EA9772-268F-6377-A12D-6B39AD062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A9ACFD3-1FB8-4887-5DF8-3C16DD398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Web </a:t>
            </a:r>
            <a:r>
              <a:rPr lang="de-DE" sz="5400" dirty="0" err="1">
                <a:solidFill>
                  <a:schemeClr val="bg1"/>
                </a:solidFill>
              </a:rPr>
              <a:t>Filtering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B0FC77EE-E7A9-D4DE-1AAF-D5B7A3ACF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91B39D-B58F-C8B1-5273-5386F4BF9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Unterteilung in Gruppen von Geräten / Kategorien / URLs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Geräte bzw. Benutzergruppen ( Admins / Mitarbeiter / Gäste)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Kategorien wie z.B. </a:t>
            </a:r>
            <a:r>
              <a:rPr lang="de-DE" sz="2200" dirty="0" err="1">
                <a:solidFill>
                  <a:schemeClr val="bg1"/>
                </a:solidFill>
              </a:rPr>
              <a:t>Social</a:t>
            </a:r>
            <a:r>
              <a:rPr lang="de-DE" sz="2200" dirty="0">
                <a:solidFill>
                  <a:schemeClr val="bg1"/>
                </a:solidFill>
              </a:rPr>
              <a:t> Media , Pornographie etc.</a:t>
            </a:r>
          </a:p>
          <a:p>
            <a:pPr>
              <a:buFontTx/>
              <a:buChar char="-"/>
            </a:pPr>
            <a:r>
              <a:rPr lang="de-DE" sz="2200" dirty="0" err="1">
                <a:solidFill>
                  <a:schemeClr val="bg1"/>
                </a:solidFill>
              </a:rPr>
              <a:t>Regelset</a:t>
            </a:r>
            <a:r>
              <a:rPr lang="de-DE" sz="2200" dirty="0">
                <a:solidFill>
                  <a:schemeClr val="bg1"/>
                </a:solidFill>
              </a:rPr>
              <a:t> -&gt; </a:t>
            </a:r>
            <a:r>
              <a:rPr lang="de-DE" sz="2200" dirty="0" err="1">
                <a:solidFill>
                  <a:schemeClr val="bg1"/>
                </a:solidFill>
              </a:rPr>
              <a:t>Allow</a:t>
            </a:r>
            <a:r>
              <a:rPr lang="de-DE" sz="2200" dirty="0">
                <a:solidFill>
                  <a:schemeClr val="bg1"/>
                </a:solidFill>
              </a:rPr>
              <a:t> / Deny / Warn und Zeitbasiert 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URL </a:t>
            </a:r>
            <a:r>
              <a:rPr lang="de-DE" sz="2200" dirty="0" err="1">
                <a:solidFill>
                  <a:schemeClr val="bg1"/>
                </a:solidFill>
              </a:rPr>
              <a:t>Filtering</a:t>
            </a:r>
            <a:r>
              <a:rPr lang="de-DE" sz="2200" dirty="0">
                <a:solidFill>
                  <a:schemeClr val="bg1"/>
                </a:solidFill>
              </a:rPr>
              <a:t> spez. URLs bzw. Domains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4713D8-5406-CCEC-447A-BC2C4DDC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10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3082570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912C0F-D09E-75BF-6082-A6E51145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841E9628-1666-E214-BB72-685C86E5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4946EEF7-71D8-C981-1118-DD3CCB0AC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6FABE19-CA30-805C-426D-B13EF671F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Web Security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588E3C6F-9451-8C7B-682F-FF79B0F4A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93032E-91ED-35C3-1C0E-82ED807E7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Kontrolliert spezifisches Online Verhalten lokaler User</a:t>
            </a:r>
          </a:p>
          <a:p>
            <a:pPr>
              <a:buFontTx/>
              <a:buChar char="-"/>
            </a:pPr>
            <a:endParaRPr lang="de-DE" sz="22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200" dirty="0">
                <a:solidFill>
                  <a:schemeClr val="bg1"/>
                </a:solidFill>
              </a:rPr>
              <a:t>HTTP POST blockieren</a:t>
            </a: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Verhindert Login, Kommentare oder andere POST-Operationen</a:t>
            </a:r>
          </a:p>
          <a:p>
            <a:pPr>
              <a:buFontTx/>
              <a:buChar char="-"/>
            </a:pPr>
            <a:endParaRPr lang="de-DE" sz="2400" dirty="0">
              <a:solidFill>
                <a:schemeClr val="bg1"/>
              </a:solidFill>
            </a:endParaRP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Dateitypen blockieren</a:t>
            </a:r>
          </a:p>
          <a:p>
            <a:pPr>
              <a:buFontTx/>
              <a:buChar char="-"/>
            </a:pPr>
            <a:r>
              <a:rPr lang="de-DE" sz="2400" dirty="0">
                <a:solidFill>
                  <a:schemeClr val="bg1"/>
                </a:solidFill>
              </a:rPr>
              <a:t>Verhindert Herunterladen bestimmter Dateien aus dem Internet</a:t>
            </a:r>
            <a:endParaRPr lang="de-DE" sz="2200" dirty="0">
              <a:solidFill>
                <a:schemeClr val="bg1"/>
              </a:solidFill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5C09643-E7A6-C909-07DA-F13DA03A6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11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1442539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2EF0D-9862-21D5-EBB3-C790B9EDB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CCDD7C09-8ED4-ADA9-FCCB-FE1F36CA9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F7B8CCB0-B9A2-7F5F-C193-C2BC8FE4F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7" y="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987D004-25BB-C402-61E1-E31E05B9D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DE" sz="5400" dirty="0">
                <a:solidFill>
                  <a:schemeClr val="bg1"/>
                </a:solidFill>
              </a:rPr>
              <a:t>Quellen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98296C0F-2B3A-D8D3-FEFC-3701FE1AAC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EA70E-BD34-D929-6209-45148F2BB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sz="2400" dirty="0">
                <a:hlinkClick r:id="rId3"/>
              </a:rPr>
              <a:t>emulator.tp-link.com/706W_1.20-emulator/index.html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4"/>
              </a:rPr>
              <a:t>ChatGPT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5"/>
              </a:rPr>
              <a:t>ARP-Spoofing – Wikipedia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6"/>
              </a:rPr>
              <a:t>TCP FIN, NULL, and </a:t>
            </a:r>
            <a:r>
              <a:rPr lang="de-DE" sz="2400" dirty="0" err="1">
                <a:hlinkClick r:id="rId6"/>
              </a:rPr>
              <a:t>Xmas</a:t>
            </a:r>
            <a:r>
              <a:rPr lang="de-DE" sz="2400" dirty="0">
                <a:hlinkClick r:id="rId6"/>
              </a:rPr>
              <a:t> Scans (-</a:t>
            </a:r>
            <a:r>
              <a:rPr lang="de-DE" sz="2400" dirty="0" err="1">
                <a:hlinkClick r:id="rId6"/>
              </a:rPr>
              <a:t>sF</a:t>
            </a:r>
            <a:r>
              <a:rPr lang="de-DE" sz="2400" dirty="0">
                <a:hlinkClick r:id="rId6"/>
              </a:rPr>
              <a:t>, -</a:t>
            </a:r>
            <a:r>
              <a:rPr lang="de-DE" sz="2400" dirty="0" err="1">
                <a:hlinkClick r:id="rId6"/>
              </a:rPr>
              <a:t>sN</a:t>
            </a:r>
            <a:r>
              <a:rPr lang="de-DE" sz="2400" dirty="0">
                <a:hlinkClick r:id="rId6"/>
              </a:rPr>
              <a:t>, -</a:t>
            </a:r>
            <a:r>
              <a:rPr lang="de-DE" sz="2400" dirty="0" err="1">
                <a:hlinkClick r:id="rId6"/>
              </a:rPr>
              <a:t>sX</a:t>
            </a:r>
            <a:r>
              <a:rPr lang="de-DE" sz="2400" dirty="0">
                <a:hlinkClick r:id="rId6"/>
              </a:rPr>
              <a:t>) | </a:t>
            </a:r>
            <a:r>
              <a:rPr lang="de-DE" sz="2400" dirty="0" err="1">
                <a:hlinkClick r:id="rId6"/>
              </a:rPr>
              <a:t>Nmap</a:t>
            </a:r>
            <a:r>
              <a:rPr lang="de-DE" sz="2400" dirty="0">
                <a:hlinkClick r:id="rId6"/>
              </a:rPr>
              <a:t> Network Scanning</a:t>
            </a:r>
            <a:endParaRPr lang="de-DE" sz="2400" dirty="0"/>
          </a:p>
          <a:p>
            <a:pPr marL="0" indent="0">
              <a:buNone/>
            </a:pPr>
            <a:r>
              <a:rPr lang="en-US" sz="2400" dirty="0">
                <a:hlinkClick r:id="rId7"/>
              </a:rPr>
              <a:t>Network Anomaly Detection: A Comprehensive Guide | </a:t>
            </a:r>
            <a:r>
              <a:rPr lang="en-US" sz="2400" dirty="0" err="1">
                <a:hlinkClick r:id="rId7"/>
              </a:rPr>
              <a:t>Kentik</a:t>
            </a:r>
            <a:endParaRPr lang="en-US" sz="2400" dirty="0"/>
          </a:p>
          <a:p>
            <a:pPr marL="0" indent="0">
              <a:buNone/>
            </a:pPr>
            <a:r>
              <a:rPr lang="de-DE" sz="2400" dirty="0" err="1">
                <a:hlinkClick r:id="rId8"/>
              </a:rPr>
              <a:t>WinNuke</a:t>
            </a:r>
            <a:r>
              <a:rPr lang="de-DE" sz="2400" dirty="0">
                <a:hlinkClick r:id="rId8"/>
              </a:rPr>
              <a:t> – Wikipedia</a:t>
            </a:r>
            <a:endParaRPr lang="de-DE" sz="2400" dirty="0"/>
          </a:p>
          <a:p>
            <a:pPr marL="0" indent="0">
              <a:buNone/>
            </a:pPr>
            <a:r>
              <a:rPr lang="en-US" sz="2400" dirty="0">
                <a:hlinkClick r:id="rId9"/>
              </a:rPr>
              <a:t>What Is a Network Access Control List (ACL)? | Fortinet</a:t>
            </a:r>
            <a:endParaRPr lang="en-US" sz="2400" dirty="0"/>
          </a:p>
          <a:p>
            <a:pPr marL="0" indent="0">
              <a:buNone/>
            </a:pPr>
            <a:r>
              <a:rPr lang="en-US" sz="2400" dirty="0">
                <a:hlinkClick r:id="rId10"/>
              </a:rPr>
              <a:t>What Is Access Control? - Network Cybersecurity Systems | Fortinet</a:t>
            </a:r>
            <a:endParaRPr lang="en-US" sz="2400" dirty="0"/>
          </a:p>
          <a:p>
            <a:pPr marL="0" indent="0">
              <a:buNone/>
            </a:pPr>
            <a:r>
              <a:rPr lang="de-DE" sz="2400" dirty="0">
                <a:hlinkClick r:id="rId11"/>
              </a:rPr>
              <a:t>IDS und IPS: Die Haupt-Unterschiede und Ähnlichkeiten | Okta</a:t>
            </a:r>
            <a:endParaRPr lang="de-DE" sz="2400" dirty="0"/>
          </a:p>
          <a:p>
            <a:pPr marL="0" indent="0">
              <a:buNone/>
            </a:pPr>
            <a:r>
              <a:rPr lang="de-DE" sz="2400" dirty="0">
                <a:hlinkClick r:id="rId12"/>
              </a:rPr>
              <a:t>ER706W-4G | </a:t>
            </a:r>
            <a:r>
              <a:rPr lang="de-DE" sz="2400" dirty="0" err="1">
                <a:hlinkClick r:id="rId12"/>
              </a:rPr>
              <a:t>Omada</a:t>
            </a:r>
            <a:r>
              <a:rPr lang="de-DE" sz="2400" dirty="0">
                <a:hlinkClick r:id="rId12"/>
              </a:rPr>
              <a:t> Network Support</a:t>
            </a:r>
            <a:endParaRPr lang="de-DE" sz="2400" dirty="0"/>
          </a:p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C84958E-344E-CE2A-984E-2D73A7A5D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12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754341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CF620-308F-A3C0-C1EB-03378846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3080">
            <a:extLst>
              <a:ext uri="{FF2B5EF4-FFF2-40B4-BE49-F238E27FC236}">
                <a16:creationId xmlns:a16="http://schemas.microsoft.com/office/drawing/2014/main" id="{8026DC4D-7623-CAC7-FD72-3490D61E8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6" name="Picture 4" descr="Rethinking Firewall and Proxy Management for Enterprise Agility">
            <a:extLst>
              <a:ext uri="{FF2B5EF4-FFF2-40B4-BE49-F238E27FC236}">
                <a16:creationId xmlns:a16="http://schemas.microsoft.com/office/drawing/2014/main" id="{B17480FF-2562-9AB9-49C4-639A13995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27" y="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37CFDD3-4E90-5F0C-E91F-49B4A4697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de-DE" sz="5400" dirty="0">
                <a:solidFill>
                  <a:schemeClr val="bg1"/>
                </a:solidFill>
              </a:rPr>
              <a:t>Danke fürs Zuhören</a:t>
            </a:r>
            <a:endParaRPr lang="de-BE" sz="5400" dirty="0">
              <a:solidFill>
                <a:schemeClr val="bg1"/>
              </a:solidFill>
            </a:endParaRPr>
          </a:p>
        </p:txBody>
      </p:sp>
      <p:sp>
        <p:nvSpPr>
          <p:cNvPr id="3090" name="sketchy line">
            <a:extLst>
              <a:ext uri="{FF2B5EF4-FFF2-40B4-BE49-F238E27FC236}">
                <a16:creationId xmlns:a16="http://schemas.microsoft.com/office/drawing/2014/main" id="{C9AB4C94-C14E-AAEB-23FC-0DAB581D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399" y="1681544"/>
            <a:ext cx="9692640" cy="18288"/>
          </a:xfrm>
          <a:custGeom>
            <a:avLst/>
            <a:gdLst>
              <a:gd name="csX0" fmla="*/ 0 w 9692640"/>
              <a:gd name="csY0" fmla="*/ 0 h 18288"/>
              <a:gd name="csX1" fmla="*/ 401552 w 9692640"/>
              <a:gd name="csY1" fmla="*/ 0 h 18288"/>
              <a:gd name="csX2" fmla="*/ 996957 w 9692640"/>
              <a:gd name="csY2" fmla="*/ 0 h 18288"/>
              <a:gd name="csX3" fmla="*/ 1398509 w 9692640"/>
              <a:gd name="csY3" fmla="*/ 0 h 18288"/>
              <a:gd name="csX4" fmla="*/ 2090841 w 9692640"/>
              <a:gd name="csY4" fmla="*/ 0 h 18288"/>
              <a:gd name="csX5" fmla="*/ 2686246 w 9692640"/>
              <a:gd name="csY5" fmla="*/ 0 h 18288"/>
              <a:gd name="csX6" fmla="*/ 3475504 w 9692640"/>
              <a:gd name="csY6" fmla="*/ 0 h 18288"/>
              <a:gd name="csX7" fmla="*/ 4361688 w 9692640"/>
              <a:gd name="csY7" fmla="*/ 0 h 18288"/>
              <a:gd name="csX8" fmla="*/ 5054019 w 9692640"/>
              <a:gd name="csY8" fmla="*/ 0 h 18288"/>
              <a:gd name="csX9" fmla="*/ 5940204 w 9692640"/>
              <a:gd name="csY9" fmla="*/ 0 h 18288"/>
              <a:gd name="csX10" fmla="*/ 6632535 w 9692640"/>
              <a:gd name="csY10" fmla="*/ 0 h 18288"/>
              <a:gd name="csX11" fmla="*/ 7034087 w 9692640"/>
              <a:gd name="csY11" fmla="*/ 0 h 18288"/>
              <a:gd name="csX12" fmla="*/ 7532566 w 9692640"/>
              <a:gd name="csY12" fmla="*/ 0 h 18288"/>
              <a:gd name="csX13" fmla="*/ 8418750 w 9692640"/>
              <a:gd name="csY13" fmla="*/ 0 h 18288"/>
              <a:gd name="csX14" fmla="*/ 9692640 w 9692640"/>
              <a:gd name="csY14" fmla="*/ 0 h 18288"/>
              <a:gd name="csX15" fmla="*/ 9692640 w 9692640"/>
              <a:gd name="csY15" fmla="*/ 18288 h 18288"/>
              <a:gd name="csX16" fmla="*/ 9000309 w 9692640"/>
              <a:gd name="csY16" fmla="*/ 18288 h 18288"/>
              <a:gd name="csX17" fmla="*/ 8307977 w 9692640"/>
              <a:gd name="csY17" fmla="*/ 18288 h 18288"/>
              <a:gd name="csX18" fmla="*/ 7712572 w 9692640"/>
              <a:gd name="csY18" fmla="*/ 18288 h 18288"/>
              <a:gd name="csX19" fmla="*/ 7214093 w 9692640"/>
              <a:gd name="csY19" fmla="*/ 18288 h 18288"/>
              <a:gd name="csX20" fmla="*/ 6327909 w 9692640"/>
              <a:gd name="csY20" fmla="*/ 18288 h 18288"/>
              <a:gd name="csX21" fmla="*/ 5635578 w 9692640"/>
              <a:gd name="csY21" fmla="*/ 18288 h 18288"/>
              <a:gd name="csX22" fmla="*/ 4846320 w 9692640"/>
              <a:gd name="csY22" fmla="*/ 18288 h 18288"/>
              <a:gd name="csX23" fmla="*/ 4444768 w 9692640"/>
              <a:gd name="csY23" fmla="*/ 18288 h 18288"/>
              <a:gd name="csX24" fmla="*/ 3946289 w 9692640"/>
              <a:gd name="csY24" fmla="*/ 18288 h 18288"/>
              <a:gd name="csX25" fmla="*/ 3253958 w 9692640"/>
              <a:gd name="csY25" fmla="*/ 18288 h 18288"/>
              <a:gd name="csX26" fmla="*/ 2464700 w 9692640"/>
              <a:gd name="csY26" fmla="*/ 18288 h 18288"/>
              <a:gd name="csX27" fmla="*/ 2063148 w 9692640"/>
              <a:gd name="csY27" fmla="*/ 18288 h 18288"/>
              <a:gd name="csX28" fmla="*/ 1661595 w 9692640"/>
              <a:gd name="csY28" fmla="*/ 18288 h 18288"/>
              <a:gd name="csX29" fmla="*/ 969264 w 9692640"/>
              <a:gd name="csY29" fmla="*/ 18288 h 18288"/>
              <a:gd name="csX30" fmla="*/ 0 w 9692640"/>
              <a:gd name="csY30" fmla="*/ 18288 h 18288"/>
              <a:gd name="csX31" fmla="*/ 0 w 9692640"/>
              <a:gd name="csY3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9692640" h="18288" fill="none" extrusionOk="0">
                <a:moveTo>
                  <a:pt x="0" y="0"/>
                </a:moveTo>
                <a:cubicBezTo>
                  <a:pt x="142992" y="4732"/>
                  <a:pt x="265909" y="-3365"/>
                  <a:pt x="401552" y="0"/>
                </a:cubicBezTo>
                <a:cubicBezTo>
                  <a:pt x="537195" y="3365"/>
                  <a:pt x="738153" y="6482"/>
                  <a:pt x="996957" y="0"/>
                </a:cubicBezTo>
                <a:cubicBezTo>
                  <a:pt x="1255762" y="-6482"/>
                  <a:pt x="1280511" y="12509"/>
                  <a:pt x="1398509" y="0"/>
                </a:cubicBezTo>
                <a:cubicBezTo>
                  <a:pt x="1516507" y="-12509"/>
                  <a:pt x="1782573" y="-31523"/>
                  <a:pt x="2090841" y="0"/>
                </a:cubicBezTo>
                <a:cubicBezTo>
                  <a:pt x="2399109" y="31523"/>
                  <a:pt x="2488380" y="26286"/>
                  <a:pt x="2686246" y="0"/>
                </a:cubicBezTo>
                <a:cubicBezTo>
                  <a:pt x="2884112" y="-26286"/>
                  <a:pt x="3186024" y="-14734"/>
                  <a:pt x="3475504" y="0"/>
                </a:cubicBezTo>
                <a:cubicBezTo>
                  <a:pt x="3764984" y="14734"/>
                  <a:pt x="4053017" y="43292"/>
                  <a:pt x="4361688" y="0"/>
                </a:cubicBezTo>
                <a:cubicBezTo>
                  <a:pt x="4670359" y="-43292"/>
                  <a:pt x="4736164" y="-729"/>
                  <a:pt x="5054019" y="0"/>
                </a:cubicBezTo>
                <a:cubicBezTo>
                  <a:pt x="5371874" y="729"/>
                  <a:pt x="5543528" y="-22963"/>
                  <a:pt x="5940204" y="0"/>
                </a:cubicBezTo>
                <a:cubicBezTo>
                  <a:pt x="6336881" y="22963"/>
                  <a:pt x="6423838" y="6469"/>
                  <a:pt x="6632535" y="0"/>
                </a:cubicBezTo>
                <a:cubicBezTo>
                  <a:pt x="6841232" y="-6469"/>
                  <a:pt x="6852819" y="17036"/>
                  <a:pt x="7034087" y="0"/>
                </a:cubicBezTo>
                <a:cubicBezTo>
                  <a:pt x="7215355" y="-17036"/>
                  <a:pt x="7313136" y="11151"/>
                  <a:pt x="7532566" y="0"/>
                </a:cubicBezTo>
                <a:cubicBezTo>
                  <a:pt x="7751996" y="-11151"/>
                  <a:pt x="8015001" y="25614"/>
                  <a:pt x="8418750" y="0"/>
                </a:cubicBezTo>
                <a:cubicBezTo>
                  <a:pt x="8822499" y="-25614"/>
                  <a:pt x="9163239" y="48603"/>
                  <a:pt x="9692640" y="0"/>
                </a:cubicBezTo>
                <a:cubicBezTo>
                  <a:pt x="9691955" y="4437"/>
                  <a:pt x="9693170" y="10717"/>
                  <a:pt x="9692640" y="18288"/>
                </a:cubicBezTo>
                <a:cubicBezTo>
                  <a:pt x="9545125" y="42172"/>
                  <a:pt x="9164259" y="6706"/>
                  <a:pt x="9000309" y="18288"/>
                </a:cubicBezTo>
                <a:cubicBezTo>
                  <a:pt x="8836359" y="29870"/>
                  <a:pt x="8521035" y="-14108"/>
                  <a:pt x="8307977" y="18288"/>
                </a:cubicBezTo>
                <a:cubicBezTo>
                  <a:pt x="8094919" y="50684"/>
                  <a:pt x="7881757" y="11235"/>
                  <a:pt x="7712572" y="18288"/>
                </a:cubicBezTo>
                <a:cubicBezTo>
                  <a:pt x="7543387" y="25341"/>
                  <a:pt x="7358861" y="20625"/>
                  <a:pt x="7214093" y="18288"/>
                </a:cubicBezTo>
                <a:cubicBezTo>
                  <a:pt x="7069325" y="15951"/>
                  <a:pt x="6523705" y="52160"/>
                  <a:pt x="6327909" y="18288"/>
                </a:cubicBezTo>
                <a:cubicBezTo>
                  <a:pt x="6132113" y="-15584"/>
                  <a:pt x="5923847" y="21204"/>
                  <a:pt x="5635578" y="18288"/>
                </a:cubicBezTo>
                <a:cubicBezTo>
                  <a:pt x="5347309" y="15372"/>
                  <a:pt x="5114749" y="50642"/>
                  <a:pt x="4846320" y="18288"/>
                </a:cubicBezTo>
                <a:cubicBezTo>
                  <a:pt x="4577891" y="-14066"/>
                  <a:pt x="4576701" y="1487"/>
                  <a:pt x="4444768" y="18288"/>
                </a:cubicBezTo>
                <a:cubicBezTo>
                  <a:pt x="4312835" y="35089"/>
                  <a:pt x="4112575" y="15158"/>
                  <a:pt x="3946289" y="18288"/>
                </a:cubicBezTo>
                <a:cubicBezTo>
                  <a:pt x="3780003" y="21418"/>
                  <a:pt x="3396009" y="18797"/>
                  <a:pt x="3253958" y="18288"/>
                </a:cubicBezTo>
                <a:cubicBezTo>
                  <a:pt x="3111907" y="17779"/>
                  <a:pt x="2760272" y="57223"/>
                  <a:pt x="2464700" y="18288"/>
                </a:cubicBezTo>
                <a:cubicBezTo>
                  <a:pt x="2169128" y="-20647"/>
                  <a:pt x="2232262" y="7960"/>
                  <a:pt x="2063148" y="18288"/>
                </a:cubicBezTo>
                <a:cubicBezTo>
                  <a:pt x="1894034" y="28616"/>
                  <a:pt x="1799338" y="3019"/>
                  <a:pt x="1661595" y="18288"/>
                </a:cubicBezTo>
                <a:cubicBezTo>
                  <a:pt x="1523852" y="33557"/>
                  <a:pt x="1113928" y="-4352"/>
                  <a:pt x="969264" y="18288"/>
                </a:cubicBezTo>
                <a:cubicBezTo>
                  <a:pt x="824600" y="40928"/>
                  <a:pt x="356149" y="-3128"/>
                  <a:pt x="0" y="18288"/>
                </a:cubicBezTo>
                <a:cubicBezTo>
                  <a:pt x="-540" y="12521"/>
                  <a:pt x="894" y="7749"/>
                  <a:pt x="0" y="0"/>
                </a:cubicBezTo>
                <a:close/>
              </a:path>
              <a:path w="9692640" h="18288" stroke="0" extrusionOk="0">
                <a:moveTo>
                  <a:pt x="0" y="0"/>
                </a:moveTo>
                <a:cubicBezTo>
                  <a:pt x="162642" y="3864"/>
                  <a:pt x="346119" y="-18364"/>
                  <a:pt x="498479" y="0"/>
                </a:cubicBezTo>
                <a:cubicBezTo>
                  <a:pt x="650839" y="18364"/>
                  <a:pt x="712065" y="-9389"/>
                  <a:pt x="900031" y="0"/>
                </a:cubicBezTo>
                <a:cubicBezTo>
                  <a:pt x="1087997" y="9389"/>
                  <a:pt x="1177291" y="3685"/>
                  <a:pt x="1398509" y="0"/>
                </a:cubicBezTo>
                <a:cubicBezTo>
                  <a:pt x="1619727" y="-3685"/>
                  <a:pt x="1874008" y="-8897"/>
                  <a:pt x="2090841" y="0"/>
                </a:cubicBezTo>
                <a:cubicBezTo>
                  <a:pt x="2307674" y="8897"/>
                  <a:pt x="2573432" y="-313"/>
                  <a:pt x="2880099" y="0"/>
                </a:cubicBezTo>
                <a:cubicBezTo>
                  <a:pt x="3186766" y="313"/>
                  <a:pt x="3422577" y="10664"/>
                  <a:pt x="3766283" y="0"/>
                </a:cubicBezTo>
                <a:cubicBezTo>
                  <a:pt x="4109989" y="-10664"/>
                  <a:pt x="4342683" y="-32873"/>
                  <a:pt x="4652467" y="0"/>
                </a:cubicBezTo>
                <a:cubicBezTo>
                  <a:pt x="4962251" y="32873"/>
                  <a:pt x="5122120" y="29155"/>
                  <a:pt x="5247872" y="0"/>
                </a:cubicBezTo>
                <a:cubicBezTo>
                  <a:pt x="5373625" y="-29155"/>
                  <a:pt x="5749491" y="1706"/>
                  <a:pt x="6037130" y="0"/>
                </a:cubicBezTo>
                <a:cubicBezTo>
                  <a:pt x="6324769" y="-1706"/>
                  <a:pt x="6531407" y="1172"/>
                  <a:pt x="6729461" y="0"/>
                </a:cubicBezTo>
                <a:cubicBezTo>
                  <a:pt x="6927515" y="-1172"/>
                  <a:pt x="7096794" y="-1520"/>
                  <a:pt x="7324867" y="0"/>
                </a:cubicBezTo>
                <a:cubicBezTo>
                  <a:pt x="7552940" y="1520"/>
                  <a:pt x="7878827" y="-17110"/>
                  <a:pt x="8114124" y="0"/>
                </a:cubicBezTo>
                <a:cubicBezTo>
                  <a:pt x="8349421" y="17110"/>
                  <a:pt x="8334208" y="15114"/>
                  <a:pt x="8515677" y="0"/>
                </a:cubicBezTo>
                <a:cubicBezTo>
                  <a:pt x="8697146" y="-15114"/>
                  <a:pt x="9236164" y="22466"/>
                  <a:pt x="9692640" y="0"/>
                </a:cubicBezTo>
                <a:cubicBezTo>
                  <a:pt x="9692735" y="8251"/>
                  <a:pt x="9692514" y="12333"/>
                  <a:pt x="9692640" y="18288"/>
                </a:cubicBezTo>
                <a:cubicBezTo>
                  <a:pt x="9410102" y="47398"/>
                  <a:pt x="9172773" y="7109"/>
                  <a:pt x="9000309" y="18288"/>
                </a:cubicBezTo>
                <a:cubicBezTo>
                  <a:pt x="8827845" y="29467"/>
                  <a:pt x="8713608" y="28372"/>
                  <a:pt x="8501830" y="18288"/>
                </a:cubicBezTo>
                <a:cubicBezTo>
                  <a:pt x="8290052" y="8204"/>
                  <a:pt x="7893416" y="3561"/>
                  <a:pt x="7712572" y="18288"/>
                </a:cubicBezTo>
                <a:cubicBezTo>
                  <a:pt x="7531728" y="33015"/>
                  <a:pt x="7480716" y="17052"/>
                  <a:pt x="7311020" y="18288"/>
                </a:cubicBezTo>
                <a:cubicBezTo>
                  <a:pt x="7141324" y="19524"/>
                  <a:pt x="6962706" y="15975"/>
                  <a:pt x="6618688" y="18288"/>
                </a:cubicBezTo>
                <a:cubicBezTo>
                  <a:pt x="6274670" y="20601"/>
                  <a:pt x="6230664" y="-1692"/>
                  <a:pt x="6120210" y="18288"/>
                </a:cubicBezTo>
                <a:cubicBezTo>
                  <a:pt x="6009756" y="38268"/>
                  <a:pt x="5442516" y="28115"/>
                  <a:pt x="5234026" y="18288"/>
                </a:cubicBezTo>
                <a:cubicBezTo>
                  <a:pt x="5025536" y="8461"/>
                  <a:pt x="4953693" y="18182"/>
                  <a:pt x="4832473" y="18288"/>
                </a:cubicBezTo>
                <a:cubicBezTo>
                  <a:pt x="4711253" y="18394"/>
                  <a:pt x="4414565" y="-11251"/>
                  <a:pt x="4140142" y="18288"/>
                </a:cubicBezTo>
                <a:cubicBezTo>
                  <a:pt x="3865719" y="47827"/>
                  <a:pt x="3819081" y="16772"/>
                  <a:pt x="3738590" y="18288"/>
                </a:cubicBezTo>
                <a:cubicBezTo>
                  <a:pt x="3658099" y="19804"/>
                  <a:pt x="3427576" y="1385"/>
                  <a:pt x="3240111" y="18288"/>
                </a:cubicBezTo>
                <a:cubicBezTo>
                  <a:pt x="3052646" y="35191"/>
                  <a:pt x="2749652" y="-13914"/>
                  <a:pt x="2450853" y="18288"/>
                </a:cubicBezTo>
                <a:cubicBezTo>
                  <a:pt x="2152054" y="50490"/>
                  <a:pt x="1928331" y="61101"/>
                  <a:pt x="1564669" y="18288"/>
                </a:cubicBezTo>
                <a:cubicBezTo>
                  <a:pt x="1201007" y="-24525"/>
                  <a:pt x="1217828" y="-275"/>
                  <a:pt x="1066190" y="18288"/>
                </a:cubicBezTo>
                <a:cubicBezTo>
                  <a:pt x="914552" y="36851"/>
                  <a:pt x="418290" y="-14785"/>
                  <a:pt x="0" y="18288"/>
                </a:cubicBezTo>
                <a:cubicBezTo>
                  <a:pt x="641" y="14236"/>
                  <a:pt x="889" y="755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1546AD-05B4-2F6C-B692-3214836DD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4446"/>
            <a:ext cx="10515600" cy="417689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sz="24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F5F6664-F9B6-0792-0A17-EC5FB09E8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FB693C-3D3E-4164-9FC0-E9F6868342D2}" type="slidenum">
              <a:rPr lang="de-BE" sz="2000" smtClean="0"/>
              <a:t>13</a:t>
            </a:fld>
            <a:endParaRPr lang="de-BE" sz="2000" dirty="0"/>
          </a:p>
        </p:txBody>
      </p:sp>
    </p:spTree>
    <p:extLst>
      <p:ext uri="{BB962C8B-B14F-4D97-AF65-F5344CB8AC3E}">
        <p14:creationId xmlns:p14="http://schemas.microsoft.com/office/powerpoint/2010/main" val="2512958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577</Words>
  <Application>Microsoft Office PowerPoint</Application>
  <PresentationFormat>Breitbild</PresentationFormat>
  <Paragraphs>116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</vt:lpstr>
      <vt:lpstr>TP-Link ER706W Firewall &amp; Behaviour Control</vt:lpstr>
      <vt:lpstr>Inhaltsverzeichnis</vt:lpstr>
      <vt:lpstr>Anti ARP Spoofing</vt:lpstr>
      <vt:lpstr>Attack Defense – Flood Defense</vt:lpstr>
      <vt:lpstr>Attack Defense – Packet Anomaly</vt:lpstr>
      <vt:lpstr>MAC Filtering</vt:lpstr>
      <vt:lpstr>Access Control List (ACL)</vt:lpstr>
      <vt:lpstr>Application Control</vt:lpstr>
      <vt:lpstr>IPS / IDS</vt:lpstr>
      <vt:lpstr>Web Filtering</vt:lpstr>
      <vt:lpstr>Web Security</vt:lpstr>
      <vt:lpstr>Quellen</vt:lpstr>
      <vt:lpstr>Danke fürs Zuhören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Niklas Quandel</dc:creator>
  <cp:lastModifiedBy>Schueler GuT</cp:lastModifiedBy>
  <cp:revision>2</cp:revision>
  <dcterms:created xsi:type="dcterms:W3CDTF">2025-12-17T12:06:57Z</dcterms:created>
  <dcterms:modified xsi:type="dcterms:W3CDTF">2025-12-19T07:59:45Z</dcterms:modified>
</cp:coreProperties>
</file>