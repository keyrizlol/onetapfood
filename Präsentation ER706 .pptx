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0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5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44DE22-9FDD-4885-8DE8-17B283B9C36E}" v="4" dt="2025-12-15T10:02:44.7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8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3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ic Bayer" userId="51e7ea5b-f670-41d2-9bd4-788e43d365dd" providerId="ADAL" clId="{DA007005-2709-4DA7-B1B4-3C2C2F32B7C4}"/>
    <pc:docChg chg="custSel addSld modSld">
      <pc:chgData name="Eric Bayer" userId="51e7ea5b-f670-41d2-9bd4-788e43d365dd" providerId="ADAL" clId="{DA007005-2709-4DA7-B1B4-3C2C2F32B7C4}" dt="2025-12-15T10:02:40.057" v="1299"/>
      <pc:docMkLst>
        <pc:docMk/>
      </pc:docMkLst>
      <pc:sldChg chg="modSp">
        <pc:chgData name="Eric Bayer" userId="51e7ea5b-f670-41d2-9bd4-788e43d365dd" providerId="ADAL" clId="{DA007005-2709-4DA7-B1B4-3C2C2F32B7C4}" dt="2025-12-15T10:02:40.057" v="1299"/>
        <pc:sldMkLst>
          <pc:docMk/>
          <pc:sldMk cId="2726123316" sldId="257"/>
        </pc:sldMkLst>
        <pc:spChg chg="mod">
          <ac:chgData name="Eric Bayer" userId="51e7ea5b-f670-41d2-9bd4-788e43d365dd" providerId="ADAL" clId="{DA007005-2709-4DA7-B1B4-3C2C2F32B7C4}" dt="2025-12-15T10:02:40.057" v="1299"/>
          <ac:spMkLst>
            <pc:docMk/>
            <pc:sldMk cId="2726123316" sldId="257"/>
            <ac:spMk id="3" creationId="{99CF86C9-0F48-E80B-78DA-E5FC3FB622BA}"/>
          </ac:spMkLst>
        </pc:spChg>
      </pc:sldChg>
      <pc:sldChg chg="modSp mod">
        <pc:chgData name="Eric Bayer" userId="51e7ea5b-f670-41d2-9bd4-788e43d365dd" providerId="ADAL" clId="{DA007005-2709-4DA7-B1B4-3C2C2F32B7C4}" dt="2025-12-15T09:36:06.481" v="409" actId="5793"/>
        <pc:sldMkLst>
          <pc:docMk/>
          <pc:sldMk cId="4070813026" sldId="259"/>
        </pc:sldMkLst>
        <pc:spChg chg="mod">
          <ac:chgData name="Eric Bayer" userId="51e7ea5b-f670-41d2-9bd4-788e43d365dd" providerId="ADAL" clId="{DA007005-2709-4DA7-B1B4-3C2C2F32B7C4}" dt="2025-12-15T09:36:06.481" v="409" actId="5793"/>
          <ac:spMkLst>
            <pc:docMk/>
            <pc:sldMk cId="4070813026" sldId="259"/>
            <ac:spMk id="3" creationId="{FBDC4295-03D2-890A-9B9E-4544B96AF7A1}"/>
          </ac:spMkLst>
        </pc:spChg>
      </pc:sldChg>
      <pc:sldChg chg="modSp add mod">
        <pc:chgData name="Eric Bayer" userId="51e7ea5b-f670-41d2-9bd4-788e43d365dd" providerId="ADAL" clId="{DA007005-2709-4DA7-B1B4-3C2C2F32B7C4}" dt="2025-12-15T09:35:12.891" v="405" actId="12"/>
        <pc:sldMkLst>
          <pc:docMk/>
          <pc:sldMk cId="4060041920" sldId="260"/>
        </pc:sldMkLst>
        <pc:spChg chg="mod">
          <ac:chgData name="Eric Bayer" userId="51e7ea5b-f670-41d2-9bd4-788e43d365dd" providerId="ADAL" clId="{DA007005-2709-4DA7-B1B4-3C2C2F32B7C4}" dt="2025-12-15T09:32:12.890" v="129" actId="20577"/>
          <ac:spMkLst>
            <pc:docMk/>
            <pc:sldMk cId="4060041920" sldId="260"/>
            <ac:spMk id="2" creationId="{F31E1F1A-2BA3-9BE2-A16D-C3363A02F458}"/>
          </ac:spMkLst>
        </pc:spChg>
        <pc:spChg chg="mod">
          <ac:chgData name="Eric Bayer" userId="51e7ea5b-f670-41d2-9bd4-788e43d365dd" providerId="ADAL" clId="{DA007005-2709-4DA7-B1B4-3C2C2F32B7C4}" dt="2025-12-15T09:35:12.891" v="405" actId="12"/>
          <ac:spMkLst>
            <pc:docMk/>
            <pc:sldMk cId="4060041920" sldId="260"/>
            <ac:spMk id="3" creationId="{5B648F49-D963-F946-0434-F651B5EAD829}"/>
          </ac:spMkLst>
        </pc:spChg>
      </pc:sldChg>
      <pc:sldChg chg="modSp add mod">
        <pc:chgData name="Eric Bayer" userId="51e7ea5b-f670-41d2-9bd4-788e43d365dd" providerId="ADAL" clId="{DA007005-2709-4DA7-B1B4-3C2C2F32B7C4}" dt="2025-12-15T09:59:05.757" v="1296" actId="5793"/>
        <pc:sldMkLst>
          <pc:docMk/>
          <pc:sldMk cId="1237084340" sldId="261"/>
        </pc:sldMkLst>
        <pc:spChg chg="mod">
          <ac:chgData name="Eric Bayer" userId="51e7ea5b-f670-41d2-9bd4-788e43d365dd" providerId="ADAL" clId="{DA007005-2709-4DA7-B1B4-3C2C2F32B7C4}" dt="2025-12-15T09:37:54.926" v="441" actId="20577"/>
          <ac:spMkLst>
            <pc:docMk/>
            <pc:sldMk cId="1237084340" sldId="261"/>
            <ac:spMk id="2" creationId="{0EAFDE06-5E41-DC12-3FDC-EB5CCE74C4EE}"/>
          </ac:spMkLst>
        </pc:spChg>
        <pc:spChg chg="mod">
          <ac:chgData name="Eric Bayer" userId="51e7ea5b-f670-41d2-9bd4-788e43d365dd" providerId="ADAL" clId="{DA007005-2709-4DA7-B1B4-3C2C2F32B7C4}" dt="2025-12-15T09:59:05.757" v="1296" actId="5793"/>
          <ac:spMkLst>
            <pc:docMk/>
            <pc:sldMk cId="1237084340" sldId="261"/>
            <ac:spMk id="3" creationId="{78A72446-2F6F-958B-26C4-E332B0E17D41}"/>
          </ac:spMkLst>
        </pc:spChg>
      </pc:sldChg>
      <pc:sldChg chg="delSp modSp add mod">
        <pc:chgData name="Eric Bayer" userId="51e7ea5b-f670-41d2-9bd4-788e43d365dd" providerId="ADAL" clId="{DA007005-2709-4DA7-B1B4-3C2C2F32B7C4}" dt="2025-12-15T09:59:12.799" v="1298" actId="5793"/>
        <pc:sldMkLst>
          <pc:docMk/>
          <pc:sldMk cId="1513651146" sldId="262"/>
        </pc:sldMkLst>
        <pc:spChg chg="del">
          <ac:chgData name="Eric Bayer" userId="51e7ea5b-f670-41d2-9bd4-788e43d365dd" providerId="ADAL" clId="{DA007005-2709-4DA7-B1B4-3C2C2F32B7C4}" dt="2025-12-15T09:50:50.838" v="984" actId="478"/>
          <ac:spMkLst>
            <pc:docMk/>
            <pc:sldMk cId="1513651146" sldId="262"/>
            <ac:spMk id="2" creationId="{EEC3E09A-CCC1-8AAC-4807-C1E10A2ADDC0}"/>
          </ac:spMkLst>
        </pc:spChg>
        <pc:spChg chg="mod">
          <ac:chgData name="Eric Bayer" userId="51e7ea5b-f670-41d2-9bd4-788e43d365dd" providerId="ADAL" clId="{DA007005-2709-4DA7-B1B4-3C2C2F32B7C4}" dt="2025-12-15T09:59:12.799" v="1298" actId="5793"/>
          <ac:spMkLst>
            <pc:docMk/>
            <pc:sldMk cId="1513651146" sldId="262"/>
            <ac:spMk id="3" creationId="{041E2D0A-9665-2831-D9D5-BEEE2C0EA4CF}"/>
          </ac:spMkLst>
        </pc:spChg>
      </pc:sldChg>
      <pc:sldChg chg="add">
        <pc:chgData name="Eric Bayer" userId="51e7ea5b-f670-41d2-9bd4-788e43d365dd" providerId="ADAL" clId="{DA007005-2709-4DA7-B1B4-3C2C2F32B7C4}" dt="2025-12-15T09:31:41.306" v="109" actId="2890"/>
        <pc:sldMkLst>
          <pc:docMk/>
          <pc:sldMk cId="1801089664" sldId="26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790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701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103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152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319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503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355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069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702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558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782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034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03" r:id="rId6"/>
    <p:sldLayoutId id="2147483699" r:id="rId7"/>
    <p:sldLayoutId id="2147483700" r:id="rId8"/>
    <p:sldLayoutId id="2147483701" r:id="rId9"/>
    <p:sldLayoutId id="2147483702" r:id="rId10"/>
    <p:sldLayoutId id="2147483704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 descr="Nahaufnahme eines Kettenglieds">
            <a:extLst>
              <a:ext uri="{FF2B5EF4-FFF2-40B4-BE49-F238E27FC236}">
                <a16:creationId xmlns:a16="http://schemas.microsoft.com/office/drawing/2014/main" id="{A271571A-5B38-7BF4-73C4-B06DD4A4DD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1" t="6669" b="16723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AAB476BF-4EE2-5243-CABB-6CC72C39BF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507179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554FCA3-D9DA-1145-65E1-D67B91CE4A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06780" y="978409"/>
            <a:ext cx="4496529" cy="3678268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de-DE" sz="5100" dirty="0"/>
              <a:t>Der TP-Link ER706W </a:t>
            </a:r>
            <a:br>
              <a:rPr lang="de-DE" sz="5100" dirty="0"/>
            </a:br>
            <a:r>
              <a:rPr lang="de-DE" sz="5100" dirty="0"/>
              <a:t>und was er für sie tun kann</a:t>
            </a:r>
            <a:endParaRPr lang="en-GB" sz="510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C832D76-48C2-E523-96C4-271AF5BEF9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03288" y="4729138"/>
            <a:ext cx="4488812" cy="1150453"/>
          </a:xfrm>
        </p:spPr>
        <p:txBody>
          <a:bodyPr anchor="b">
            <a:normAutofit/>
          </a:bodyPr>
          <a:lstStyle/>
          <a:p>
            <a:r>
              <a:rPr lang="de-DE"/>
              <a:t>Eric Bayer, Niklas Quandel, Leander Tholen</a:t>
            </a:r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0D28EA4-6F96-F7C6-1D07-5BA5C27387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6781" y="508090"/>
            <a:ext cx="449275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DFF93C5-0576-D227-80A7-4CFBA8791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10119" y="6209925"/>
            <a:ext cx="4492754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99524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92D360-BDA5-4B3B-6FC2-542190758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>
                <a:solidFill>
                  <a:schemeClr val="bg2"/>
                </a:solidFill>
              </a:rPr>
              <a:t>Technische Eigenschaften &amp; Leistung</a:t>
            </a:r>
            <a:endParaRPr lang="en-GB" dirty="0">
              <a:solidFill>
                <a:schemeClr val="bg2"/>
              </a:solidFill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9CF86C9-0F48-E80B-78DA-E5FC3FB622BA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r>
              <a:rPr lang="de-DE" sz="2400" dirty="0">
                <a:solidFill>
                  <a:schemeClr val="bg2"/>
                </a:solidFill>
              </a:rPr>
              <a:t>-Wi-Fi 6 (802.11ax) + rückwärtskompatibel mit älteren Standards</a:t>
            </a:r>
          </a:p>
          <a:p>
            <a:r>
              <a:rPr lang="de-DE" sz="2400" dirty="0">
                <a:solidFill>
                  <a:schemeClr val="bg2"/>
                </a:solidFill>
              </a:rPr>
              <a:t>Bis zu 570 </a:t>
            </a:r>
            <a:r>
              <a:rPr lang="de-DE" sz="2400" dirty="0" err="1">
                <a:solidFill>
                  <a:schemeClr val="bg2"/>
                </a:solidFill>
              </a:rPr>
              <a:t>MBps</a:t>
            </a:r>
            <a:r>
              <a:rPr lang="de-DE" sz="2400" dirty="0">
                <a:solidFill>
                  <a:schemeClr val="bg2"/>
                </a:solidFill>
              </a:rPr>
              <a:t> im 2,4-GHz-Band 2402 </a:t>
            </a:r>
            <a:r>
              <a:rPr lang="de-DE" sz="2400" dirty="0" err="1">
                <a:solidFill>
                  <a:schemeClr val="bg2"/>
                </a:solidFill>
              </a:rPr>
              <a:t>MBps</a:t>
            </a:r>
            <a:r>
              <a:rPr lang="de-DE" sz="2400" dirty="0">
                <a:solidFill>
                  <a:schemeClr val="bg2"/>
                </a:solidFill>
              </a:rPr>
              <a:t> im 5-GHz-Band</a:t>
            </a:r>
          </a:p>
          <a:p>
            <a:r>
              <a:rPr lang="de-DE" sz="2400" dirty="0">
                <a:solidFill>
                  <a:schemeClr val="bg2"/>
                </a:solidFill>
              </a:rPr>
              <a:t>Mehrere Gigabit-RJ45-Ports + ein SFP-Port (ermöglicht den Einsatz von „klassischem“ Ethernet-Anschlüsse als auch Glasfaser-Option möglich.</a:t>
            </a:r>
          </a:p>
          <a:p>
            <a:r>
              <a:rPr lang="de-DE" sz="2400" dirty="0">
                <a:solidFill>
                  <a:schemeClr val="bg2"/>
                </a:solidFill>
              </a:rPr>
              <a:t>USB-Port – für die Verwendung von z.B.: USB-LTE-Modems oder Speichermedien</a:t>
            </a:r>
          </a:p>
          <a:p>
            <a:r>
              <a:rPr lang="de-DE" sz="2400" dirty="0">
                <a:solidFill>
                  <a:schemeClr val="bg2"/>
                </a:solidFill>
              </a:rPr>
              <a:t>512 MB RAM (DDR4) und 128 MB Flash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26123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2E2471-EEFB-D9E0-96BC-D1D4610DD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6F4CAB-2187-BAD9-655E-A5D15E7E7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>
                <a:solidFill>
                  <a:schemeClr val="bg2"/>
                </a:solidFill>
              </a:rPr>
              <a:t>Netzwerk- und Sicherheitsfunktionen</a:t>
            </a:r>
            <a:endParaRPr lang="en-GB" dirty="0">
              <a:solidFill>
                <a:schemeClr val="bg2"/>
              </a:solidFill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BDC4295-03D2-890A-9B9E-4544B96AF7A1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r>
              <a:rPr lang="de-DE" dirty="0">
                <a:solidFill>
                  <a:schemeClr val="bg1"/>
                </a:solidFill>
              </a:rPr>
              <a:t>Unterstützt viele VPN-Protokolle (z.B. IPSec, OpenVPN, PPTP, L2TP) – gut für Remote-Zugriff – VPN</a:t>
            </a:r>
          </a:p>
          <a:p>
            <a:pPr marL="0" indent="0">
              <a:buNone/>
            </a:pPr>
            <a:endParaRPr lang="de-DE" dirty="0">
              <a:solidFill>
                <a:schemeClr val="bg1"/>
              </a:solidFill>
            </a:endParaRPr>
          </a:p>
          <a:p>
            <a:r>
              <a:rPr lang="de-DE" dirty="0">
                <a:solidFill>
                  <a:schemeClr val="bg1"/>
                </a:solidFill>
              </a:rPr>
              <a:t>Firewall, NAT, Zugriffskontrollen (IP/MAC/URL-Filter), Gastzugang und weitere Sicherheitsfunktionen</a:t>
            </a:r>
          </a:p>
          <a:p>
            <a:pPr marL="0" indent="0">
              <a:buNone/>
            </a:pPr>
            <a:endParaRPr lang="de-DE" dirty="0">
              <a:solidFill>
                <a:schemeClr val="bg1"/>
              </a:solidFill>
            </a:endParaRPr>
          </a:p>
          <a:p>
            <a:r>
              <a:rPr lang="de-DE" dirty="0">
                <a:solidFill>
                  <a:schemeClr val="bg1"/>
                </a:solidFill>
              </a:rPr>
              <a:t>Unterstützt Netzwerkmanagement über Web-Interface oder über die App des TP-Link-Ökosystems</a:t>
            </a:r>
          </a:p>
        </p:txBody>
      </p:sp>
    </p:spTree>
    <p:extLst>
      <p:ext uri="{BB962C8B-B14F-4D97-AF65-F5344CB8AC3E}">
        <p14:creationId xmlns:p14="http://schemas.microsoft.com/office/powerpoint/2010/main" val="4070813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BC4E0A-CC1B-5187-0237-FB146EB60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1E1F1A-2BA3-9BE2-A16D-C3363A02F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>
                <a:solidFill>
                  <a:schemeClr val="bg2"/>
                </a:solidFill>
              </a:rPr>
              <a:t>Einsatzbereiche</a:t>
            </a:r>
            <a:br>
              <a:rPr lang="de-DE" dirty="0">
                <a:solidFill>
                  <a:schemeClr val="bg2"/>
                </a:solidFill>
              </a:rPr>
            </a:br>
            <a:endParaRPr lang="en-GB" dirty="0">
              <a:solidFill>
                <a:schemeClr val="bg2"/>
              </a:solidFill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B648F49-D963-F946-0434-F651B5EAD829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r>
              <a:rPr lang="de-DE" dirty="0">
                <a:solidFill>
                  <a:schemeClr val="bg1"/>
                </a:solidFill>
              </a:rPr>
              <a:t>Kleinunternehmen / Home-Office / Remote-Working</a:t>
            </a:r>
          </a:p>
          <a:p>
            <a:pPr marL="0" indent="0">
              <a:buNone/>
            </a:pPr>
            <a:r>
              <a:rPr lang="de-DE" dirty="0">
                <a:solidFill>
                  <a:schemeClr val="bg1"/>
                </a:solidFill>
              </a:rPr>
              <a:t>		-VPN, Sicherheit, umfangreiche Verwaltungsoptionen</a:t>
            </a:r>
          </a:p>
          <a:p>
            <a:r>
              <a:rPr lang="de-DE" dirty="0">
                <a:solidFill>
                  <a:schemeClr val="bg1"/>
                </a:solidFill>
              </a:rPr>
              <a:t>Netzwerke mit vielen Clients</a:t>
            </a:r>
          </a:p>
          <a:p>
            <a:pPr marL="0" indent="0">
              <a:buNone/>
            </a:pPr>
            <a:r>
              <a:rPr lang="de-DE" dirty="0">
                <a:solidFill>
                  <a:schemeClr val="bg1"/>
                </a:solidFill>
              </a:rPr>
              <a:t>		-Dual-Band WLAN + starke Bandbreite, Gigabit-Ports</a:t>
            </a:r>
          </a:p>
          <a:p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0041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C2C5F3-E196-FAFE-48A2-0AA7EB7A3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AFDE06-5E41-DC12-3FDC-EB5CCE74C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>
                <a:solidFill>
                  <a:schemeClr val="bg2"/>
                </a:solidFill>
              </a:rPr>
              <a:t>Firewall / Sicherheitsfunktionen</a:t>
            </a:r>
            <a:endParaRPr lang="en-GB" dirty="0">
              <a:solidFill>
                <a:schemeClr val="bg2"/>
              </a:solidFill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8A72446-2F6F-958B-26C4-E332B0E17D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867408"/>
            <a:ext cx="11149584" cy="4654042"/>
          </a:xfrm>
          <a:noFill/>
        </p:spPr>
        <p:txBody>
          <a:bodyPr>
            <a:normAutofit fontScale="92500" lnSpcReduction="10000"/>
          </a:bodyPr>
          <a:lstStyle/>
          <a:p>
            <a:r>
              <a:rPr lang="de-DE" dirty="0" err="1">
                <a:solidFill>
                  <a:schemeClr val="bg1"/>
                </a:solidFill>
              </a:rPr>
              <a:t>Advanced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firewall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policies</a:t>
            </a:r>
            <a:endParaRPr lang="de-DE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de-DE" dirty="0">
                <a:solidFill>
                  <a:schemeClr val="bg1"/>
                </a:solidFill>
              </a:rPr>
              <a:t>		- Regeln zum definieren, welche Art Traffic erlaubt ist z.B. nach Quelle, Ziel, Port</a:t>
            </a:r>
          </a:p>
          <a:p>
            <a:r>
              <a:rPr lang="de-DE" dirty="0" err="1">
                <a:solidFill>
                  <a:schemeClr val="bg1"/>
                </a:solidFill>
              </a:rPr>
              <a:t>DoS</a:t>
            </a:r>
            <a:r>
              <a:rPr lang="de-DE" dirty="0">
                <a:solidFill>
                  <a:schemeClr val="bg1"/>
                </a:solidFill>
              </a:rPr>
              <a:t> Defense </a:t>
            </a:r>
          </a:p>
          <a:p>
            <a:pPr marL="0" indent="0">
              <a:buNone/>
            </a:pPr>
            <a:r>
              <a:rPr lang="de-DE" dirty="0">
                <a:solidFill>
                  <a:schemeClr val="bg1"/>
                </a:solidFill>
              </a:rPr>
              <a:t>		-Erkennt und blockiert gängige </a:t>
            </a:r>
            <a:r>
              <a:rPr lang="de-DE" dirty="0" err="1">
                <a:solidFill>
                  <a:schemeClr val="bg1"/>
                </a:solidFill>
              </a:rPr>
              <a:t>DoS</a:t>
            </a:r>
            <a:r>
              <a:rPr lang="de-DE" dirty="0">
                <a:solidFill>
                  <a:schemeClr val="bg1"/>
                </a:solidFill>
              </a:rPr>
              <a:t>-/Flood-Attacken (TCP/UDP/ICMP Flooding)</a:t>
            </a:r>
          </a:p>
          <a:p>
            <a:r>
              <a:rPr lang="de-DE" dirty="0">
                <a:solidFill>
                  <a:schemeClr val="bg1"/>
                </a:solidFill>
              </a:rPr>
              <a:t>IP/MAC/URL-Filterung</a:t>
            </a:r>
          </a:p>
          <a:p>
            <a:r>
              <a:rPr lang="de-DE" dirty="0">
                <a:solidFill>
                  <a:schemeClr val="bg1"/>
                </a:solidFill>
              </a:rPr>
              <a:t>VLAN-Unterstützung und Segmentierung</a:t>
            </a:r>
          </a:p>
          <a:p>
            <a:pPr marL="0" indent="0">
              <a:buNone/>
            </a:pPr>
            <a:r>
              <a:rPr lang="de-DE" dirty="0">
                <a:solidFill>
                  <a:schemeClr val="bg1"/>
                </a:solidFill>
              </a:rPr>
              <a:t>		-Einrichtung verschiedener Umgebungen möglich (z.B. Gast-WLAN | Produktion)</a:t>
            </a:r>
          </a:p>
          <a:p>
            <a:r>
              <a:rPr lang="de-DE" dirty="0">
                <a:solidFill>
                  <a:schemeClr val="bg1"/>
                </a:solidFill>
              </a:rPr>
              <a:t>IP-MAC-Binding</a:t>
            </a:r>
          </a:p>
          <a:p>
            <a:pPr marL="0" indent="0">
              <a:buNone/>
            </a:pPr>
            <a:r>
              <a:rPr lang="de-DE" dirty="0">
                <a:solidFill>
                  <a:schemeClr val="bg1"/>
                </a:solidFill>
              </a:rPr>
              <a:t>		-MAC-Adressen feste IPs zuweisen (</a:t>
            </a:r>
            <a:r>
              <a:rPr lang="de-DE" dirty="0" err="1">
                <a:solidFill>
                  <a:schemeClr val="bg1"/>
                </a:solidFill>
              </a:rPr>
              <a:t>schutz</a:t>
            </a:r>
            <a:r>
              <a:rPr lang="de-DE" dirty="0">
                <a:solidFill>
                  <a:schemeClr val="bg1"/>
                </a:solidFill>
              </a:rPr>
              <a:t> vor ARP-Spoofing o.Ä.)</a:t>
            </a:r>
          </a:p>
          <a:p>
            <a:r>
              <a:rPr lang="de-DE" dirty="0" err="1">
                <a:solidFill>
                  <a:schemeClr val="bg1"/>
                </a:solidFill>
              </a:rPr>
              <a:t>Application</a:t>
            </a:r>
            <a:r>
              <a:rPr lang="de-DE" dirty="0">
                <a:solidFill>
                  <a:schemeClr val="bg1"/>
                </a:solidFill>
              </a:rPr>
              <a:t> Layer Gateway </a:t>
            </a:r>
            <a:r>
              <a:rPr lang="de-DE" dirty="0" err="1">
                <a:solidFill>
                  <a:schemeClr val="bg1"/>
                </a:solidFill>
              </a:rPr>
              <a:t>Untersützung</a:t>
            </a:r>
            <a:endParaRPr lang="de-DE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de-DE" dirty="0">
                <a:solidFill>
                  <a:schemeClr val="bg1"/>
                </a:solidFill>
              </a:rPr>
              <a:t>		-Für Dienste wie FTP, SIP oder VPN</a:t>
            </a:r>
          </a:p>
          <a:p>
            <a:r>
              <a:rPr lang="de-DE" dirty="0">
                <a:solidFill>
                  <a:schemeClr val="bg1"/>
                </a:solidFill>
              </a:rPr>
              <a:t>NAT + port-</a:t>
            </a:r>
            <a:r>
              <a:rPr lang="de-DE" dirty="0" err="1">
                <a:solidFill>
                  <a:schemeClr val="bg1"/>
                </a:solidFill>
              </a:rPr>
              <a:t>Forwarding</a:t>
            </a:r>
            <a:r>
              <a:rPr lang="de-DE" dirty="0">
                <a:solidFill>
                  <a:schemeClr val="bg1"/>
                </a:solidFill>
              </a:rPr>
              <a:t> / Port-</a:t>
            </a:r>
            <a:r>
              <a:rPr lang="de-DE" dirty="0" err="1">
                <a:solidFill>
                  <a:schemeClr val="bg1"/>
                </a:solidFill>
              </a:rPr>
              <a:t>Triggering</a:t>
            </a:r>
            <a:r>
              <a:rPr lang="de-DE" dirty="0">
                <a:solidFill>
                  <a:schemeClr val="bg1"/>
                </a:solidFill>
              </a:rPr>
              <a:t> / DMZ</a:t>
            </a:r>
          </a:p>
          <a:p>
            <a:pPr marL="0" indent="0"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7084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B890F9-B2D1-D5A5-AE98-A682F1359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41E2D0A-9665-2831-D9D5-BEEE2C0EA4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813308"/>
            <a:ext cx="11155680" cy="3767328"/>
          </a:xfrm>
          <a:noFill/>
        </p:spPr>
        <p:txBody>
          <a:bodyPr/>
          <a:lstStyle/>
          <a:p>
            <a:pPr marL="0" indent="0">
              <a:buNone/>
            </a:pP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3651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C8CA80-E4A3-A3DD-53A2-53A6B5AF4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354DA0-C81A-F52E-04E4-1BA83EFB1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en-GB" dirty="0">
              <a:solidFill>
                <a:schemeClr val="bg2"/>
              </a:solidFill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779CFBF-58AE-10CE-F7F8-A88189ABD426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1089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90C210-59F1-80EB-10C3-E0719C3D5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FE94395-70BA-25D6-8726-8DDC70AD65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841885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277</Words>
  <Application>Microsoft Office PowerPoint</Application>
  <PresentationFormat>Breitbild</PresentationFormat>
  <Paragraphs>32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2" baseType="lpstr">
      <vt:lpstr>Arial</vt:lpstr>
      <vt:lpstr>Bierstadt</vt:lpstr>
      <vt:lpstr>Neue Haas Grotesk Text Pro</vt:lpstr>
      <vt:lpstr>GestaltVTI</vt:lpstr>
      <vt:lpstr>Der TP-Link ER706W  und was er für sie tun kann</vt:lpstr>
      <vt:lpstr>Technische Eigenschaften &amp; Leistung</vt:lpstr>
      <vt:lpstr>Netzwerk- und Sicherheitsfunktionen</vt:lpstr>
      <vt:lpstr>Einsatzbereiche </vt:lpstr>
      <vt:lpstr>Firewall / Sicherheitsfunktionen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 Bayer</dc:creator>
  <cp:lastModifiedBy>Eric Bayer</cp:lastModifiedBy>
  <cp:revision>1</cp:revision>
  <dcterms:created xsi:type="dcterms:W3CDTF">2025-12-11T07:11:56Z</dcterms:created>
  <dcterms:modified xsi:type="dcterms:W3CDTF">2025-12-15T10:02:51Z</dcterms:modified>
</cp:coreProperties>
</file>